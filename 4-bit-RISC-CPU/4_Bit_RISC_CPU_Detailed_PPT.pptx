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81" r:id="rId3"/>
    <p:sldId id="282" r:id="rId4"/>
    <p:sldId id="257" r:id="rId5"/>
    <p:sldId id="258" r:id="rId6"/>
    <p:sldId id="259" r:id="rId7"/>
    <p:sldId id="260" r:id="rId8"/>
    <p:sldId id="261" r:id="rId9"/>
    <p:sldId id="262" r:id="rId10"/>
    <p:sldId id="263" r:id="rId11"/>
    <p:sldId id="264" r:id="rId12"/>
    <p:sldId id="265" r:id="rId13"/>
    <p:sldId id="266" r:id="rId14"/>
    <p:sldId id="267" r:id="rId15"/>
    <p:sldId id="268" r:id="rId16"/>
    <p:sldId id="271" r:id="rId17"/>
    <p:sldId id="269" r:id="rId18"/>
    <p:sldId id="272" r:id="rId19"/>
    <p:sldId id="273" r:id="rId20"/>
    <p:sldId id="277" r:id="rId21"/>
    <p:sldId id="28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2091" autoAdjust="0"/>
  </p:normalViewPr>
  <p:slideViewPr>
    <p:cSldViewPr snapToGrid="0" snapToObjects="1">
      <p:cViewPr varScale="1">
        <p:scale>
          <a:sx n="159" d="100"/>
          <a:sy n="159" d="100"/>
        </p:scale>
        <p:origin x="336"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2CAE91-7A25-4FB4-B523-3307F74E63E0}" type="datetimeFigureOut">
              <a:rPr lang="vi-VN" smtClean="0"/>
              <a:t>09/10/2026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791B1-2CA9-4857-9C91-887C08FD280F}" type="slidenum">
              <a:rPr lang="vi-VN" smtClean="0"/>
              <a:t>‹#›</a:t>
            </a:fld>
            <a:endParaRPr lang="vi-VN"/>
          </a:p>
        </p:txBody>
      </p:sp>
    </p:spTree>
    <p:extLst>
      <p:ext uri="{BB962C8B-B14F-4D97-AF65-F5344CB8AC3E}">
        <p14:creationId xmlns:p14="http://schemas.microsoft.com/office/powerpoint/2010/main" val="2739213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ALU is a processing block inside the CPU. It performs operations such as ADD, SUB, AND, OR, XOR, and NOT, and it can produce Zero and Carry flags. The CPU is the complete processor system. It fetches and decodes instructions, controls the ALU, accesses memory, and updates registers and the PC. The key idea is that the ALU calculates, while the CPU coordinates the full instruction flow.</a:t>
            </a:r>
          </a:p>
          <a:p>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ALU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CPU,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ADD, SUB, AND, OR, XOR, NOT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cờ</a:t>
            </a:r>
            <a:r>
              <a:rPr lang="en-US" sz="1200" kern="1200" dirty="0">
                <a:solidFill>
                  <a:schemeClr val="tx1"/>
                </a:solidFill>
                <a:effectLst/>
                <a:latin typeface="+mn-lt"/>
                <a:ea typeface="+mn-ea"/>
                <a:cs typeface="+mn-cs"/>
              </a:rPr>
              <a:t> Zero/Carry. CPU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lấy</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khiển</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PC. Ý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CPU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2</a:t>
            </a:fld>
            <a:endParaRPr lang="vi-VN"/>
          </a:p>
        </p:txBody>
      </p:sp>
    </p:spTree>
    <p:extLst>
      <p:ext uri="{BB962C8B-B14F-4D97-AF65-F5344CB8AC3E}">
        <p14:creationId xmlns:p14="http://schemas.microsoft.com/office/powerpoint/2010/main" val="126868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an ADD instruction, the CPU first fetches the instruction using the PC and instruction memory. The Control Unit decodes the opcode and identifies the operands. The operand MUX selects the right inputs, and the ALU adds the values. If required, the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selects the result for write-back and updates the destination register. This is why the ALU alone is not a complete CPU.</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ADD, CPU </a:t>
            </a:r>
            <a:r>
              <a:rPr lang="en-US" sz="1200" kern="1200" dirty="0" err="1">
                <a:solidFill>
                  <a:schemeClr val="tx1"/>
                </a:solidFill>
                <a:effectLst/>
                <a:latin typeface="+mn-lt"/>
                <a:ea typeface="+mn-ea"/>
                <a:cs typeface="+mn-cs"/>
              </a:rPr>
              <a:t>lấy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PC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instruction memory. Control Unit </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hạng</a:t>
            </a:r>
            <a:r>
              <a:rPr lang="en-US" sz="1200" kern="1200" dirty="0">
                <a:solidFill>
                  <a:schemeClr val="tx1"/>
                </a:solidFill>
                <a:effectLst/>
                <a:latin typeface="+mn-lt"/>
                <a:ea typeface="+mn-ea"/>
                <a:cs typeface="+mn-cs"/>
              </a:rPr>
              <a:t>. Operand MUX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Nếu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write-back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vậy</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riêng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lẻ</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CPU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3</a:t>
            </a:fld>
            <a:endParaRPr lang="vi-VN"/>
          </a:p>
        </p:txBody>
      </p:sp>
    </p:spTree>
    <p:extLst>
      <p:ext uri="{BB962C8B-B14F-4D97-AF65-F5344CB8AC3E}">
        <p14:creationId xmlns:p14="http://schemas.microsoft.com/office/powerpoint/2010/main" val="1728934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I will introduce the CPU and its instruction format. Next, I will explain the main hardware blocks and the full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Then, I will describe the pipeline and jump control. Finally, I will show the testbench, simulation results, and the problems that still need to be fixed.</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CPU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pipeline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jump; </a:t>
            </a:r>
            <a:r>
              <a:rPr lang="en-US" sz="1200" kern="1200" dirty="0" err="1">
                <a:solidFill>
                  <a:schemeClr val="tx1"/>
                </a:solidFill>
                <a:effectLst/>
                <a:latin typeface="+mn-lt"/>
                <a:ea typeface="+mn-ea"/>
                <a:cs typeface="+mn-cs"/>
              </a:rPr>
              <a:t>cuối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testbench,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phỏng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4</a:t>
            </a:fld>
            <a:endParaRPr lang="vi-VN"/>
          </a:p>
        </p:txBody>
      </p:sp>
    </p:spTree>
    <p:extLst>
      <p:ext uri="{BB962C8B-B14F-4D97-AF65-F5344CB8AC3E}">
        <p14:creationId xmlns:p14="http://schemas.microsoft.com/office/powerpoint/2010/main" val="2097470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CPU processes instructions. In our project, the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and ALU handle 4-bit data values. RISC means Reduced Instruction Set Computer, which uses a small and simple instruction set. Our instruction word is 12 bits wide, the program counter is 4 bits wide, and the design has four general-purpose registers. The pipeline has three stages: IF, ID, and EX.</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CPU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Datapath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4 bit. RISC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dài</a:t>
            </a:r>
            <a:r>
              <a:rPr lang="en-US" sz="1200" kern="1200" dirty="0">
                <a:solidFill>
                  <a:schemeClr val="tx1"/>
                </a:solidFill>
                <a:effectLst/>
                <a:latin typeface="+mn-lt"/>
                <a:ea typeface="+mn-ea"/>
                <a:cs typeface="+mn-cs"/>
              </a:rPr>
              <a:t> 12 bit, PC </a:t>
            </a:r>
            <a:r>
              <a:rPr lang="en-US" sz="1200" kern="1200" dirty="0" err="1">
                <a:solidFill>
                  <a:schemeClr val="tx1"/>
                </a:solidFill>
                <a:effectLst/>
                <a:latin typeface="+mn-lt"/>
                <a:ea typeface="+mn-ea"/>
                <a:cs typeface="+mn-cs"/>
              </a:rPr>
              <a:t>dài</a:t>
            </a:r>
            <a:r>
              <a:rPr lang="en-US" sz="1200" kern="1200" dirty="0">
                <a:solidFill>
                  <a:schemeClr val="tx1"/>
                </a:solidFill>
                <a:effectLst/>
                <a:latin typeface="+mn-lt"/>
                <a:ea typeface="+mn-ea"/>
                <a:cs typeface="+mn-cs"/>
              </a:rPr>
              <a:t> 4 bit,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4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pipeline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IF, ID, EX.</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5</a:t>
            </a:fld>
            <a:endParaRPr lang="vi-VN"/>
          </a:p>
        </p:txBody>
      </p:sp>
    </p:spTree>
    <p:extLst>
      <p:ext uri="{BB962C8B-B14F-4D97-AF65-F5344CB8AC3E}">
        <p14:creationId xmlns:p14="http://schemas.microsoft.com/office/powerpoint/2010/main" val="4210555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slide summarizes the main dimensions. The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is 4 bits. Each instruction is 12 bits. The 4-bit program counter can address 16 instruction locations. Instruction memory contains 16 words of 12 bits, and data memory contains 16 words of 4 bits. The register file has R0 to R3, each four bits wide. These are the design specifications; simulation is needed to confirm the behavior.</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Datapath 4 bit;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12 bit; PC 4 bit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hóa</a:t>
            </a:r>
            <a:r>
              <a:rPr lang="en-US" sz="1200" kern="1200" dirty="0">
                <a:solidFill>
                  <a:schemeClr val="tx1"/>
                </a:solidFill>
                <a:effectLst/>
                <a:latin typeface="+mn-lt"/>
                <a:ea typeface="+mn-ea"/>
                <a:cs typeface="+mn-cs"/>
              </a:rPr>
              <a:t> 16 </a:t>
            </a:r>
            <a:r>
              <a:rPr lang="en-US" sz="1200" kern="1200" dirty="0" err="1">
                <a:solidFill>
                  <a:schemeClr val="tx1"/>
                </a:solidFill>
                <a:effectLst/>
                <a:latin typeface="+mn-lt"/>
                <a:ea typeface="+mn-ea"/>
                <a:cs typeface="+mn-cs"/>
              </a:rPr>
              <a:t>vị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Instruction memory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16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 12 bit, data memory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16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 4 bit. Register file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R0–R3,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4 bit.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phỏng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6</a:t>
            </a:fld>
            <a:endParaRPr lang="vi-VN"/>
          </a:p>
        </p:txBody>
      </p:sp>
    </p:spTree>
    <p:extLst>
      <p:ext uri="{BB962C8B-B14F-4D97-AF65-F5344CB8AC3E}">
        <p14:creationId xmlns:p14="http://schemas.microsoft.com/office/powerpoint/2010/main" val="290442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Every instruction is 12 bits. Bits 11 to 8 are the opcode. Bits 7 to 6 select the destination register, called Rd. Bits 5 to 4 select the source register, called Rs. Bits 3 to 0 contain an immediate value or address. Since there are four registers, each register code uses two bits. For example, R1 is 01 and R2 is 10.</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dài</a:t>
            </a:r>
            <a:r>
              <a:rPr lang="en-US" sz="1200" kern="1200" dirty="0">
                <a:solidFill>
                  <a:schemeClr val="tx1"/>
                </a:solidFill>
                <a:effectLst/>
                <a:latin typeface="+mn-lt"/>
                <a:ea typeface="+mn-ea"/>
                <a:cs typeface="+mn-cs"/>
              </a:rPr>
              <a:t> 12 bit: bit 11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8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opcode; bit 7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6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Rd; bit 5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4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Rs; bit 3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0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4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dài</a:t>
            </a:r>
            <a:r>
              <a:rPr lang="en-US" sz="1200" kern="1200" dirty="0">
                <a:solidFill>
                  <a:schemeClr val="tx1"/>
                </a:solidFill>
                <a:effectLst/>
                <a:latin typeface="+mn-lt"/>
                <a:ea typeface="+mn-ea"/>
                <a:cs typeface="+mn-cs"/>
              </a:rPr>
              <a:t> 2 bit. </a:t>
            </a:r>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R1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01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R2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10.</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7</a:t>
            </a:fld>
            <a:endParaRPr lang="vi-VN"/>
          </a:p>
        </p:txBody>
      </p:sp>
    </p:spTree>
    <p:extLst>
      <p:ext uri="{BB962C8B-B14F-4D97-AF65-F5344CB8AC3E}">
        <p14:creationId xmlns:p14="http://schemas.microsoft.com/office/powerpoint/2010/main" val="3137294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project groups instructions into three types. R-type instructions use register operands, such as ADD R1, R2. I-type instructions use an immediate value, such as LDI R3, 10. J-type instructions use an address for control flow, such as JZ 9. The opcode tells the Control Unit which operation to select and which control signals to generate.</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R-type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ADD; I-type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LDI; J-type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JZ. Opcode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Control Unit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khiển</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8</a:t>
            </a:fld>
            <a:endParaRPr lang="vi-VN"/>
          </a:p>
        </p:txBody>
      </p:sp>
    </p:spTree>
    <p:extLst>
      <p:ext uri="{BB962C8B-B14F-4D97-AF65-F5344CB8AC3E}">
        <p14:creationId xmlns:p14="http://schemas.microsoft.com/office/powerpoint/2010/main" val="1515144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Program Counter, or PC, stores the address of the instruction to fetch. PC plus one gives the next sequential address. The PC multiplexer chooses between the next address and a jump target. Instruction memory stores 16 instructions, each 12 bits wide. This is how the CPU selects which instruction to read.</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PC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lấy</a:t>
            </a:r>
            <a:r>
              <a:rPr lang="en-US" sz="1200" kern="1200" dirty="0">
                <a:solidFill>
                  <a:schemeClr val="tx1"/>
                </a:solidFill>
                <a:effectLst/>
                <a:latin typeface="+mn-lt"/>
                <a:ea typeface="+mn-ea"/>
                <a:cs typeface="+mn-cs"/>
              </a:rPr>
              <a:t>. PC+1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PC MUX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giữa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nhảy</a:t>
            </a:r>
            <a:r>
              <a:rPr lang="en-US" sz="1200" kern="1200" dirty="0">
                <a:solidFill>
                  <a:schemeClr val="tx1"/>
                </a:solidFill>
                <a:effectLst/>
                <a:latin typeface="+mn-lt"/>
                <a:ea typeface="+mn-ea"/>
                <a:cs typeface="+mn-cs"/>
              </a:rPr>
              <a:t>. Instruction memory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16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12 bit.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9</a:t>
            </a:fld>
            <a:endParaRPr lang="vi-VN"/>
          </a:p>
        </p:txBody>
      </p:sp>
    </p:spTree>
    <p:extLst>
      <p:ext uri="{BB962C8B-B14F-4D97-AF65-F5344CB8AC3E}">
        <p14:creationId xmlns:p14="http://schemas.microsoft.com/office/powerpoint/2010/main" val="3167848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IF/ID register captures the fetched instruction for decoding. The Control Unit reads the opcode and creates control signals. The ID/EX pipeline register stores instruction fields and control signals for the execute stage. Pipeline registers keep values stable between clock edges. When a jump is taken, flush control clears younger instructions that belong to the old path.</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IF/ID </a:t>
            </a:r>
            <a:r>
              <a:rPr lang="en-US" sz="1200" kern="1200" dirty="0" err="1">
                <a:solidFill>
                  <a:schemeClr val="tx1"/>
                </a:solidFill>
                <a:effectLst/>
                <a:latin typeface="+mn-lt"/>
                <a:ea typeface="+mn-ea"/>
                <a:cs typeface="+mn-cs"/>
              </a:rPr>
              <a:t>giữ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lấy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Control Unit </a:t>
            </a:r>
            <a:r>
              <a:rPr lang="en-US" sz="1200" kern="1200" dirty="0" err="1">
                <a:solidFill>
                  <a:schemeClr val="tx1"/>
                </a:solidFill>
                <a:effectLst/>
                <a:latin typeface="+mn-lt"/>
                <a:ea typeface="+mn-ea"/>
                <a:cs typeface="+mn-cs"/>
              </a:rPr>
              <a:t>đọc</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khiển</a:t>
            </a:r>
            <a:r>
              <a:rPr lang="en-US" sz="1200" kern="1200" dirty="0">
                <a:solidFill>
                  <a:schemeClr val="tx1"/>
                </a:solidFill>
                <a:effectLst/>
                <a:latin typeface="+mn-lt"/>
                <a:ea typeface="+mn-ea"/>
                <a:cs typeface="+mn-cs"/>
              </a:rPr>
              <a:t>. ID/EX </a:t>
            </a:r>
            <a:r>
              <a:rPr lang="en-US" sz="1200" kern="1200" dirty="0" err="1">
                <a:solidFill>
                  <a:schemeClr val="tx1"/>
                </a:solidFill>
                <a:effectLst/>
                <a:latin typeface="+mn-lt"/>
                <a:ea typeface="+mn-ea"/>
                <a:cs typeface="+mn-cs"/>
              </a:rPr>
              <a:t>giữ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execute. Khi jump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flush </a:t>
            </a:r>
            <a:r>
              <a:rPr lang="en-US" sz="1200" kern="1200" dirty="0" err="1">
                <a:solidFill>
                  <a:schemeClr val="tx1"/>
                </a:solidFill>
                <a:effectLst/>
                <a:latin typeface="+mn-lt"/>
                <a:ea typeface="+mn-ea"/>
                <a:cs typeface="+mn-cs"/>
              </a:rPr>
              <a:t>xóa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cũ</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10</a:t>
            </a:fld>
            <a:endParaRPr lang="vi-VN"/>
          </a:p>
        </p:txBody>
      </p:sp>
    </p:spTree>
    <p:extLst>
      <p:ext uri="{BB962C8B-B14F-4D97-AF65-F5344CB8AC3E}">
        <p14:creationId xmlns:p14="http://schemas.microsoft.com/office/powerpoint/2010/main" val="4154117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Control Unit does not calculate the result itself. It decodes the opcode and controls the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It selects the ALU operation, chooses the operand source, controls register write-back, and works with the Branch Unit to control the PC and flush signals.</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Control Unit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Branch Unit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khiển</a:t>
            </a:r>
            <a:r>
              <a:rPr lang="en-US" sz="1200" kern="1200" dirty="0">
                <a:solidFill>
                  <a:schemeClr val="tx1"/>
                </a:solidFill>
                <a:effectLst/>
                <a:latin typeface="+mn-lt"/>
                <a:ea typeface="+mn-ea"/>
                <a:cs typeface="+mn-cs"/>
              </a:rPr>
              <a:t> PC/flush.</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11</a:t>
            </a:fld>
            <a:endParaRPr lang="vi-VN"/>
          </a:p>
        </p:txBody>
      </p:sp>
    </p:spTree>
    <p:extLst>
      <p:ext uri="{BB962C8B-B14F-4D97-AF65-F5344CB8AC3E}">
        <p14:creationId xmlns:p14="http://schemas.microsoft.com/office/powerpoint/2010/main" val="3765909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register file contains four general-purpose registers: R0, R1, R2, and R3. Each register stores a 4-bit value. The two read ports, </a:t>
            </a:r>
            <a:r>
              <a:rPr lang="en-US" sz="1200" kern="1200" dirty="0" err="1">
                <a:solidFill>
                  <a:schemeClr val="tx1"/>
                </a:solidFill>
                <a:effectLst/>
                <a:latin typeface="+mn-lt"/>
                <a:ea typeface="+mn-ea"/>
                <a:cs typeface="+mn-cs"/>
              </a:rPr>
              <a:t>qa</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qb</a:t>
            </a:r>
            <a:r>
              <a:rPr lang="en-US" sz="1200" kern="1200" dirty="0">
                <a:solidFill>
                  <a:schemeClr val="tx1"/>
                </a:solidFill>
                <a:effectLst/>
                <a:latin typeface="+mn-lt"/>
                <a:ea typeface="+mn-ea"/>
                <a:cs typeface="+mn-cs"/>
              </a:rPr>
              <a:t>, provide operands to the </a:t>
            </a:r>
            <a:r>
              <a:rPr lang="en-US" sz="1200" kern="1200" dirty="0" err="1">
                <a:solidFill>
                  <a:schemeClr val="tx1"/>
                </a:solidFill>
                <a:effectLst/>
                <a:latin typeface="+mn-lt"/>
                <a:ea typeface="+mn-ea"/>
                <a:cs typeface="+mn-cs"/>
              </a:rPr>
              <a:t>datapath</a:t>
            </a:r>
            <a:r>
              <a:rPr lang="en-US" sz="1200" kern="1200" dirty="0">
                <a:solidFill>
                  <a:schemeClr val="tx1"/>
                </a:solidFill>
                <a:effectLst/>
                <a:latin typeface="+mn-lt"/>
                <a:ea typeface="+mn-ea"/>
                <a:cs typeface="+mn-cs"/>
              </a:rPr>
              <a:t>. The write-back path sends data to the destination register Rd when the register write enable signal is active.</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Register file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R0–R3,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4 bit. Hai </a:t>
            </a:r>
            <a:r>
              <a:rPr lang="en-US" sz="1200" kern="1200" dirty="0" err="1">
                <a:solidFill>
                  <a:schemeClr val="tx1"/>
                </a:solidFill>
                <a:effectLst/>
                <a:latin typeface="+mn-lt"/>
                <a:ea typeface="+mn-ea"/>
                <a:cs typeface="+mn-cs"/>
              </a:rPr>
              <a:t>cổng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qb</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Đường</a:t>
            </a:r>
            <a:r>
              <a:rPr lang="en-US" sz="1200" kern="1200" dirty="0">
                <a:solidFill>
                  <a:schemeClr val="tx1"/>
                </a:solidFill>
                <a:effectLst/>
                <a:latin typeface="+mn-lt"/>
                <a:ea typeface="+mn-ea"/>
                <a:cs typeface="+mn-cs"/>
              </a:rPr>
              <a:t> write-back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Rd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bật</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12</a:t>
            </a:fld>
            <a:endParaRPr lang="vi-VN"/>
          </a:p>
        </p:txBody>
      </p:sp>
    </p:spTree>
    <p:extLst>
      <p:ext uri="{BB962C8B-B14F-4D97-AF65-F5344CB8AC3E}">
        <p14:creationId xmlns:p14="http://schemas.microsoft.com/office/powerpoint/2010/main" val="3901630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ALU performs arithmetic and logic operations selected by the </a:t>
            </a:r>
            <a:r>
              <a:rPr lang="en-US" sz="1200" kern="1200" dirty="0" err="1">
                <a:solidFill>
                  <a:schemeClr val="tx1"/>
                </a:solidFill>
                <a:effectLst/>
                <a:latin typeface="+mn-lt"/>
                <a:ea typeface="+mn-ea"/>
                <a:cs typeface="+mn-cs"/>
              </a:rPr>
              <a:t>alu_ctrl</a:t>
            </a:r>
            <a:r>
              <a:rPr lang="en-US" sz="1200" kern="1200" dirty="0">
                <a:solidFill>
                  <a:schemeClr val="tx1"/>
                </a:solidFill>
                <a:effectLst/>
                <a:latin typeface="+mn-lt"/>
                <a:ea typeface="+mn-ea"/>
                <a:cs typeface="+mn-cs"/>
              </a:rPr>
              <a:t> signal. It receives operand A and operand B. Operand B may come from a register or an immediate value. The ALU produces a 4-bit result and status flags, such as Zero and Carry. The result can be written to a register or used as a data-memory address.</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ALU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alu_ctrl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hạng</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B; B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4 bit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cờ</a:t>
            </a:r>
            <a:r>
              <a:rPr lang="en-US" sz="1200" kern="1200" dirty="0">
                <a:solidFill>
                  <a:schemeClr val="tx1"/>
                </a:solidFill>
                <a:effectLst/>
                <a:latin typeface="+mn-lt"/>
                <a:ea typeface="+mn-ea"/>
                <a:cs typeface="+mn-cs"/>
              </a:rPr>
              <a:t> Zero/Carry.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13</a:t>
            </a:fld>
            <a:endParaRPr lang="vi-VN"/>
          </a:p>
        </p:txBody>
      </p:sp>
    </p:spTree>
    <p:extLst>
      <p:ext uri="{BB962C8B-B14F-4D97-AF65-F5344CB8AC3E}">
        <p14:creationId xmlns:p14="http://schemas.microsoft.com/office/powerpoint/2010/main" val="931190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multiplexer, or MUX, selects one input from several choices. The PC MUX selects PC plus one or the jump target. The operand MUX selects a register value or an immediate value. The write-back MUX selects the ALU result or memory data. The Zero flag indicates a zero result, and the Carry flag reports arithmetic carry or borrow-related status.</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MUX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PC MUX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PC+1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nhảy</a:t>
            </a:r>
            <a:r>
              <a:rPr lang="en-US" sz="1200" kern="1200" dirty="0">
                <a:solidFill>
                  <a:schemeClr val="tx1"/>
                </a:solidFill>
                <a:effectLst/>
                <a:latin typeface="+mn-lt"/>
                <a:ea typeface="+mn-ea"/>
                <a:cs typeface="+mn-cs"/>
              </a:rPr>
              <a:t>; Operand MUX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immediate; WB MUX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Zero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0; Carry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thái</a:t>
            </a:r>
            <a:r>
              <a:rPr lang="en-US" sz="1200" kern="1200" dirty="0">
                <a:solidFill>
                  <a:schemeClr val="tx1"/>
                </a:solidFill>
                <a:effectLst/>
                <a:latin typeface="+mn-lt"/>
                <a:ea typeface="+mn-ea"/>
                <a:cs typeface="+mn-cs"/>
              </a:rPr>
              <a:t> carry/borrow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14</a:t>
            </a:fld>
            <a:endParaRPr lang="vi-VN"/>
          </a:p>
        </p:txBody>
      </p:sp>
    </p:spTree>
    <p:extLst>
      <p:ext uri="{BB962C8B-B14F-4D97-AF65-F5344CB8AC3E}">
        <p14:creationId xmlns:p14="http://schemas.microsoft.com/office/powerpoint/2010/main" val="3898165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 memory contains 16 words, each four bits wide. The ALU result can provide the memory address. The memory write-enable signal, </a:t>
            </a:r>
            <a:r>
              <a:rPr lang="en-US" sz="1200" kern="1200" dirty="0" err="1">
                <a:solidFill>
                  <a:schemeClr val="tx1"/>
                </a:solidFill>
                <a:effectLst/>
                <a:latin typeface="+mn-lt"/>
                <a:ea typeface="+mn-ea"/>
                <a:cs typeface="+mn-cs"/>
              </a:rPr>
              <a:t>mem_we</a:t>
            </a:r>
            <a:r>
              <a:rPr lang="en-US" sz="1200" kern="1200" dirty="0">
                <a:solidFill>
                  <a:schemeClr val="tx1"/>
                </a:solidFill>
                <a:effectLst/>
                <a:latin typeface="+mn-lt"/>
                <a:ea typeface="+mn-ea"/>
                <a:cs typeface="+mn-cs"/>
              </a:rPr>
              <a:t>, controls writing to memory. The </a:t>
            </a:r>
            <a:r>
              <a:rPr lang="en-US" sz="1200" kern="1200" dirty="0" err="1">
                <a:solidFill>
                  <a:schemeClr val="tx1"/>
                </a:solidFill>
                <a:effectLst/>
                <a:latin typeface="+mn-lt"/>
                <a:ea typeface="+mn-ea"/>
                <a:cs typeface="+mn-cs"/>
              </a:rPr>
              <a:t>wb_sel</a:t>
            </a:r>
            <a:r>
              <a:rPr lang="en-US" sz="1200" kern="1200" dirty="0">
                <a:solidFill>
                  <a:schemeClr val="tx1"/>
                </a:solidFill>
                <a:effectLst/>
                <a:latin typeface="+mn-lt"/>
                <a:ea typeface="+mn-ea"/>
                <a:cs typeface="+mn-cs"/>
              </a:rPr>
              <a:t> signal chooses the value sent back to the register file. A load-like instruction selects memory data, while an ALU instruction selects the ALU result.</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 memory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16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4 bit.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mem_we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wb_sel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load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ALU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ALU.</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15</a:t>
            </a:fld>
            <a:endParaRPr lang="vi-VN"/>
          </a:p>
        </p:txBody>
      </p:sp>
    </p:spTree>
    <p:extLst>
      <p:ext uri="{BB962C8B-B14F-4D97-AF65-F5344CB8AC3E}">
        <p14:creationId xmlns:p14="http://schemas.microsoft.com/office/powerpoint/2010/main" val="2623070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sz="1200" b="1" kern="1200" dirty="0">
                <a:solidFill>
                  <a:schemeClr val="tx1"/>
                </a:solidFill>
                <a:effectLst/>
                <a:latin typeface="+mn-lt"/>
                <a:ea typeface="+mn-ea"/>
                <a:cs typeface="+mn-cs"/>
              </a:rPr>
              <a:t>ENGLISH SPEECH</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Branch Unit handles jump and conditional-jump control. The </a:t>
            </a:r>
            <a:r>
              <a:rPr lang="en-US" sz="1200" kern="1200" dirty="0" err="1">
                <a:solidFill>
                  <a:schemeClr val="tx1"/>
                </a:solidFill>
                <a:effectLst/>
                <a:latin typeface="+mn-lt"/>
                <a:ea typeface="+mn-ea"/>
                <a:cs typeface="+mn-cs"/>
              </a:rPr>
              <a:t>pc_sel</a:t>
            </a:r>
            <a:r>
              <a:rPr lang="en-US" sz="1200" kern="1200" dirty="0">
                <a:solidFill>
                  <a:schemeClr val="tx1"/>
                </a:solidFill>
                <a:effectLst/>
                <a:latin typeface="+mn-lt"/>
                <a:ea typeface="+mn-ea"/>
                <a:cs typeface="+mn-cs"/>
              </a:rPr>
              <a:t> signal tells the PC MUX whether to use the next sequential address or the jump target. If a jump is taken, flush clears younger instructions from the old path. This helps prevent instructions from the wrong path from changing the CPU state. The project material places the jump decision in the EX stage.</a:t>
            </a:r>
            <a:endParaRPr lang="vi-V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GHI CHÚ TIẾNG VIỆT</a:t>
            </a:r>
            <a:endParaRPr lang="vi-V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Branch Unit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jump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conditional jump. </a:t>
            </a:r>
            <a:r>
              <a:rPr lang="en-US" sz="1200" kern="1200" dirty="0" err="1">
                <a:solidFill>
                  <a:schemeClr val="tx1"/>
                </a:solidFill>
                <a:effectLst/>
                <a:latin typeface="+mn-lt"/>
                <a:ea typeface="+mn-ea"/>
                <a:cs typeface="+mn-cs"/>
              </a:rPr>
              <a:t>pc_sel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PC MUX </a:t>
            </a:r>
            <a:r>
              <a:rPr lang="en-US" sz="1200" kern="1200" dirty="0" err="1">
                <a:solidFill>
                  <a:schemeClr val="tx1"/>
                </a:solidFill>
                <a:effectLst/>
                <a:latin typeface="+mn-lt"/>
                <a:ea typeface="+mn-ea"/>
                <a:cs typeface="+mn-cs"/>
              </a:rPr>
              <a:t>biết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hay </a:t>
            </a:r>
            <a:r>
              <a:rPr lang="en-US" sz="1200" kern="1200" dirty="0" err="1">
                <a:solidFill>
                  <a:schemeClr val="tx1"/>
                </a:solidFill>
                <a:effectLst/>
                <a:latin typeface="+mn-lt"/>
                <a:ea typeface="+mn-ea"/>
                <a:cs typeface="+mn-cs"/>
              </a:rPr>
              <a:t>địa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nhảy</a:t>
            </a:r>
            <a:r>
              <a:rPr lang="en-US" sz="1200" kern="1200" dirty="0">
                <a:solidFill>
                  <a:schemeClr val="tx1"/>
                </a:solidFill>
                <a:effectLst/>
                <a:latin typeface="+mn-lt"/>
                <a:ea typeface="+mn-ea"/>
                <a:cs typeface="+mn-cs"/>
              </a:rPr>
              <a:t>. Khi jump </a:t>
            </a:r>
            <a:r>
              <a:rPr lang="en-US" sz="1200" kern="1200" dirty="0" err="1">
                <a:solidFill>
                  <a:schemeClr val="tx1"/>
                </a:solidFill>
                <a:effectLst/>
                <a:latin typeface="+mn-lt"/>
                <a:ea typeface="+mn-ea"/>
                <a:cs typeface="+mn-cs"/>
              </a:rPr>
              <a:t>xảy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flush </a:t>
            </a:r>
            <a:r>
              <a:rPr lang="en-US" sz="1200" kern="1200" dirty="0" err="1">
                <a:solidFill>
                  <a:schemeClr val="tx1"/>
                </a:solidFill>
                <a:effectLst/>
                <a:latin typeface="+mn-lt"/>
                <a:ea typeface="+mn-ea"/>
                <a:cs typeface="+mn-cs"/>
              </a:rPr>
              <a:t>xóa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trẻ</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thái</a:t>
            </a:r>
            <a:r>
              <a:rPr lang="en-US" sz="1200" kern="1200" dirty="0">
                <a:solidFill>
                  <a:schemeClr val="tx1"/>
                </a:solidFill>
                <a:effectLst/>
                <a:latin typeface="+mn-lt"/>
                <a:ea typeface="+mn-ea"/>
                <a:cs typeface="+mn-cs"/>
              </a:rPr>
              <a:t> CPU. Tài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jump ở </a:t>
            </a:r>
            <a:r>
              <a:rPr lang="en-US" sz="1200" kern="1200" dirty="0" err="1">
                <a:solidFill>
                  <a:schemeClr val="tx1"/>
                </a:solidFill>
                <a:effectLst/>
                <a:latin typeface="+mn-lt"/>
                <a:ea typeface="+mn-ea"/>
                <a:cs typeface="+mn-cs"/>
              </a:rPr>
              <a:t>giai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EX.</a:t>
            </a:r>
            <a:endParaRPr lang="vi-VN" sz="1200" kern="1200" dirty="0">
              <a:solidFill>
                <a:schemeClr val="tx1"/>
              </a:solidFill>
              <a:effectLst/>
              <a:latin typeface="+mn-lt"/>
              <a:ea typeface="+mn-ea"/>
              <a:cs typeface="+mn-cs"/>
            </a:endParaRPr>
          </a:p>
          <a:p>
            <a:endParaRPr lang="vi-VN" dirty="0"/>
          </a:p>
        </p:txBody>
      </p:sp>
      <p:sp>
        <p:nvSpPr>
          <p:cNvPr id="4" name="Chỗ dành sẵn cho Số hiệu Bản chiếu 3"/>
          <p:cNvSpPr>
            <a:spLocks noGrp="1"/>
          </p:cNvSpPr>
          <p:nvPr>
            <p:ph type="sldNum" sz="quarter" idx="5"/>
          </p:nvPr>
        </p:nvSpPr>
        <p:spPr/>
        <p:txBody>
          <a:bodyPr/>
          <a:lstStyle/>
          <a:p>
            <a:fld id="{BB9791B1-2CA9-4857-9C91-887C08FD280F}" type="slidenum">
              <a:rPr lang="vi-VN" smtClean="0"/>
              <a:t>16</a:t>
            </a:fld>
            <a:endParaRPr lang="vi-VN"/>
          </a:p>
        </p:txBody>
      </p:sp>
    </p:spTree>
    <p:extLst>
      <p:ext uri="{BB962C8B-B14F-4D97-AF65-F5344CB8AC3E}">
        <p14:creationId xmlns:p14="http://schemas.microsoft.com/office/powerpoint/2010/main" val="352870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594360" y="731520"/>
            <a:ext cx="109728" cy="1280160"/>
          </a:xfrm>
          <a:prstGeom prst="rect">
            <a:avLst/>
          </a:prstGeom>
          <a:solidFill>
            <a:srgbClr val="00DCEB"/>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77240"/>
            <a:ext cx="10424160" cy="1188720"/>
          </a:xfrm>
          <a:prstGeom prst="rect">
            <a:avLst/>
          </a:prstGeom>
          <a:noFill/>
        </p:spPr>
        <p:txBody>
          <a:bodyPr wrap="square" lIns="54864" tIns="54864" rIns="54864" bIns="54864" anchor="t">
            <a:spAutoFit/>
          </a:bodyPr>
          <a:lstStyle/>
          <a:p>
            <a:pPr>
              <a:spcAft>
                <a:spcPts val="500"/>
              </a:spcAft>
              <a:defRPr sz="3400" b="1">
                <a:solidFill>
                  <a:srgbClr val="F5F5F5"/>
                </a:solidFill>
                <a:latin typeface="Aptos"/>
              </a:defRPr>
            </a:pPr>
            <a:r>
              <a:t>4-BIT RISC CPU</a:t>
            </a:r>
          </a:p>
        </p:txBody>
      </p:sp>
      <p:sp>
        <p:nvSpPr>
          <p:cNvPr id="4" name="TextBox 3"/>
          <p:cNvSpPr txBox="1"/>
          <p:nvPr/>
        </p:nvSpPr>
        <p:spPr>
          <a:xfrm>
            <a:off x="941832" y="1828800"/>
            <a:ext cx="9784080" cy="640080"/>
          </a:xfrm>
          <a:prstGeom prst="rect">
            <a:avLst/>
          </a:prstGeom>
          <a:noFill/>
        </p:spPr>
        <p:txBody>
          <a:bodyPr wrap="square" lIns="54864" tIns="54864" rIns="54864" bIns="54864" anchor="t">
            <a:spAutoFit/>
          </a:bodyPr>
          <a:lstStyle/>
          <a:p>
            <a:pPr>
              <a:spcAft>
                <a:spcPts val="500"/>
              </a:spcAft>
              <a:defRPr sz="2100" b="1">
                <a:solidFill>
                  <a:srgbClr val="00DCEB"/>
                </a:solidFill>
                <a:latin typeface="Aptos"/>
              </a:defRPr>
            </a:pPr>
            <a:r>
              <a:t>Architecture • Datapath • Schematic • Testbench</a:t>
            </a:r>
          </a:p>
        </p:txBody>
      </p:sp>
      <p:sp>
        <p:nvSpPr>
          <p:cNvPr id="5" name="TextBox 4"/>
          <p:cNvSpPr txBox="1"/>
          <p:nvPr/>
        </p:nvSpPr>
        <p:spPr>
          <a:xfrm>
            <a:off x="960120" y="2788920"/>
            <a:ext cx="8686800" cy="1097280"/>
          </a:xfrm>
          <a:prstGeom prst="rect">
            <a:avLst/>
          </a:prstGeom>
          <a:noFill/>
        </p:spPr>
        <p:txBody>
          <a:bodyPr wrap="square" lIns="54864" tIns="54864" rIns="54864" bIns="54864" anchor="t">
            <a:spAutoFit/>
          </a:bodyPr>
          <a:lstStyle/>
          <a:p>
            <a:pPr>
              <a:spcAft>
                <a:spcPts val="500"/>
              </a:spcAft>
              <a:defRPr sz="1800" b="0">
                <a:solidFill>
                  <a:srgbClr val="AFAFAF"/>
                </a:solidFill>
                <a:latin typeface="Aptos"/>
              </a:defRPr>
            </a:pPr>
            <a:r>
              <a:t>A Verilog HDL project with a 3-stage pipeline</a:t>
            </a:r>
          </a:p>
          <a:p>
            <a:pPr>
              <a:spcAft>
                <a:spcPts val="500"/>
              </a:spcAft>
              <a:defRPr sz="1800" b="0">
                <a:solidFill>
                  <a:srgbClr val="AFAFAF"/>
                </a:solidFill>
                <a:latin typeface="Aptos"/>
              </a:defRPr>
            </a:pPr>
            <a:r>
              <a:t>Focus: how the CPU fetches, decodes, executes, and verifies instructions</a:t>
            </a:r>
          </a:p>
        </p:txBody>
      </p:sp>
      <p:sp>
        <p:nvSpPr>
          <p:cNvPr id="6" name="Rectangle 5"/>
          <p:cNvSpPr/>
          <p:nvPr/>
        </p:nvSpPr>
        <p:spPr>
          <a:xfrm>
            <a:off x="914400" y="4846320"/>
            <a:ext cx="1143000" cy="59436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IF</a:t>
            </a:r>
          </a:p>
        </p:txBody>
      </p:sp>
      <p:sp>
        <p:nvSpPr>
          <p:cNvPr id="7" name="Rectangle 6"/>
          <p:cNvSpPr/>
          <p:nvPr/>
        </p:nvSpPr>
        <p:spPr>
          <a:xfrm>
            <a:off x="3200400" y="4846320"/>
            <a:ext cx="1143000" cy="59436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ID</a:t>
            </a:r>
          </a:p>
        </p:txBody>
      </p:sp>
      <p:sp>
        <p:nvSpPr>
          <p:cNvPr id="8" name="Rectangle 7"/>
          <p:cNvSpPr/>
          <p:nvPr/>
        </p:nvSpPr>
        <p:spPr>
          <a:xfrm>
            <a:off x="5486400" y="4846320"/>
            <a:ext cx="1143000" cy="59436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EX</a:t>
            </a:r>
          </a:p>
        </p:txBody>
      </p:sp>
      <p:sp>
        <p:nvSpPr>
          <p:cNvPr id="9" name="Rectangle 8"/>
          <p:cNvSpPr/>
          <p:nvPr/>
        </p:nvSpPr>
        <p:spPr>
          <a:xfrm>
            <a:off x="7772400" y="4846320"/>
            <a:ext cx="1143000" cy="59436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MEM</a:t>
            </a:r>
          </a:p>
        </p:txBody>
      </p:sp>
      <p:sp>
        <p:nvSpPr>
          <p:cNvPr id="10" name="Rectangle 9"/>
          <p:cNvSpPr/>
          <p:nvPr/>
        </p:nvSpPr>
        <p:spPr>
          <a:xfrm>
            <a:off x="10058400" y="4846320"/>
            <a:ext cx="1143000" cy="59436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WB</a:t>
            </a:r>
          </a:p>
        </p:txBody>
      </p:sp>
      <p:cxnSp>
        <p:nvCxnSpPr>
          <p:cNvPr id="11" name="Connector 10"/>
          <p:cNvCxnSpPr/>
          <p:nvPr/>
        </p:nvCxnSpPr>
        <p:spPr>
          <a:xfrm>
            <a:off x="2057400" y="5148072"/>
            <a:ext cx="1051560" cy="0"/>
          </a:xfrm>
          <a:prstGeom prst="line">
            <a:avLst/>
          </a:prstGeom>
          <a:ln w="2540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43400" y="5148072"/>
            <a:ext cx="1051560" cy="0"/>
          </a:xfrm>
          <a:prstGeom prst="line">
            <a:avLst/>
          </a:prstGeom>
          <a:ln w="2540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629400" y="5148072"/>
            <a:ext cx="1051560" cy="0"/>
          </a:xfrm>
          <a:prstGeom prst="line">
            <a:avLst/>
          </a:prstGeom>
          <a:ln w="2540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915400" y="5148072"/>
            <a:ext cx="1051560" cy="0"/>
          </a:xfrm>
          <a:prstGeom prst="line">
            <a:avLst/>
          </a:prstGeom>
          <a:ln w="25400">
            <a:solidFill>
              <a:srgbClr val="00DCE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5989320"/>
            <a:ext cx="9875520" cy="320040"/>
          </a:xfrm>
          <a:prstGeom prst="rect">
            <a:avLst/>
          </a:prstGeom>
          <a:noFill/>
        </p:spPr>
        <p:txBody>
          <a:bodyPr wrap="square" lIns="54864" tIns="54864" rIns="54864" bIns="54864" anchor="t">
            <a:spAutoFit/>
          </a:bodyPr>
          <a:lstStyle/>
          <a:p>
            <a:pPr>
              <a:spcAft>
                <a:spcPts val="500"/>
              </a:spcAft>
              <a:defRPr sz="1200" b="0">
                <a:solidFill>
                  <a:srgbClr val="AFAFAF"/>
                </a:solidFill>
                <a:latin typeface="Aptos"/>
              </a:defRPr>
            </a:pPr>
            <a:r>
              <a:t>Project presentation • Functional simulation and current test results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Rectangle 1"/>
          <p:cNvSpPr/>
          <p:nvPr/>
        </p:nvSpPr>
        <p:spPr>
          <a:xfrm>
            <a:off x="329184" y="256032"/>
            <a:ext cx="64008" cy="438912"/>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11064240" cy="502920"/>
          </a:xfrm>
          <a:prstGeom prst="rect">
            <a:avLst/>
          </a:prstGeom>
          <a:noFill/>
        </p:spPr>
        <p:txBody>
          <a:bodyPr wrap="square" lIns="45720" tIns="27432" rIns="45720" bIns="27432">
            <a:spAutoFit/>
          </a:bodyPr>
          <a:lstStyle/>
          <a:p>
            <a:pPr>
              <a:defRPr sz="2500" b="1">
                <a:solidFill>
                  <a:srgbClr val="F5F5F5"/>
                </a:solidFill>
                <a:latin typeface="Arial"/>
              </a:defRPr>
            </a:pPr>
            <a:r>
              <a:t>ALU VS CPU: WHAT IS THE DIFFERENCE?</a:t>
            </a:r>
          </a:p>
        </p:txBody>
      </p:sp>
      <p:sp>
        <p:nvSpPr>
          <p:cNvPr id="4" name="TextBox 3"/>
          <p:cNvSpPr txBox="1"/>
          <p:nvPr/>
        </p:nvSpPr>
        <p:spPr>
          <a:xfrm>
            <a:off x="11292840" y="6519672"/>
            <a:ext cx="502920" cy="182880"/>
          </a:xfrm>
          <a:prstGeom prst="rect">
            <a:avLst/>
          </a:prstGeom>
          <a:noFill/>
        </p:spPr>
        <p:txBody>
          <a:bodyPr wrap="square" lIns="45720" tIns="27432" rIns="45720" bIns="27432">
            <a:spAutoFit/>
          </a:bodyPr>
          <a:lstStyle/>
          <a:p>
            <a:pPr algn="r">
              <a:defRPr sz="900" b="1">
                <a:solidFill>
                  <a:srgbClr val="00DCEB"/>
                </a:solidFill>
                <a:latin typeface="Arial"/>
              </a:defRPr>
            </a:pPr>
            <a:r>
              <a:t>26</a:t>
            </a:r>
          </a:p>
        </p:txBody>
      </p:sp>
      <p:sp>
        <p:nvSpPr>
          <p:cNvPr id="5" name="Rounded Rectangle 4"/>
          <p:cNvSpPr/>
          <p:nvPr/>
        </p:nvSpPr>
        <p:spPr>
          <a:xfrm>
            <a:off x="502920" y="1051560"/>
            <a:ext cx="5349240" cy="4480560"/>
          </a:xfrm>
          <a:prstGeom prst="roundRect">
            <a:avLst/>
          </a:prstGeom>
          <a:solidFill>
            <a:srgbClr val="1F1F1F"/>
          </a:solidFill>
          <a:ln w="15240">
            <a:solidFill>
              <a:srgbClr val="0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161288"/>
            <a:ext cx="5020055" cy="317010"/>
          </a:xfrm>
          <a:prstGeom prst="rect">
            <a:avLst/>
          </a:prstGeom>
          <a:noFill/>
        </p:spPr>
        <p:txBody>
          <a:bodyPr wrap="square" lIns="45720" tIns="27432" rIns="45720" bIns="27432">
            <a:spAutoFit/>
          </a:bodyPr>
          <a:lstStyle/>
          <a:p>
            <a:pPr algn="ctr">
              <a:defRPr sz="1700" b="1">
                <a:solidFill>
                  <a:srgbClr val="00DCEB"/>
                </a:solidFill>
                <a:latin typeface="Arial"/>
              </a:defRPr>
            </a:pPr>
            <a:r>
              <a:rPr dirty="0"/>
              <a:t>ALU — Arithmetic Logic Unit</a:t>
            </a:r>
          </a:p>
        </p:txBody>
      </p:sp>
      <p:sp>
        <p:nvSpPr>
          <p:cNvPr id="7" name="TextBox 6"/>
          <p:cNvSpPr txBox="1"/>
          <p:nvPr/>
        </p:nvSpPr>
        <p:spPr>
          <a:xfrm>
            <a:off x="667512" y="1554480"/>
            <a:ext cx="5020055" cy="2825389"/>
          </a:xfrm>
          <a:prstGeom prst="rect">
            <a:avLst/>
          </a:prstGeom>
          <a:noFill/>
        </p:spPr>
        <p:txBody>
          <a:bodyPr wrap="square" lIns="45720" tIns="27432" rIns="45720" bIns="27432">
            <a:spAutoFit/>
          </a:bodyPr>
          <a:lstStyle/>
          <a:p>
            <a:pPr>
              <a:defRPr sz="1400" b="0">
                <a:solidFill>
                  <a:srgbClr val="F5F5F5"/>
                </a:solidFill>
                <a:latin typeface="Arial"/>
              </a:defRPr>
            </a:pPr>
            <a:r>
              <a:rPr sz="2000" dirty="0"/>
              <a:t>• A processing block inside the CPU</a:t>
            </a:r>
          </a:p>
          <a:p>
            <a:pPr>
              <a:defRPr sz="1400" b="0">
                <a:solidFill>
                  <a:srgbClr val="F5F5F5"/>
                </a:solidFill>
                <a:latin typeface="Arial"/>
              </a:defRPr>
            </a:pPr>
            <a:r>
              <a:rPr sz="2000" dirty="0"/>
              <a:t>• Performs arithmetic: ADD, SUB</a:t>
            </a:r>
          </a:p>
          <a:p>
            <a:pPr>
              <a:defRPr sz="1400" b="0">
                <a:solidFill>
                  <a:srgbClr val="F5F5F5"/>
                </a:solidFill>
                <a:latin typeface="Arial"/>
              </a:defRPr>
            </a:pPr>
            <a:r>
              <a:rPr sz="2000" dirty="0"/>
              <a:t>• Performs logic: AND, OR, XOR, NOT</a:t>
            </a:r>
          </a:p>
          <a:p>
            <a:pPr>
              <a:defRPr sz="1400" b="0">
                <a:solidFill>
                  <a:srgbClr val="F5F5F5"/>
                </a:solidFill>
                <a:latin typeface="Arial"/>
              </a:defRPr>
            </a:pPr>
            <a:r>
              <a:rPr sz="2000" dirty="0"/>
              <a:t>• Produces a result and status flags (Zero, Carry)</a:t>
            </a:r>
          </a:p>
          <a:p>
            <a:pPr>
              <a:defRPr sz="1400" b="0">
                <a:solidFill>
                  <a:srgbClr val="F5F5F5"/>
                </a:solidFill>
                <a:latin typeface="Arial"/>
              </a:defRPr>
            </a:pPr>
            <a:r>
              <a:rPr sz="2000" dirty="0"/>
              <a:t>• Does not fetch or decode instructions by itself</a:t>
            </a:r>
          </a:p>
          <a:p>
            <a:pPr>
              <a:defRPr sz="1400" b="0">
                <a:solidFill>
                  <a:srgbClr val="F5F5F5"/>
                </a:solidFill>
                <a:latin typeface="Arial"/>
              </a:defRPr>
            </a:pPr>
            <a:endParaRPr sz="2000" dirty="0"/>
          </a:p>
          <a:p>
            <a:pPr>
              <a:defRPr sz="1400" b="0">
                <a:solidFill>
                  <a:srgbClr val="F5F5F5"/>
                </a:solidFill>
                <a:latin typeface="Arial"/>
              </a:defRPr>
            </a:pPr>
            <a:r>
              <a:rPr sz="2000" dirty="0"/>
              <a:t>In this project: the ALU is 4-bit wide.</a:t>
            </a:r>
          </a:p>
        </p:txBody>
      </p:sp>
      <p:sp>
        <p:nvSpPr>
          <p:cNvPr id="8" name="Rounded Rectangle 7"/>
          <p:cNvSpPr/>
          <p:nvPr/>
        </p:nvSpPr>
        <p:spPr>
          <a:xfrm>
            <a:off x="6263640" y="1051560"/>
            <a:ext cx="5349240" cy="4480560"/>
          </a:xfrm>
          <a:prstGeom prst="roundRect">
            <a:avLst/>
          </a:prstGeom>
          <a:solidFill>
            <a:srgbClr val="1F1F1F"/>
          </a:solidFill>
          <a:ln w="15240">
            <a:solidFill>
              <a:srgbClr val="FF9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28231" y="1161288"/>
            <a:ext cx="5020055" cy="317010"/>
          </a:xfrm>
          <a:prstGeom prst="rect">
            <a:avLst/>
          </a:prstGeom>
          <a:noFill/>
        </p:spPr>
        <p:txBody>
          <a:bodyPr wrap="square" lIns="45720" tIns="27432" rIns="45720" bIns="27432">
            <a:spAutoFit/>
          </a:bodyPr>
          <a:lstStyle/>
          <a:p>
            <a:pPr algn="ctr">
              <a:defRPr sz="1700" b="1">
                <a:solidFill>
                  <a:srgbClr val="FF9137"/>
                </a:solidFill>
                <a:latin typeface="Arial"/>
              </a:defRPr>
            </a:pPr>
            <a:r>
              <a:rPr dirty="0"/>
              <a:t>CPU — Central Processing Unit</a:t>
            </a:r>
          </a:p>
        </p:txBody>
      </p:sp>
      <p:sp>
        <p:nvSpPr>
          <p:cNvPr id="10" name="TextBox 9"/>
          <p:cNvSpPr txBox="1"/>
          <p:nvPr/>
        </p:nvSpPr>
        <p:spPr>
          <a:xfrm>
            <a:off x="6428231" y="1554480"/>
            <a:ext cx="5020055" cy="3440942"/>
          </a:xfrm>
          <a:prstGeom prst="rect">
            <a:avLst/>
          </a:prstGeom>
          <a:noFill/>
        </p:spPr>
        <p:txBody>
          <a:bodyPr wrap="square" lIns="45720" tIns="27432" rIns="45720" bIns="27432">
            <a:spAutoFit/>
          </a:bodyPr>
          <a:lstStyle/>
          <a:p>
            <a:pPr>
              <a:defRPr sz="1400" b="0">
                <a:solidFill>
                  <a:srgbClr val="F5F5F5"/>
                </a:solidFill>
                <a:latin typeface="Arial"/>
              </a:defRPr>
            </a:pPr>
            <a:r>
              <a:rPr sz="2000"/>
              <a:t>• The complete processor system</a:t>
            </a:r>
          </a:p>
          <a:p>
            <a:pPr>
              <a:defRPr sz="1400" b="0">
                <a:solidFill>
                  <a:srgbClr val="F5F5F5"/>
                </a:solidFill>
                <a:latin typeface="Arial"/>
              </a:defRPr>
            </a:pPr>
            <a:r>
              <a:rPr sz="2000"/>
              <a:t>• Fetches instructions using the PC and Instruction Memory</a:t>
            </a:r>
          </a:p>
          <a:p>
            <a:pPr>
              <a:defRPr sz="1400" b="0">
                <a:solidFill>
                  <a:srgbClr val="F5F5F5"/>
                </a:solidFill>
                <a:latin typeface="Arial"/>
              </a:defRPr>
            </a:pPr>
            <a:r>
              <a:rPr sz="2000"/>
              <a:t>• Decodes instructions in the Control Unit</a:t>
            </a:r>
          </a:p>
          <a:p>
            <a:pPr>
              <a:defRPr sz="1400" b="0">
                <a:solidFill>
                  <a:srgbClr val="F5F5F5"/>
                </a:solidFill>
                <a:latin typeface="Arial"/>
              </a:defRPr>
            </a:pPr>
            <a:r>
              <a:rPr sz="2000"/>
              <a:t>• Uses the Register File, ALU, MUXes and memory</a:t>
            </a:r>
          </a:p>
          <a:p>
            <a:pPr>
              <a:defRPr sz="1400" b="0">
                <a:solidFill>
                  <a:srgbClr val="F5F5F5"/>
                </a:solidFill>
                <a:latin typeface="Arial"/>
              </a:defRPr>
            </a:pPr>
            <a:r>
              <a:rPr sz="2000"/>
              <a:t>• Updates the PC, flags and registers as instructions run</a:t>
            </a:r>
          </a:p>
          <a:p>
            <a:pPr>
              <a:defRPr sz="1400" b="0">
                <a:solidFill>
                  <a:srgbClr val="F5F5F5"/>
                </a:solidFill>
                <a:latin typeface="Arial"/>
              </a:defRPr>
            </a:pPr>
            <a:endParaRPr sz="2000"/>
          </a:p>
          <a:p>
            <a:pPr>
              <a:defRPr sz="1400" b="0">
                <a:solidFill>
                  <a:srgbClr val="F5F5F5"/>
                </a:solidFill>
                <a:latin typeface="Arial"/>
              </a:defRPr>
            </a:pPr>
            <a:r>
              <a:rPr sz="2000"/>
              <a:t>In this project: a 4-bit RISC CPU with a 3-stage pipeline.</a:t>
            </a:r>
          </a:p>
        </p:txBody>
      </p:sp>
      <p:sp>
        <p:nvSpPr>
          <p:cNvPr id="11" name="TextBox 10"/>
          <p:cNvSpPr txBox="1"/>
          <p:nvPr/>
        </p:nvSpPr>
        <p:spPr>
          <a:xfrm>
            <a:off x="731520" y="5760720"/>
            <a:ext cx="10881360" cy="438912"/>
          </a:xfrm>
          <a:prstGeom prst="rect">
            <a:avLst/>
          </a:prstGeom>
          <a:noFill/>
        </p:spPr>
        <p:txBody>
          <a:bodyPr wrap="square" lIns="45720" tIns="27432" rIns="45720" bIns="27432">
            <a:spAutoFit/>
          </a:bodyPr>
          <a:lstStyle/>
          <a:p>
            <a:pPr algn="ctr">
              <a:defRPr sz="1800" b="1">
                <a:solidFill>
                  <a:srgbClr val="00DCEB"/>
                </a:solidFill>
                <a:latin typeface="Arial"/>
              </a:defRPr>
            </a:pPr>
            <a:r>
              <a:t>Key idea: The ALU is one part of the CPU. The CPU controls the full instruction 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Rectangle 1"/>
          <p:cNvSpPr/>
          <p:nvPr/>
        </p:nvSpPr>
        <p:spPr>
          <a:xfrm>
            <a:off x="329184" y="256032"/>
            <a:ext cx="64008" cy="438912"/>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11064240" cy="502920"/>
          </a:xfrm>
          <a:prstGeom prst="rect">
            <a:avLst/>
          </a:prstGeom>
          <a:noFill/>
        </p:spPr>
        <p:txBody>
          <a:bodyPr wrap="square" lIns="45720" tIns="27432" rIns="45720" bIns="27432">
            <a:spAutoFit/>
          </a:bodyPr>
          <a:lstStyle/>
          <a:p>
            <a:pPr>
              <a:defRPr sz="2500" b="1">
                <a:solidFill>
                  <a:srgbClr val="F5F5F5"/>
                </a:solidFill>
                <a:latin typeface="Arial"/>
              </a:defRPr>
            </a:pPr>
            <a:r>
              <a:t>HOW THE ALU WORKS INSIDE THE CPU</a:t>
            </a:r>
          </a:p>
        </p:txBody>
      </p:sp>
      <p:sp>
        <p:nvSpPr>
          <p:cNvPr id="4" name="TextBox 3"/>
          <p:cNvSpPr txBox="1"/>
          <p:nvPr/>
        </p:nvSpPr>
        <p:spPr>
          <a:xfrm>
            <a:off x="11292840" y="6519672"/>
            <a:ext cx="502920" cy="182880"/>
          </a:xfrm>
          <a:prstGeom prst="rect">
            <a:avLst/>
          </a:prstGeom>
          <a:noFill/>
        </p:spPr>
        <p:txBody>
          <a:bodyPr wrap="square" lIns="45720" tIns="27432" rIns="45720" bIns="27432">
            <a:spAutoFit/>
          </a:bodyPr>
          <a:lstStyle/>
          <a:p>
            <a:pPr algn="r">
              <a:defRPr sz="900" b="1">
                <a:solidFill>
                  <a:srgbClr val="00DCEB"/>
                </a:solidFill>
                <a:latin typeface="Arial"/>
              </a:defRPr>
            </a:pPr>
            <a:r>
              <a:t>27</a:t>
            </a:r>
          </a:p>
        </p:txBody>
      </p:sp>
      <p:sp>
        <p:nvSpPr>
          <p:cNvPr id="5" name="Rounded Rectangle 4"/>
          <p:cNvSpPr/>
          <p:nvPr/>
        </p:nvSpPr>
        <p:spPr>
          <a:xfrm>
            <a:off x="502920" y="1828800"/>
            <a:ext cx="1874519" cy="1417320"/>
          </a:xfrm>
          <a:prstGeom prst="roundRect">
            <a:avLst/>
          </a:prstGeom>
          <a:solidFill>
            <a:srgbClr val="234C69"/>
          </a:solidFill>
          <a:ln w="15240">
            <a:solidFill>
              <a:srgbClr val="BEB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993392"/>
            <a:ext cx="1728216" cy="310896"/>
          </a:xfrm>
          <a:prstGeom prst="rect">
            <a:avLst/>
          </a:prstGeom>
          <a:noFill/>
        </p:spPr>
        <p:txBody>
          <a:bodyPr wrap="square" lIns="45720" tIns="27432" rIns="45720" bIns="27432">
            <a:spAutoFit/>
          </a:bodyPr>
          <a:lstStyle/>
          <a:p>
            <a:pPr algn="ctr">
              <a:defRPr sz="1200" b="1">
                <a:solidFill>
                  <a:srgbClr val="F5F5F5"/>
                </a:solidFill>
                <a:latin typeface="Arial"/>
              </a:defRPr>
            </a:pPr>
            <a:r>
              <a:t>1. FETCH</a:t>
            </a:r>
          </a:p>
        </p:txBody>
      </p:sp>
      <p:sp>
        <p:nvSpPr>
          <p:cNvPr id="7" name="TextBox 6"/>
          <p:cNvSpPr txBox="1"/>
          <p:nvPr/>
        </p:nvSpPr>
        <p:spPr>
          <a:xfrm>
            <a:off x="594360" y="2395728"/>
            <a:ext cx="1691640" cy="658368"/>
          </a:xfrm>
          <a:prstGeom prst="rect">
            <a:avLst/>
          </a:prstGeom>
          <a:noFill/>
        </p:spPr>
        <p:txBody>
          <a:bodyPr wrap="square" lIns="45720" tIns="27432" rIns="45720" bIns="27432">
            <a:spAutoFit/>
          </a:bodyPr>
          <a:lstStyle/>
          <a:p>
            <a:pPr algn="ctr">
              <a:defRPr sz="1100" b="0">
                <a:solidFill>
                  <a:srgbClr val="F5F5F5"/>
                </a:solidFill>
                <a:latin typeface="Arial"/>
              </a:defRPr>
            </a:pPr>
            <a:r>
              <a:t>PC + Instruction Memory</a:t>
            </a:r>
          </a:p>
          <a:p>
            <a:pPr algn="ctr">
              <a:defRPr sz="1100" b="0">
                <a:solidFill>
                  <a:srgbClr val="F5F5F5"/>
                </a:solidFill>
                <a:latin typeface="Arial"/>
              </a:defRPr>
            </a:pPr>
            <a:r>
              <a:t>get the instruction</a:t>
            </a:r>
          </a:p>
        </p:txBody>
      </p:sp>
      <p:sp>
        <p:nvSpPr>
          <p:cNvPr id="8" name="Rounded Rectangle 7"/>
          <p:cNvSpPr/>
          <p:nvPr/>
        </p:nvSpPr>
        <p:spPr>
          <a:xfrm>
            <a:off x="2834640" y="1828800"/>
            <a:ext cx="1874519" cy="1417320"/>
          </a:xfrm>
          <a:prstGeom prst="roundRect">
            <a:avLst/>
          </a:prstGeom>
          <a:solidFill>
            <a:srgbClr val="683923"/>
          </a:solidFill>
          <a:ln w="15240">
            <a:solidFill>
              <a:srgbClr val="BEB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07792" y="1993392"/>
            <a:ext cx="1728216" cy="310896"/>
          </a:xfrm>
          <a:prstGeom prst="rect">
            <a:avLst/>
          </a:prstGeom>
          <a:noFill/>
        </p:spPr>
        <p:txBody>
          <a:bodyPr wrap="square" lIns="45720" tIns="27432" rIns="45720" bIns="27432">
            <a:spAutoFit/>
          </a:bodyPr>
          <a:lstStyle/>
          <a:p>
            <a:pPr algn="ctr">
              <a:defRPr sz="1200" b="1">
                <a:solidFill>
                  <a:srgbClr val="F5F5F5"/>
                </a:solidFill>
                <a:latin typeface="Arial"/>
              </a:defRPr>
            </a:pPr>
            <a:r>
              <a:t>2. DECODE</a:t>
            </a:r>
          </a:p>
        </p:txBody>
      </p:sp>
      <p:sp>
        <p:nvSpPr>
          <p:cNvPr id="10" name="TextBox 9"/>
          <p:cNvSpPr txBox="1"/>
          <p:nvPr/>
        </p:nvSpPr>
        <p:spPr>
          <a:xfrm>
            <a:off x="2926080" y="2395728"/>
            <a:ext cx="1691640" cy="658368"/>
          </a:xfrm>
          <a:prstGeom prst="rect">
            <a:avLst/>
          </a:prstGeom>
          <a:noFill/>
        </p:spPr>
        <p:txBody>
          <a:bodyPr wrap="square" lIns="45720" tIns="27432" rIns="45720" bIns="27432">
            <a:spAutoFit/>
          </a:bodyPr>
          <a:lstStyle/>
          <a:p>
            <a:pPr algn="ctr">
              <a:defRPr sz="1100" b="0">
                <a:solidFill>
                  <a:srgbClr val="F5F5F5"/>
                </a:solidFill>
                <a:latin typeface="Arial"/>
              </a:defRPr>
            </a:pPr>
            <a:r>
              <a:t>Control Unit identifies</a:t>
            </a:r>
          </a:p>
          <a:p>
            <a:pPr algn="ctr">
              <a:defRPr sz="1100" b="0">
                <a:solidFill>
                  <a:srgbClr val="F5F5F5"/>
                </a:solidFill>
                <a:latin typeface="Arial"/>
              </a:defRPr>
            </a:pPr>
            <a:r>
              <a:t>opcode and operands</a:t>
            </a:r>
          </a:p>
        </p:txBody>
      </p:sp>
      <p:sp>
        <p:nvSpPr>
          <p:cNvPr id="11" name="Rounded Rectangle 10"/>
          <p:cNvSpPr/>
          <p:nvPr/>
        </p:nvSpPr>
        <p:spPr>
          <a:xfrm>
            <a:off x="5166360" y="1828800"/>
            <a:ext cx="1874519" cy="1417320"/>
          </a:xfrm>
          <a:prstGeom prst="roundRect">
            <a:avLst/>
          </a:prstGeom>
          <a:solidFill>
            <a:srgbClr val="235F44"/>
          </a:solidFill>
          <a:ln w="15240">
            <a:solidFill>
              <a:srgbClr val="0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39512" y="1993392"/>
            <a:ext cx="1728216" cy="310896"/>
          </a:xfrm>
          <a:prstGeom prst="rect">
            <a:avLst/>
          </a:prstGeom>
          <a:noFill/>
        </p:spPr>
        <p:txBody>
          <a:bodyPr wrap="square" lIns="45720" tIns="27432" rIns="45720" bIns="27432">
            <a:spAutoFit/>
          </a:bodyPr>
          <a:lstStyle/>
          <a:p>
            <a:pPr algn="ctr">
              <a:defRPr sz="1200" b="1">
                <a:solidFill>
                  <a:srgbClr val="F5F5F5"/>
                </a:solidFill>
                <a:latin typeface="Arial"/>
              </a:defRPr>
            </a:pPr>
            <a:r>
              <a:t>3. EXECUTE</a:t>
            </a:r>
          </a:p>
        </p:txBody>
      </p:sp>
      <p:sp>
        <p:nvSpPr>
          <p:cNvPr id="13" name="TextBox 12"/>
          <p:cNvSpPr txBox="1"/>
          <p:nvPr/>
        </p:nvSpPr>
        <p:spPr>
          <a:xfrm>
            <a:off x="5257800" y="2395728"/>
            <a:ext cx="1691640" cy="658368"/>
          </a:xfrm>
          <a:prstGeom prst="rect">
            <a:avLst/>
          </a:prstGeom>
          <a:noFill/>
        </p:spPr>
        <p:txBody>
          <a:bodyPr wrap="square" lIns="45720" tIns="27432" rIns="45720" bIns="27432">
            <a:spAutoFit/>
          </a:bodyPr>
          <a:lstStyle/>
          <a:p>
            <a:pPr algn="ctr">
              <a:defRPr sz="1100" b="0">
                <a:solidFill>
                  <a:srgbClr val="F5F5F5"/>
                </a:solidFill>
                <a:latin typeface="Arial"/>
              </a:defRPr>
            </a:pPr>
            <a:r>
              <a:t>MUX selects inputs;</a:t>
            </a:r>
          </a:p>
          <a:p>
            <a:pPr algn="ctr">
              <a:defRPr sz="1100" b="0">
                <a:solidFill>
                  <a:srgbClr val="F5F5F5"/>
                </a:solidFill>
                <a:latin typeface="Arial"/>
              </a:defRPr>
            </a:pPr>
            <a:r>
              <a:t>ALU computes result</a:t>
            </a:r>
          </a:p>
        </p:txBody>
      </p:sp>
      <p:sp>
        <p:nvSpPr>
          <p:cNvPr id="14" name="Rounded Rectangle 13"/>
          <p:cNvSpPr/>
          <p:nvPr/>
        </p:nvSpPr>
        <p:spPr>
          <a:xfrm>
            <a:off x="7498079" y="1828800"/>
            <a:ext cx="1874519" cy="1417320"/>
          </a:xfrm>
          <a:prstGeom prst="roundRect">
            <a:avLst/>
          </a:prstGeom>
          <a:solidFill>
            <a:srgbClr val="68521C"/>
          </a:solidFill>
          <a:ln w="15240">
            <a:solidFill>
              <a:srgbClr val="BEB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71231" y="1993392"/>
            <a:ext cx="1728216" cy="310896"/>
          </a:xfrm>
          <a:prstGeom prst="rect">
            <a:avLst/>
          </a:prstGeom>
          <a:noFill/>
        </p:spPr>
        <p:txBody>
          <a:bodyPr wrap="square" lIns="45720" tIns="27432" rIns="45720" bIns="27432">
            <a:spAutoFit/>
          </a:bodyPr>
          <a:lstStyle/>
          <a:p>
            <a:pPr algn="ctr">
              <a:defRPr sz="1200" b="1">
                <a:solidFill>
                  <a:srgbClr val="F5F5F5"/>
                </a:solidFill>
                <a:latin typeface="Arial"/>
              </a:defRPr>
            </a:pPr>
            <a:r>
              <a:t>4. MEMORY</a:t>
            </a:r>
          </a:p>
        </p:txBody>
      </p:sp>
      <p:sp>
        <p:nvSpPr>
          <p:cNvPr id="16" name="TextBox 15"/>
          <p:cNvSpPr txBox="1"/>
          <p:nvPr/>
        </p:nvSpPr>
        <p:spPr>
          <a:xfrm>
            <a:off x="7589519" y="2395728"/>
            <a:ext cx="1691640" cy="658368"/>
          </a:xfrm>
          <a:prstGeom prst="rect">
            <a:avLst/>
          </a:prstGeom>
          <a:noFill/>
        </p:spPr>
        <p:txBody>
          <a:bodyPr wrap="square" lIns="45720" tIns="27432" rIns="45720" bIns="27432">
            <a:spAutoFit/>
          </a:bodyPr>
          <a:lstStyle/>
          <a:p>
            <a:pPr algn="ctr">
              <a:defRPr sz="1100" b="0">
                <a:solidFill>
                  <a:srgbClr val="F5F5F5"/>
                </a:solidFill>
                <a:latin typeface="Arial"/>
              </a:defRPr>
            </a:pPr>
            <a:r>
              <a:t>Data Memory is used</a:t>
            </a:r>
          </a:p>
          <a:p>
            <a:pPr algn="ctr">
              <a:defRPr sz="1100" b="0">
                <a:solidFill>
                  <a:srgbClr val="F5F5F5"/>
                </a:solidFill>
                <a:latin typeface="Arial"/>
              </a:defRPr>
            </a:pPr>
            <a:r>
              <a:t>when required</a:t>
            </a:r>
          </a:p>
        </p:txBody>
      </p:sp>
      <p:sp>
        <p:nvSpPr>
          <p:cNvPr id="17" name="Rounded Rectangle 16"/>
          <p:cNvSpPr/>
          <p:nvPr/>
        </p:nvSpPr>
        <p:spPr>
          <a:xfrm>
            <a:off x="9829800" y="1828800"/>
            <a:ext cx="1874519" cy="1417320"/>
          </a:xfrm>
          <a:prstGeom prst="roundRect">
            <a:avLst/>
          </a:prstGeom>
          <a:solidFill>
            <a:srgbClr val="4B3769"/>
          </a:solidFill>
          <a:ln w="15240">
            <a:solidFill>
              <a:srgbClr val="BEB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02952" y="1993392"/>
            <a:ext cx="1728216" cy="310896"/>
          </a:xfrm>
          <a:prstGeom prst="rect">
            <a:avLst/>
          </a:prstGeom>
          <a:noFill/>
        </p:spPr>
        <p:txBody>
          <a:bodyPr wrap="square" lIns="45720" tIns="27432" rIns="45720" bIns="27432">
            <a:spAutoFit/>
          </a:bodyPr>
          <a:lstStyle/>
          <a:p>
            <a:pPr algn="ctr">
              <a:defRPr sz="1200" b="1">
                <a:solidFill>
                  <a:srgbClr val="F5F5F5"/>
                </a:solidFill>
                <a:latin typeface="Arial"/>
              </a:defRPr>
            </a:pPr>
            <a:r>
              <a:t>5. WRITE-BACK</a:t>
            </a:r>
          </a:p>
        </p:txBody>
      </p:sp>
      <p:sp>
        <p:nvSpPr>
          <p:cNvPr id="19" name="TextBox 18"/>
          <p:cNvSpPr txBox="1"/>
          <p:nvPr/>
        </p:nvSpPr>
        <p:spPr>
          <a:xfrm>
            <a:off x="9921240" y="2395728"/>
            <a:ext cx="1691640" cy="658368"/>
          </a:xfrm>
          <a:prstGeom prst="rect">
            <a:avLst/>
          </a:prstGeom>
          <a:noFill/>
        </p:spPr>
        <p:txBody>
          <a:bodyPr wrap="square" lIns="45720" tIns="27432" rIns="45720" bIns="27432">
            <a:spAutoFit/>
          </a:bodyPr>
          <a:lstStyle/>
          <a:p>
            <a:pPr algn="ctr">
              <a:defRPr sz="1100" b="0">
                <a:solidFill>
                  <a:srgbClr val="F5F5F5"/>
                </a:solidFill>
                <a:latin typeface="Arial"/>
              </a:defRPr>
            </a:pPr>
            <a:r>
              <a:t>MUX selects data;</a:t>
            </a:r>
          </a:p>
          <a:p>
            <a:pPr algn="ctr">
              <a:defRPr sz="1100" b="0">
                <a:solidFill>
                  <a:srgbClr val="F5F5F5"/>
                </a:solidFill>
                <a:latin typeface="Arial"/>
              </a:defRPr>
            </a:pPr>
            <a:r>
              <a:t>register is updated</a:t>
            </a:r>
          </a:p>
        </p:txBody>
      </p:sp>
      <p:sp>
        <p:nvSpPr>
          <p:cNvPr id="20" name="Right Arrow 19"/>
          <p:cNvSpPr/>
          <p:nvPr/>
        </p:nvSpPr>
        <p:spPr>
          <a:xfrm>
            <a:off x="2450592" y="2331720"/>
            <a:ext cx="310896" cy="347472"/>
          </a:xfrm>
          <a:prstGeom prst="rightArrow">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4782312" y="2331720"/>
            <a:ext cx="310896" cy="347472"/>
          </a:xfrm>
          <a:prstGeom prst="rightArrow">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ight Arrow 21"/>
          <p:cNvSpPr/>
          <p:nvPr/>
        </p:nvSpPr>
        <p:spPr>
          <a:xfrm>
            <a:off x="7114032" y="2331720"/>
            <a:ext cx="310896" cy="347472"/>
          </a:xfrm>
          <a:prstGeom prst="rightArrow">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ight Arrow 22"/>
          <p:cNvSpPr/>
          <p:nvPr/>
        </p:nvSpPr>
        <p:spPr>
          <a:xfrm>
            <a:off x="9445752" y="2331720"/>
            <a:ext cx="310896" cy="347472"/>
          </a:xfrm>
          <a:prstGeom prst="rightArrow">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31520" y="3794760"/>
            <a:ext cx="5257800" cy="1600200"/>
          </a:xfrm>
          <a:prstGeom prst="roundRect">
            <a:avLst/>
          </a:prstGeom>
          <a:solidFill>
            <a:srgbClr val="1F1F1F"/>
          </a:solidFill>
          <a:ln w="15240">
            <a:solidFill>
              <a:srgbClr val="0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904488"/>
            <a:ext cx="4928616" cy="310896"/>
          </a:xfrm>
          <a:prstGeom prst="rect">
            <a:avLst/>
          </a:prstGeom>
          <a:noFill/>
        </p:spPr>
        <p:txBody>
          <a:bodyPr wrap="square" lIns="45720" tIns="27432" rIns="45720" bIns="27432">
            <a:spAutoFit/>
          </a:bodyPr>
          <a:lstStyle/>
          <a:p>
            <a:pPr>
              <a:defRPr sz="1700" b="1">
                <a:solidFill>
                  <a:srgbClr val="00DCEB"/>
                </a:solidFill>
                <a:latin typeface="Arial"/>
              </a:defRPr>
            </a:pPr>
            <a:r>
              <a:t>Example: ADD R1, R2</a:t>
            </a:r>
          </a:p>
        </p:txBody>
      </p:sp>
      <p:sp>
        <p:nvSpPr>
          <p:cNvPr id="26" name="TextBox 25"/>
          <p:cNvSpPr txBox="1"/>
          <p:nvPr/>
        </p:nvSpPr>
        <p:spPr>
          <a:xfrm>
            <a:off x="896112" y="4297680"/>
            <a:ext cx="4928616" cy="978407"/>
          </a:xfrm>
          <a:prstGeom prst="rect">
            <a:avLst/>
          </a:prstGeom>
          <a:noFill/>
        </p:spPr>
        <p:txBody>
          <a:bodyPr wrap="square" lIns="45720" tIns="27432" rIns="45720" bIns="27432">
            <a:spAutoFit/>
          </a:bodyPr>
          <a:lstStyle/>
          <a:p>
            <a:pPr>
              <a:defRPr sz="1400" b="0">
                <a:solidFill>
                  <a:srgbClr val="F5F5F5"/>
                </a:solidFill>
                <a:latin typeface="Arial"/>
              </a:defRPr>
            </a:pPr>
            <a:r>
              <a:t>The CPU fetches and decodes the ADD instruction.</a:t>
            </a:r>
          </a:p>
          <a:p>
            <a:pPr>
              <a:defRPr sz="1400" b="0">
                <a:solidFill>
                  <a:srgbClr val="F5F5F5"/>
                </a:solidFill>
                <a:latin typeface="Arial"/>
              </a:defRPr>
            </a:pPr>
            <a:r>
              <a:t>The ALU adds the values in R1 and R2.</a:t>
            </a:r>
          </a:p>
          <a:p>
            <a:pPr>
              <a:defRPr sz="1400" b="0">
                <a:solidFill>
                  <a:srgbClr val="F5F5F5"/>
                </a:solidFill>
                <a:latin typeface="Arial"/>
              </a:defRPr>
            </a:pPr>
            <a:r>
              <a:t>The CPU writes the result back to the destination register.</a:t>
            </a:r>
          </a:p>
        </p:txBody>
      </p:sp>
      <p:sp>
        <p:nvSpPr>
          <p:cNvPr id="27" name="Rounded Rectangle 26"/>
          <p:cNvSpPr/>
          <p:nvPr/>
        </p:nvSpPr>
        <p:spPr>
          <a:xfrm>
            <a:off x="6217920" y="3794760"/>
            <a:ext cx="5257800" cy="1600200"/>
          </a:xfrm>
          <a:prstGeom prst="roundRect">
            <a:avLst/>
          </a:prstGeom>
          <a:solidFill>
            <a:srgbClr val="1F1F1F"/>
          </a:solidFill>
          <a:ln w="15240">
            <a:solidFill>
              <a:srgbClr val="FF9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904488"/>
            <a:ext cx="4928616" cy="310896"/>
          </a:xfrm>
          <a:prstGeom prst="rect">
            <a:avLst/>
          </a:prstGeom>
          <a:noFill/>
        </p:spPr>
        <p:txBody>
          <a:bodyPr wrap="square" lIns="45720" tIns="27432" rIns="45720" bIns="27432">
            <a:spAutoFit/>
          </a:bodyPr>
          <a:lstStyle/>
          <a:p>
            <a:pPr>
              <a:defRPr sz="1700" b="1">
                <a:solidFill>
                  <a:srgbClr val="FF9137"/>
                </a:solidFill>
                <a:latin typeface="Arial"/>
              </a:defRPr>
            </a:pPr>
            <a:r>
              <a:t>Why the CPU needs more than an ALU</a:t>
            </a:r>
          </a:p>
        </p:txBody>
      </p:sp>
      <p:sp>
        <p:nvSpPr>
          <p:cNvPr id="29" name="TextBox 28"/>
          <p:cNvSpPr txBox="1"/>
          <p:nvPr/>
        </p:nvSpPr>
        <p:spPr>
          <a:xfrm>
            <a:off x="6382512" y="4297680"/>
            <a:ext cx="4928616" cy="978407"/>
          </a:xfrm>
          <a:prstGeom prst="rect">
            <a:avLst/>
          </a:prstGeom>
          <a:noFill/>
        </p:spPr>
        <p:txBody>
          <a:bodyPr wrap="square" lIns="45720" tIns="27432" rIns="45720" bIns="27432">
            <a:spAutoFit/>
          </a:bodyPr>
          <a:lstStyle/>
          <a:p>
            <a:pPr>
              <a:defRPr sz="1400" b="0">
                <a:solidFill>
                  <a:srgbClr val="F5F5F5"/>
                </a:solidFill>
                <a:latin typeface="Arial"/>
              </a:defRPr>
            </a:pPr>
            <a:r>
              <a:t>The ALU cannot choose the next instruction, read the instruction memory, or manage register write-back alone.</a:t>
            </a:r>
          </a:p>
          <a:p>
            <a:pPr>
              <a:defRPr sz="1400" b="0">
                <a:solidFill>
                  <a:srgbClr val="F5F5F5"/>
                </a:solidFill>
                <a:latin typeface="Arial"/>
              </a:defRPr>
            </a:pPr>
            <a:r>
              <a:t>The CPU’s control and datapath blocks coordinate these actions.</a:t>
            </a:r>
          </a:p>
        </p:txBody>
      </p:sp>
      <p:sp>
        <p:nvSpPr>
          <p:cNvPr id="30" name="TextBox 29"/>
          <p:cNvSpPr txBox="1"/>
          <p:nvPr/>
        </p:nvSpPr>
        <p:spPr>
          <a:xfrm>
            <a:off x="731520" y="5806440"/>
            <a:ext cx="10881360" cy="347472"/>
          </a:xfrm>
          <a:prstGeom prst="rect">
            <a:avLst/>
          </a:prstGeom>
          <a:noFill/>
        </p:spPr>
        <p:txBody>
          <a:bodyPr wrap="square" lIns="45720" tIns="27432" rIns="45720" bIns="27432">
            <a:spAutoFit/>
          </a:bodyPr>
          <a:lstStyle/>
          <a:p>
            <a:pPr algn="ctr">
              <a:defRPr sz="1700" b="1">
                <a:solidFill>
                  <a:srgbClr val="00DCEB"/>
                </a:solidFill>
                <a:latin typeface="Arial"/>
              </a:defRPr>
            </a:pPr>
            <a:r>
              <a:t>ALU = calculation unit  |  CPU = complete instruction-processing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PRESENTATION ROADMAP</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INTRODUCTION</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02</a:t>
            </a:r>
          </a:p>
        </p:txBody>
      </p:sp>
      <p:sp>
        <p:nvSpPr>
          <p:cNvPr id="7" name="Rectangle 6"/>
          <p:cNvSpPr/>
          <p:nvPr/>
        </p:nvSpPr>
        <p:spPr>
          <a:xfrm>
            <a:off x="731520" y="1417320"/>
            <a:ext cx="3337560" cy="123444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01</a:t>
            </a:r>
          </a:p>
          <a:p>
            <a:pPr algn="ctr">
              <a:spcAft>
                <a:spcPts val="200"/>
              </a:spcAft>
              <a:defRPr sz="1800" b="1">
                <a:solidFill>
                  <a:srgbClr val="F5F5F5"/>
                </a:solidFill>
                <a:latin typeface="Aptos"/>
              </a:defRPr>
            </a:pPr>
            <a:r>
              <a:t>CPU overview</a:t>
            </a:r>
          </a:p>
        </p:txBody>
      </p:sp>
      <p:sp>
        <p:nvSpPr>
          <p:cNvPr id="8" name="Rectangle 7"/>
          <p:cNvSpPr/>
          <p:nvPr/>
        </p:nvSpPr>
        <p:spPr>
          <a:xfrm>
            <a:off x="4526280" y="1417320"/>
            <a:ext cx="3337560" cy="123444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02</a:t>
            </a:r>
          </a:p>
          <a:p>
            <a:pPr algn="ctr">
              <a:spcAft>
                <a:spcPts val="200"/>
              </a:spcAft>
              <a:defRPr sz="1800" b="1">
                <a:solidFill>
                  <a:srgbClr val="F5F5F5"/>
                </a:solidFill>
                <a:latin typeface="Aptos"/>
              </a:defRPr>
            </a:pPr>
            <a:r>
              <a:t>Instruction format &amp; registers</a:t>
            </a:r>
          </a:p>
        </p:txBody>
      </p:sp>
      <p:sp>
        <p:nvSpPr>
          <p:cNvPr id="9" name="Rectangle 8"/>
          <p:cNvSpPr/>
          <p:nvPr/>
        </p:nvSpPr>
        <p:spPr>
          <a:xfrm>
            <a:off x="8321040" y="1417320"/>
            <a:ext cx="3337560" cy="123444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03</a:t>
            </a:r>
          </a:p>
          <a:p>
            <a:pPr algn="ctr">
              <a:spcAft>
                <a:spcPts val="200"/>
              </a:spcAft>
              <a:defRPr sz="1800" b="1">
                <a:solidFill>
                  <a:srgbClr val="F5F5F5"/>
                </a:solidFill>
                <a:latin typeface="Aptos"/>
              </a:defRPr>
            </a:pPr>
            <a:r>
              <a:t>Main hardware blocks</a:t>
            </a:r>
          </a:p>
        </p:txBody>
      </p:sp>
      <p:sp>
        <p:nvSpPr>
          <p:cNvPr id="10" name="Rectangle 9"/>
          <p:cNvSpPr/>
          <p:nvPr/>
        </p:nvSpPr>
        <p:spPr>
          <a:xfrm>
            <a:off x="731520" y="3429000"/>
            <a:ext cx="3337560" cy="123444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04</a:t>
            </a:r>
          </a:p>
          <a:p>
            <a:pPr algn="ctr">
              <a:spcAft>
                <a:spcPts val="200"/>
              </a:spcAft>
              <a:defRPr sz="1800" b="1">
                <a:solidFill>
                  <a:srgbClr val="F5F5F5"/>
                </a:solidFill>
                <a:latin typeface="Aptos"/>
              </a:defRPr>
            </a:pPr>
            <a:r>
              <a:t>Datapath schematic</a:t>
            </a:r>
          </a:p>
        </p:txBody>
      </p:sp>
      <p:sp>
        <p:nvSpPr>
          <p:cNvPr id="11" name="Rectangle 10"/>
          <p:cNvSpPr/>
          <p:nvPr/>
        </p:nvSpPr>
        <p:spPr>
          <a:xfrm>
            <a:off x="4526280" y="3429000"/>
            <a:ext cx="3337560" cy="123444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05</a:t>
            </a:r>
          </a:p>
          <a:p>
            <a:pPr algn="ctr">
              <a:spcAft>
                <a:spcPts val="200"/>
              </a:spcAft>
              <a:defRPr sz="1800" b="1">
                <a:solidFill>
                  <a:srgbClr val="F5F5F5"/>
                </a:solidFill>
                <a:latin typeface="Aptos"/>
              </a:defRPr>
            </a:pPr>
            <a:r>
              <a:t>Pipeline operation</a:t>
            </a:r>
          </a:p>
        </p:txBody>
      </p:sp>
      <p:sp>
        <p:nvSpPr>
          <p:cNvPr id="12" name="Rectangle 11"/>
          <p:cNvSpPr/>
          <p:nvPr/>
        </p:nvSpPr>
        <p:spPr>
          <a:xfrm>
            <a:off x="8321040" y="3429000"/>
            <a:ext cx="3337560" cy="123444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06</a:t>
            </a:r>
          </a:p>
          <a:p>
            <a:pPr algn="ctr">
              <a:spcAft>
                <a:spcPts val="200"/>
              </a:spcAft>
              <a:defRPr sz="1800" b="1">
                <a:solidFill>
                  <a:srgbClr val="F5F5F5"/>
                </a:solidFill>
                <a:latin typeface="Aptos"/>
              </a:defRPr>
            </a:pPr>
            <a:r>
              <a:t>Testbench &amp; results</a:t>
            </a:r>
          </a:p>
        </p:txBody>
      </p:sp>
      <p:sp>
        <p:nvSpPr>
          <p:cNvPr id="13" name="TextBox 12"/>
          <p:cNvSpPr txBox="1"/>
          <p:nvPr/>
        </p:nvSpPr>
        <p:spPr>
          <a:xfrm>
            <a:off x="777240" y="5623560"/>
            <a:ext cx="10607040" cy="502920"/>
          </a:xfrm>
          <a:prstGeom prst="rect">
            <a:avLst/>
          </a:prstGeom>
          <a:noFill/>
        </p:spPr>
        <p:txBody>
          <a:bodyPr wrap="square" lIns="54864" tIns="54864" rIns="54864" bIns="54864" anchor="t">
            <a:spAutoFit/>
          </a:bodyPr>
          <a:lstStyle/>
          <a:p>
            <a:pPr>
              <a:spcAft>
                <a:spcPts val="500"/>
              </a:spcAft>
              <a:defRPr sz="1600" b="0">
                <a:solidFill>
                  <a:srgbClr val="AFAFAF"/>
                </a:solidFill>
                <a:latin typeface="Aptos"/>
              </a:defRPr>
            </a:pPr>
            <a:r>
              <a:t>The presentation follows the same path as the data inside the CPU: instruction in → control → result 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WHAT IS A 4-BIT RISC CPU?</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INTRODUCTION</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03</a:t>
            </a:r>
          </a:p>
        </p:txBody>
      </p:sp>
      <p:sp>
        <p:nvSpPr>
          <p:cNvPr id="7" name="TextBox 6"/>
          <p:cNvSpPr txBox="1"/>
          <p:nvPr/>
        </p:nvSpPr>
        <p:spPr>
          <a:xfrm>
            <a:off x="685800" y="1325880"/>
            <a:ext cx="5486400" cy="4480560"/>
          </a:xfrm>
          <a:prstGeom prst="rect">
            <a:avLst/>
          </a:prstGeom>
          <a:noFill/>
        </p:spPr>
        <p:txBody>
          <a:bodyPr wrap="square" lIns="45720" tIns="36576" rIns="36576" bIns="36576">
            <a:spAutoFit/>
          </a:bodyPr>
          <a:lstStyle/>
          <a:p>
            <a:pPr>
              <a:spcAft>
                <a:spcPts val="1000"/>
              </a:spcAft>
              <a:defRPr sz="1700">
                <a:solidFill>
                  <a:srgbClr val="F5F5F5"/>
                </a:solidFill>
                <a:latin typeface="Aptos"/>
              </a:defRPr>
            </a:pPr>
            <a:r>
              <a:t>•  4-bit datapath: the ALU and general-purpose registers process 4-bit values.</a:t>
            </a:r>
          </a:p>
          <a:p>
            <a:pPr>
              <a:spcAft>
                <a:spcPts val="1000"/>
              </a:spcAft>
              <a:defRPr sz="1700">
                <a:solidFill>
                  <a:srgbClr val="F5F5F5"/>
                </a:solidFill>
                <a:latin typeface="Aptos"/>
              </a:defRPr>
            </a:pPr>
            <a:r>
              <a:t>•  RISC means a small, simple instruction set with a regular instruction format.</a:t>
            </a:r>
          </a:p>
          <a:p>
            <a:pPr>
              <a:spcAft>
                <a:spcPts val="1000"/>
              </a:spcAft>
              <a:defRPr sz="1700">
                <a:solidFill>
                  <a:srgbClr val="F5F5F5"/>
                </a:solidFill>
                <a:latin typeface="Aptos"/>
              </a:defRPr>
            </a:pPr>
            <a:r>
              <a:t>•  The project is written in Verilog HDL and tested with Vivado/XSim.</a:t>
            </a:r>
          </a:p>
          <a:p>
            <a:pPr>
              <a:spcAft>
                <a:spcPts val="1000"/>
              </a:spcAft>
              <a:defRPr sz="1700">
                <a:solidFill>
                  <a:srgbClr val="F5F5F5"/>
                </a:solidFill>
                <a:latin typeface="Aptos"/>
              </a:defRPr>
            </a:pPr>
            <a:r>
              <a:t>•  The design uses a 3-stage pipeline: IF, ID, and EX.</a:t>
            </a:r>
          </a:p>
          <a:p>
            <a:pPr>
              <a:spcAft>
                <a:spcPts val="1000"/>
              </a:spcAft>
              <a:defRPr sz="1700">
                <a:solidFill>
                  <a:srgbClr val="F5F5F5"/>
                </a:solidFill>
                <a:latin typeface="Aptos"/>
              </a:defRPr>
            </a:pPr>
            <a:r>
              <a:t>•  The instruction word is 12 bits wide; the program counter is 4 bits wide.</a:t>
            </a:r>
          </a:p>
        </p:txBody>
      </p:sp>
      <p:sp>
        <p:nvSpPr>
          <p:cNvPr id="8" name="Rectangle 7"/>
          <p:cNvSpPr/>
          <p:nvPr/>
        </p:nvSpPr>
        <p:spPr>
          <a:xfrm>
            <a:off x="6629400" y="1508760"/>
            <a:ext cx="4480560" cy="7315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12-bit instruction</a:t>
            </a:r>
          </a:p>
        </p:txBody>
      </p:sp>
      <p:sp>
        <p:nvSpPr>
          <p:cNvPr id="9" name="Rectangle 8"/>
          <p:cNvSpPr/>
          <p:nvPr/>
        </p:nvSpPr>
        <p:spPr>
          <a:xfrm>
            <a:off x="6629400" y="2560320"/>
            <a:ext cx="4480560" cy="73152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4-bit data / ALU result</a:t>
            </a:r>
          </a:p>
        </p:txBody>
      </p:sp>
      <p:sp>
        <p:nvSpPr>
          <p:cNvPr id="10" name="Rectangle 9"/>
          <p:cNvSpPr/>
          <p:nvPr/>
        </p:nvSpPr>
        <p:spPr>
          <a:xfrm>
            <a:off x="6629400" y="3611880"/>
            <a:ext cx="4480560" cy="7315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4 general-purpose registers</a:t>
            </a:r>
          </a:p>
        </p:txBody>
      </p:sp>
      <p:sp>
        <p:nvSpPr>
          <p:cNvPr id="11" name="Rectangle 10"/>
          <p:cNvSpPr/>
          <p:nvPr/>
        </p:nvSpPr>
        <p:spPr>
          <a:xfrm>
            <a:off x="6629400" y="4663440"/>
            <a:ext cx="4480560" cy="73152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3 pipeline stages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KEY DESIGN SPECIFICATIONS</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INTRODUCTION</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04</a:t>
            </a:r>
          </a:p>
        </p:txBody>
      </p:sp>
      <p:sp>
        <p:nvSpPr>
          <p:cNvPr id="7" name="Rectangle 6"/>
          <p:cNvSpPr/>
          <p:nvPr/>
        </p:nvSpPr>
        <p:spPr>
          <a:xfrm>
            <a:off x="731520" y="1234440"/>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Datapath</a:t>
            </a:r>
          </a:p>
        </p:txBody>
      </p:sp>
      <p:sp>
        <p:nvSpPr>
          <p:cNvPr id="8" name="Rectangle 7"/>
          <p:cNvSpPr/>
          <p:nvPr/>
        </p:nvSpPr>
        <p:spPr>
          <a:xfrm>
            <a:off x="3383280" y="1234440"/>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4 bits</a:t>
            </a:r>
          </a:p>
        </p:txBody>
      </p:sp>
      <p:sp>
        <p:nvSpPr>
          <p:cNvPr id="9" name="TextBox 8"/>
          <p:cNvSpPr txBox="1"/>
          <p:nvPr/>
        </p:nvSpPr>
        <p:spPr>
          <a:xfrm>
            <a:off x="5623560" y="1280160"/>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Data and ALU result width</a:t>
            </a:r>
          </a:p>
        </p:txBody>
      </p:sp>
      <p:sp>
        <p:nvSpPr>
          <p:cNvPr id="10" name="Rectangle 9"/>
          <p:cNvSpPr/>
          <p:nvPr/>
        </p:nvSpPr>
        <p:spPr>
          <a:xfrm>
            <a:off x="731520" y="1929384"/>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Instruction</a:t>
            </a:r>
          </a:p>
        </p:txBody>
      </p:sp>
      <p:sp>
        <p:nvSpPr>
          <p:cNvPr id="11" name="Rectangle 10"/>
          <p:cNvSpPr/>
          <p:nvPr/>
        </p:nvSpPr>
        <p:spPr>
          <a:xfrm>
            <a:off x="3383280" y="1929384"/>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12 bits</a:t>
            </a:r>
          </a:p>
        </p:txBody>
      </p:sp>
      <p:sp>
        <p:nvSpPr>
          <p:cNvPr id="12" name="TextBox 11"/>
          <p:cNvSpPr txBox="1"/>
          <p:nvPr/>
        </p:nvSpPr>
        <p:spPr>
          <a:xfrm>
            <a:off x="5623560" y="1975104"/>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Opcode + register fields + immediate/address</a:t>
            </a:r>
          </a:p>
        </p:txBody>
      </p:sp>
      <p:sp>
        <p:nvSpPr>
          <p:cNvPr id="13" name="Rectangle 12"/>
          <p:cNvSpPr/>
          <p:nvPr/>
        </p:nvSpPr>
        <p:spPr>
          <a:xfrm>
            <a:off x="731520" y="2624328"/>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Program Counter</a:t>
            </a:r>
          </a:p>
        </p:txBody>
      </p:sp>
      <p:sp>
        <p:nvSpPr>
          <p:cNvPr id="14" name="Rectangle 13"/>
          <p:cNvSpPr/>
          <p:nvPr/>
        </p:nvSpPr>
        <p:spPr>
          <a:xfrm>
            <a:off x="3383280" y="2624328"/>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4 bits</a:t>
            </a:r>
          </a:p>
        </p:txBody>
      </p:sp>
      <p:sp>
        <p:nvSpPr>
          <p:cNvPr id="15" name="TextBox 14"/>
          <p:cNvSpPr txBox="1"/>
          <p:nvPr/>
        </p:nvSpPr>
        <p:spPr>
          <a:xfrm>
            <a:off x="5623560" y="2670048"/>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Addresses 16 instruction locations</a:t>
            </a:r>
          </a:p>
        </p:txBody>
      </p:sp>
      <p:sp>
        <p:nvSpPr>
          <p:cNvPr id="16" name="Rectangle 15"/>
          <p:cNvSpPr/>
          <p:nvPr/>
        </p:nvSpPr>
        <p:spPr>
          <a:xfrm>
            <a:off x="731520" y="3319272"/>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Instruction Memory</a:t>
            </a:r>
          </a:p>
        </p:txBody>
      </p:sp>
      <p:sp>
        <p:nvSpPr>
          <p:cNvPr id="17" name="Rectangle 16"/>
          <p:cNvSpPr/>
          <p:nvPr/>
        </p:nvSpPr>
        <p:spPr>
          <a:xfrm>
            <a:off x="3383280" y="3319272"/>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16 × 12</a:t>
            </a:r>
          </a:p>
        </p:txBody>
      </p:sp>
      <p:sp>
        <p:nvSpPr>
          <p:cNvPr id="18" name="TextBox 17"/>
          <p:cNvSpPr txBox="1"/>
          <p:nvPr/>
        </p:nvSpPr>
        <p:spPr>
          <a:xfrm>
            <a:off x="5623560" y="3364992"/>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16 words, each 12 bits</a:t>
            </a:r>
          </a:p>
        </p:txBody>
      </p:sp>
      <p:sp>
        <p:nvSpPr>
          <p:cNvPr id="19" name="Rectangle 18"/>
          <p:cNvSpPr/>
          <p:nvPr/>
        </p:nvSpPr>
        <p:spPr>
          <a:xfrm>
            <a:off x="731520" y="4014216"/>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Data Memory</a:t>
            </a:r>
          </a:p>
        </p:txBody>
      </p:sp>
      <p:sp>
        <p:nvSpPr>
          <p:cNvPr id="20" name="Rectangle 19"/>
          <p:cNvSpPr/>
          <p:nvPr/>
        </p:nvSpPr>
        <p:spPr>
          <a:xfrm>
            <a:off x="3383280" y="4014216"/>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16 × 4</a:t>
            </a:r>
          </a:p>
        </p:txBody>
      </p:sp>
      <p:sp>
        <p:nvSpPr>
          <p:cNvPr id="21" name="TextBox 20"/>
          <p:cNvSpPr txBox="1"/>
          <p:nvPr/>
        </p:nvSpPr>
        <p:spPr>
          <a:xfrm>
            <a:off x="5623560" y="4059936"/>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16 words, each 4 bits</a:t>
            </a:r>
          </a:p>
        </p:txBody>
      </p:sp>
      <p:sp>
        <p:nvSpPr>
          <p:cNvPr id="22" name="Rectangle 21"/>
          <p:cNvSpPr/>
          <p:nvPr/>
        </p:nvSpPr>
        <p:spPr>
          <a:xfrm>
            <a:off x="731520" y="4709160"/>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Register File</a:t>
            </a:r>
          </a:p>
        </p:txBody>
      </p:sp>
      <p:sp>
        <p:nvSpPr>
          <p:cNvPr id="23" name="Rectangle 22"/>
          <p:cNvSpPr/>
          <p:nvPr/>
        </p:nvSpPr>
        <p:spPr>
          <a:xfrm>
            <a:off x="3383280" y="4709160"/>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R0–R3</a:t>
            </a:r>
          </a:p>
        </p:txBody>
      </p:sp>
      <p:sp>
        <p:nvSpPr>
          <p:cNvPr id="24" name="TextBox 23"/>
          <p:cNvSpPr txBox="1"/>
          <p:nvPr/>
        </p:nvSpPr>
        <p:spPr>
          <a:xfrm>
            <a:off x="5623560" y="4754880"/>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Four 4-bit registers</a:t>
            </a:r>
          </a:p>
        </p:txBody>
      </p:sp>
      <p:sp>
        <p:nvSpPr>
          <p:cNvPr id="25" name="Rectangle 24"/>
          <p:cNvSpPr/>
          <p:nvPr/>
        </p:nvSpPr>
        <p:spPr>
          <a:xfrm>
            <a:off x="731520" y="5404104"/>
            <a:ext cx="2468880" cy="5029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Pipeline</a:t>
            </a:r>
          </a:p>
        </p:txBody>
      </p:sp>
      <p:sp>
        <p:nvSpPr>
          <p:cNvPr id="26" name="Rectangle 25"/>
          <p:cNvSpPr/>
          <p:nvPr/>
        </p:nvSpPr>
        <p:spPr>
          <a:xfrm>
            <a:off x="3383280" y="5404104"/>
            <a:ext cx="2011680" cy="5029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3 stages</a:t>
            </a:r>
          </a:p>
        </p:txBody>
      </p:sp>
      <p:sp>
        <p:nvSpPr>
          <p:cNvPr id="27" name="TextBox 26"/>
          <p:cNvSpPr txBox="1"/>
          <p:nvPr/>
        </p:nvSpPr>
        <p:spPr>
          <a:xfrm>
            <a:off x="5623560" y="5449824"/>
            <a:ext cx="5303520" cy="41148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IF → ID → EX</a:t>
            </a:r>
          </a:p>
        </p:txBody>
      </p:sp>
      <p:sp>
        <p:nvSpPr>
          <p:cNvPr id="28" name="TextBox 27"/>
          <p:cNvSpPr txBox="1"/>
          <p:nvPr/>
        </p:nvSpPr>
        <p:spPr>
          <a:xfrm>
            <a:off x="777240" y="6172200"/>
            <a:ext cx="10515600" cy="228600"/>
          </a:xfrm>
          <a:prstGeom prst="rect">
            <a:avLst/>
          </a:prstGeom>
          <a:noFill/>
        </p:spPr>
        <p:txBody>
          <a:bodyPr wrap="square" lIns="54864" tIns="54864" rIns="54864" bIns="54864" anchor="t">
            <a:spAutoFit/>
          </a:bodyPr>
          <a:lstStyle/>
          <a:p>
            <a:pPr>
              <a:spcAft>
                <a:spcPts val="500"/>
              </a:spcAft>
              <a:defRPr sz="1100" b="0">
                <a:solidFill>
                  <a:srgbClr val="AFAFAF"/>
                </a:solidFill>
                <a:latin typeface="Aptos"/>
              </a:defRPr>
            </a:pPr>
            <a:r>
              <a:t>Note: these are the design dimensions described by the project; actual behavior must be confirmed by simulation.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INSTRUCTION SET: 12-BIT FORMAT</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INSTRUCTION SET</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05</a:t>
            </a:r>
          </a:p>
        </p:txBody>
      </p:sp>
      <p:sp>
        <p:nvSpPr>
          <p:cNvPr id="7" name="TextBox 6"/>
          <p:cNvSpPr txBox="1"/>
          <p:nvPr/>
        </p:nvSpPr>
        <p:spPr>
          <a:xfrm>
            <a:off x="731520" y="1143000"/>
            <a:ext cx="10789920" cy="320040"/>
          </a:xfrm>
          <a:prstGeom prst="rect">
            <a:avLst/>
          </a:prstGeom>
          <a:noFill/>
        </p:spPr>
        <p:txBody>
          <a:bodyPr wrap="square" lIns="54864" tIns="54864" rIns="54864" bIns="54864" anchor="t">
            <a:spAutoFit/>
          </a:bodyPr>
          <a:lstStyle/>
          <a:p>
            <a:pPr>
              <a:spcAft>
                <a:spcPts val="500"/>
              </a:spcAft>
              <a:defRPr sz="1600" b="0">
                <a:solidFill>
                  <a:srgbClr val="AFAFAF"/>
                </a:solidFill>
                <a:latin typeface="Aptos"/>
              </a:defRPr>
            </a:pPr>
            <a:r>
              <a:t>Instruction fields are fixed-width, so the decoder reads the same bit positions each time.</a:t>
            </a:r>
          </a:p>
        </p:txBody>
      </p:sp>
      <p:sp>
        <p:nvSpPr>
          <p:cNvPr id="8" name="Rectangle 7"/>
          <p:cNvSpPr/>
          <p:nvPr/>
        </p:nvSpPr>
        <p:spPr>
          <a:xfrm>
            <a:off x="731520" y="1828800"/>
            <a:ext cx="3035808" cy="9601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opcode</a:t>
            </a:r>
          </a:p>
          <a:p>
            <a:pPr algn="ctr">
              <a:spcAft>
                <a:spcPts val="200"/>
              </a:spcAft>
              <a:defRPr sz="1700" b="1">
                <a:solidFill>
                  <a:srgbClr val="F5F5F5"/>
                </a:solidFill>
                <a:latin typeface="Aptos"/>
              </a:defRPr>
            </a:pPr>
            <a:r>
              <a:t>[11:8]</a:t>
            </a:r>
          </a:p>
        </p:txBody>
      </p:sp>
      <p:sp>
        <p:nvSpPr>
          <p:cNvPr id="9" name="TextBox 8"/>
          <p:cNvSpPr txBox="1"/>
          <p:nvPr/>
        </p:nvSpPr>
        <p:spPr>
          <a:xfrm>
            <a:off x="731520" y="2852928"/>
            <a:ext cx="3035808" cy="320040"/>
          </a:xfrm>
          <a:prstGeom prst="rect">
            <a:avLst/>
          </a:prstGeom>
          <a:noFill/>
        </p:spPr>
        <p:txBody>
          <a:bodyPr wrap="square" lIns="54864" tIns="54864" rIns="54864" bIns="54864" anchor="t">
            <a:spAutoFit/>
          </a:bodyPr>
          <a:lstStyle/>
          <a:p>
            <a:pPr algn="ctr">
              <a:spcAft>
                <a:spcPts val="500"/>
              </a:spcAft>
              <a:defRPr sz="1300" b="0">
                <a:solidFill>
                  <a:srgbClr val="AFAFAF"/>
                </a:solidFill>
                <a:latin typeface="Aptos"/>
              </a:defRPr>
            </a:pPr>
            <a:r>
              <a:t>4 bit</a:t>
            </a:r>
          </a:p>
        </p:txBody>
      </p:sp>
      <p:sp>
        <p:nvSpPr>
          <p:cNvPr id="10" name="Rectangle 9"/>
          <p:cNvSpPr/>
          <p:nvPr/>
        </p:nvSpPr>
        <p:spPr>
          <a:xfrm>
            <a:off x="3840480" y="1828800"/>
            <a:ext cx="1517904" cy="96012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Rd</a:t>
            </a:r>
          </a:p>
          <a:p>
            <a:pPr algn="ctr">
              <a:spcAft>
                <a:spcPts val="200"/>
              </a:spcAft>
              <a:defRPr sz="1700" b="1">
                <a:solidFill>
                  <a:srgbClr val="F5F5F5"/>
                </a:solidFill>
                <a:latin typeface="Aptos"/>
              </a:defRPr>
            </a:pPr>
            <a:r>
              <a:t>[7:6]</a:t>
            </a:r>
          </a:p>
        </p:txBody>
      </p:sp>
      <p:sp>
        <p:nvSpPr>
          <p:cNvPr id="11" name="TextBox 10"/>
          <p:cNvSpPr txBox="1"/>
          <p:nvPr/>
        </p:nvSpPr>
        <p:spPr>
          <a:xfrm>
            <a:off x="3840480" y="2852928"/>
            <a:ext cx="1517904" cy="320040"/>
          </a:xfrm>
          <a:prstGeom prst="rect">
            <a:avLst/>
          </a:prstGeom>
          <a:noFill/>
        </p:spPr>
        <p:txBody>
          <a:bodyPr wrap="square" lIns="54864" tIns="54864" rIns="54864" bIns="54864" anchor="t">
            <a:spAutoFit/>
          </a:bodyPr>
          <a:lstStyle/>
          <a:p>
            <a:pPr algn="ctr">
              <a:spcAft>
                <a:spcPts val="500"/>
              </a:spcAft>
              <a:defRPr sz="1300" b="0">
                <a:solidFill>
                  <a:srgbClr val="AFAFAF"/>
                </a:solidFill>
                <a:latin typeface="Aptos"/>
              </a:defRPr>
            </a:pPr>
            <a:r>
              <a:t>2 bit</a:t>
            </a:r>
          </a:p>
        </p:txBody>
      </p:sp>
      <p:sp>
        <p:nvSpPr>
          <p:cNvPr id="12" name="Rectangle 11"/>
          <p:cNvSpPr/>
          <p:nvPr/>
        </p:nvSpPr>
        <p:spPr>
          <a:xfrm>
            <a:off x="5431536" y="1828800"/>
            <a:ext cx="1517904" cy="96012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Rs</a:t>
            </a:r>
          </a:p>
          <a:p>
            <a:pPr algn="ctr">
              <a:spcAft>
                <a:spcPts val="200"/>
              </a:spcAft>
              <a:defRPr sz="1700" b="1">
                <a:solidFill>
                  <a:srgbClr val="F5F5F5"/>
                </a:solidFill>
                <a:latin typeface="Aptos"/>
              </a:defRPr>
            </a:pPr>
            <a:r>
              <a:t>[5:4]</a:t>
            </a:r>
          </a:p>
        </p:txBody>
      </p:sp>
      <p:sp>
        <p:nvSpPr>
          <p:cNvPr id="13" name="TextBox 12"/>
          <p:cNvSpPr txBox="1"/>
          <p:nvPr/>
        </p:nvSpPr>
        <p:spPr>
          <a:xfrm>
            <a:off x="5431536" y="2852928"/>
            <a:ext cx="1517904" cy="320040"/>
          </a:xfrm>
          <a:prstGeom prst="rect">
            <a:avLst/>
          </a:prstGeom>
          <a:noFill/>
        </p:spPr>
        <p:txBody>
          <a:bodyPr wrap="square" lIns="54864" tIns="54864" rIns="54864" bIns="54864" anchor="t">
            <a:spAutoFit/>
          </a:bodyPr>
          <a:lstStyle/>
          <a:p>
            <a:pPr algn="ctr">
              <a:spcAft>
                <a:spcPts val="500"/>
              </a:spcAft>
              <a:defRPr sz="1300" b="0">
                <a:solidFill>
                  <a:srgbClr val="AFAFAF"/>
                </a:solidFill>
                <a:latin typeface="Aptos"/>
              </a:defRPr>
            </a:pPr>
            <a:r>
              <a:t>2 bit</a:t>
            </a:r>
          </a:p>
        </p:txBody>
      </p:sp>
      <p:sp>
        <p:nvSpPr>
          <p:cNvPr id="14" name="Rectangle 13"/>
          <p:cNvSpPr/>
          <p:nvPr/>
        </p:nvSpPr>
        <p:spPr>
          <a:xfrm>
            <a:off x="7022592" y="1828800"/>
            <a:ext cx="3035808" cy="960120"/>
          </a:xfrm>
          <a:prstGeom prst="rect">
            <a:avLst/>
          </a:prstGeom>
          <a:solidFill>
            <a:srgbClr val="1D1D1D"/>
          </a:solidFill>
          <a:ln w="17780">
            <a:solidFill>
              <a:srgbClr val="AFAFA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imm / addr</a:t>
            </a:r>
          </a:p>
          <a:p>
            <a:pPr algn="ctr">
              <a:spcAft>
                <a:spcPts val="200"/>
              </a:spcAft>
              <a:defRPr sz="1700" b="1">
                <a:solidFill>
                  <a:srgbClr val="F5F5F5"/>
                </a:solidFill>
                <a:latin typeface="Aptos"/>
              </a:defRPr>
            </a:pPr>
            <a:r>
              <a:t>[3:0]</a:t>
            </a:r>
          </a:p>
        </p:txBody>
      </p:sp>
      <p:sp>
        <p:nvSpPr>
          <p:cNvPr id="15" name="TextBox 14"/>
          <p:cNvSpPr txBox="1"/>
          <p:nvPr/>
        </p:nvSpPr>
        <p:spPr>
          <a:xfrm>
            <a:off x="7022592" y="2852928"/>
            <a:ext cx="3035808" cy="320040"/>
          </a:xfrm>
          <a:prstGeom prst="rect">
            <a:avLst/>
          </a:prstGeom>
          <a:noFill/>
        </p:spPr>
        <p:txBody>
          <a:bodyPr wrap="square" lIns="54864" tIns="54864" rIns="54864" bIns="54864" anchor="t">
            <a:spAutoFit/>
          </a:bodyPr>
          <a:lstStyle/>
          <a:p>
            <a:pPr algn="ctr">
              <a:spcAft>
                <a:spcPts val="500"/>
              </a:spcAft>
              <a:defRPr sz="1300" b="0">
                <a:solidFill>
                  <a:srgbClr val="AFAFAF"/>
                </a:solidFill>
                <a:latin typeface="Aptos"/>
              </a:defRPr>
            </a:pPr>
            <a:r>
              <a:t>4 bit</a:t>
            </a:r>
          </a:p>
        </p:txBody>
      </p:sp>
      <p:sp>
        <p:nvSpPr>
          <p:cNvPr id="16" name="TextBox 15"/>
          <p:cNvSpPr txBox="1"/>
          <p:nvPr/>
        </p:nvSpPr>
        <p:spPr>
          <a:xfrm>
            <a:off x="777240" y="3474720"/>
            <a:ext cx="10607040" cy="320040"/>
          </a:xfrm>
          <a:prstGeom prst="rect">
            <a:avLst/>
          </a:prstGeom>
          <a:noFill/>
        </p:spPr>
        <p:txBody>
          <a:bodyPr wrap="square" lIns="54864" tIns="54864" rIns="54864" bIns="54864" anchor="t">
            <a:spAutoFit/>
          </a:bodyPr>
          <a:lstStyle/>
          <a:p>
            <a:pPr>
              <a:spcAft>
                <a:spcPts val="500"/>
              </a:spcAft>
              <a:defRPr sz="1600" b="1">
                <a:solidFill>
                  <a:srgbClr val="00DCEB"/>
                </a:solidFill>
                <a:latin typeface="Aptos"/>
              </a:defRPr>
            </a:pPr>
            <a:r>
              <a:t>Register codes</a:t>
            </a:r>
          </a:p>
        </p:txBody>
      </p:sp>
      <p:sp>
        <p:nvSpPr>
          <p:cNvPr id="17" name="TextBox 16"/>
          <p:cNvSpPr txBox="1"/>
          <p:nvPr/>
        </p:nvSpPr>
        <p:spPr>
          <a:xfrm>
            <a:off x="777240" y="3840480"/>
            <a:ext cx="10607040" cy="457200"/>
          </a:xfrm>
          <a:prstGeom prst="rect">
            <a:avLst/>
          </a:prstGeom>
          <a:noFill/>
        </p:spPr>
        <p:txBody>
          <a:bodyPr wrap="square" lIns="54864" tIns="54864" rIns="54864" bIns="54864" anchor="t">
            <a:spAutoFit/>
          </a:bodyPr>
          <a:lstStyle/>
          <a:p>
            <a:pPr>
              <a:spcAft>
                <a:spcPts val="500"/>
              </a:spcAft>
              <a:defRPr sz="1900" b="1">
                <a:solidFill>
                  <a:srgbClr val="F5F5F5"/>
                </a:solidFill>
                <a:latin typeface="Aptos"/>
              </a:defRPr>
            </a:pPr>
            <a:r>
              <a:t>R0 = 00     R1 = 01     R2 = 10     R3 = 11</a:t>
            </a:r>
          </a:p>
        </p:txBody>
      </p:sp>
      <p:sp>
        <p:nvSpPr>
          <p:cNvPr id="18" name="Rectangle 17"/>
          <p:cNvSpPr/>
          <p:nvPr/>
        </p:nvSpPr>
        <p:spPr>
          <a:xfrm>
            <a:off x="731520" y="4526280"/>
            <a:ext cx="1920240" cy="384048"/>
          </a:xfrm>
          <a:prstGeom prst="rect">
            <a:avLst/>
          </a:prstGeom>
          <a:solidFill>
            <a:srgbClr val="232323"/>
          </a:solidFill>
          <a:ln w="17780">
            <a:solidFill>
              <a:srgbClr val="646464"/>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00DCEB"/>
                </a:solidFill>
                <a:latin typeface="Aptos"/>
              </a:defRPr>
            </a:pPr>
            <a:r>
              <a:t>Instruction</a:t>
            </a:r>
          </a:p>
        </p:txBody>
      </p:sp>
      <p:sp>
        <p:nvSpPr>
          <p:cNvPr id="19" name="Rectangle 18"/>
          <p:cNvSpPr/>
          <p:nvPr/>
        </p:nvSpPr>
        <p:spPr>
          <a:xfrm>
            <a:off x="2743200" y="4526280"/>
            <a:ext cx="1280160" cy="384048"/>
          </a:xfrm>
          <a:prstGeom prst="rect">
            <a:avLst/>
          </a:prstGeom>
          <a:solidFill>
            <a:srgbClr val="232323"/>
          </a:solidFill>
          <a:ln w="17780">
            <a:solidFill>
              <a:srgbClr val="646464"/>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00DCEB"/>
                </a:solidFill>
                <a:latin typeface="Aptos"/>
              </a:defRPr>
            </a:pPr>
            <a:r>
              <a:t>Opcode</a:t>
            </a:r>
          </a:p>
        </p:txBody>
      </p:sp>
      <p:sp>
        <p:nvSpPr>
          <p:cNvPr id="20" name="Rectangle 19"/>
          <p:cNvSpPr/>
          <p:nvPr/>
        </p:nvSpPr>
        <p:spPr>
          <a:xfrm>
            <a:off x="4114800" y="4526280"/>
            <a:ext cx="822960" cy="384048"/>
          </a:xfrm>
          <a:prstGeom prst="rect">
            <a:avLst/>
          </a:prstGeom>
          <a:solidFill>
            <a:srgbClr val="232323"/>
          </a:solidFill>
          <a:ln w="17780">
            <a:solidFill>
              <a:srgbClr val="646464"/>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00DCEB"/>
                </a:solidFill>
                <a:latin typeface="Aptos"/>
              </a:defRPr>
            </a:pPr>
            <a:r>
              <a:t>Rd</a:t>
            </a:r>
          </a:p>
        </p:txBody>
      </p:sp>
      <p:sp>
        <p:nvSpPr>
          <p:cNvPr id="21" name="Rectangle 20"/>
          <p:cNvSpPr/>
          <p:nvPr/>
        </p:nvSpPr>
        <p:spPr>
          <a:xfrm>
            <a:off x="5029200" y="4526280"/>
            <a:ext cx="822960" cy="384048"/>
          </a:xfrm>
          <a:prstGeom prst="rect">
            <a:avLst/>
          </a:prstGeom>
          <a:solidFill>
            <a:srgbClr val="232323"/>
          </a:solidFill>
          <a:ln w="17780">
            <a:solidFill>
              <a:srgbClr val="646464"/>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00DCEB"/>
                </a:solidFill>
                <a:latin typeface="Aptos"/>
              </a:defRPr>
            </a:pPr>
            <a:r>
              <a:t>Rs</a:t>
            </a:r>
          </a:p>
        </p:txBody>
      </p:sp>
      <p:sp>
        <p:nvSpPr>
          <p:cNvPr id="22" name="Rectangle 21"/>
          <p:cNvSpPr/>
          <p:nvPr/>
        </p:nvSpPr>
        <p:spPr>
          <a:xfrm>
            <a:off x="5943600" y="4526280"/>
            <a:ext cx="1920240" cy="384048"/>
          </a:xfrm>
          <a:prstGeom prst="rect">
            <a:avLst/>
          </a:prstGeom>
          <a:solidFill>
            <a:srgbClr val="232323"/>
          </a:solidFill>
          <a:ln w="17780">
            <a:solidFill>
              <a:srgbClr val="646464"/>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00DCEB"/>
                </a:solidFill>
                <a:latin typeface="Aptos"/>
              </a:defRPr>
            </a:pPr>
            <a:r>
              <a:t>imm/addr</a:t>
            </a:r>
          </a:p>
        </p:txBody>
      </p:sp>
      <p:sp>
        <p:nvSpPr>
          <p:cNvPr id="23" name="Rectangle 22"/>
          <p:cNvSpPr/>
          <p:nvPr/>
        </p:nvSpPr>
        <p:spPr>
          <a:xfrm>
            <a:off x="7955279" y="4526280"/>
            <a:ext cx="1463040" cy="384048"/>
          </a:xfrm>
          <a:prstGeom prst="rect">
            <a:avLst/>
          </a:prstGeom>
          <a:solidFill>
            <a:srgbClr val="232323"/>
          </a:solidFill>
          <a:ln w="17780">
            <a:solidFill>
              <a:srgbClr val="646464"/>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00DCEB"/>
                </a:solidFill>
                <a:latin typeface="Aptos"/>
              </a:defRPr>
            </a:pPr>
            <a:r>
              <a:t>Hex</a:t>
            </a:r>
          </a:p>
        </p:txBody>
      </p:sp>
      <p:sp>
        <p:nvSpPr>
          <p:cNvPr id="24" name="Rectangle 23"/>
          <p:cNvSpPr/>
          <p:nvPr/>
        </p:nvSpPr>
        <p:spPr>
          <a:xfrm>
            <a:off x="731520" y="4937760"/>
            <a:ext cx="19202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ADD R1, R2</a:t>
            </a:r>
          </a:p>
        </p:txBody>
      </p:sp>
      <p:sp>
        <p:nvSpPr>
          <p:cNvPr id="25" name="Rectangle 24"/>
          <p:cNvSpPr/>
          <p:nvPr/>
        </p:nvSpPr>
        <p:spPr>
          <a:xfrm>
            <a:off x="2743200" y="4937760"/>
            <a:ext cx="12801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0000</a:t>
            </a:r>
          </a:p>
        </p:txBody>
      </p:sp>
      <p:sp>
        <p:nvSpPr>
          <p:cNvPr id="26" name="Rectangle 25"/>
          <p:cNvSpPr/>
          <p:nvPr/>
        </p:nvSpPr>
        <p:spPr>
          <a:xfrm>
            <a:off x="4114800" y="4937760"/>
            <a:ext cx="8229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01</a:t>
            </a:r>
          </a:p>
        </p:txBody>
      </p:sp>
      <p:sp>
        <p:nvSpPr>
          <p:cNvPr id="27" name="Rectangle 26"/>
          <p:cNvSpPr/>
          <p:nvPr/>
        </p:nvSpPr>
        <p:spPr>
          <a:xfrm>
            <a:off x="5029200" y="4937760"/>
            <a:ext cx="8229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10</a:t>
            </a:r>
          </a:p>
        </p:txBody>
      </p:sp>
      <p:sp>
        <p:nvSpPr>
          <p:cNvPr id="28" name="Rectangle 27"/>
          <p:cNvSpPr/>
          <p:nvPr/>
        </p:nvSpPr>
        <p:spPr>
          <a:xfrm>
            <a:off x="5943600" y="4937760"/>
            <a:ext cx="19202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0000</a:t>
            </a:r>
          </a:p>
        </p:txBody>
      </p:sp>
      <p:sp>
        <p:nvSpPr>
          <p:cNvPr id="29" name="Rectangle 28"/>
          <p:cNvSpPr/>
          <p:nvPr/>
        </p:nvSpPr>
        <p:spPr>
          <a:xfrm>
            <a:off x="7955279" y="4937760"/>
            <a:ext cx="14630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0x060</a:t>
            </a:r>
          </a:p>
        </p:txBody>
      </p:sp>
      <p:sp>
        <p:nvSpPr>
          <p:cNvPr id="30" name="Rectangle 29"/>
          <p:cNvSpPr/>
          <p:nvPr/>
        </p:nvSpPr>
        <p:spPr>
          <a:xfrm>
            <a:off x="731520" y="5376672"/>
            <a:ext cx="19202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LDI R3, 10</a:t>
            </a:r>
          </a:p>
        </p:txBody>
      </p:sp>
      <p:sp>
        <p:nvSpPr>
          <p:cNvPr id="31" name="Rectangle 30"/>
          <p:cNvSpPr/>
          <p:nvPr/>
        </p:nvSpPr>
        <p:spPr>
          <a:xfrm>
            <a:off x="2743200" y="5376672"/>
            <a:ext cx="12801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0110</a:t>
            </a:r>
          </a:p>
        </p:txBody>
      </p:sp>
      <p:sp>
        <p:nvSpPr>
          <p:cNvPr id="32" name="Rectangle 31"/>
          <p:cNvSpPr/>
          <p:nvPr/>
        </p:nvSpPr>
        <p:spPr>
          <a:xfrm>
            <a:off x="4114800" y="5376672"/>
            <a:ext cx="8229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11</a:t>
            </a:r>
          </a:p>
        </p:txBody>
      </p:sp>
      <p:sp>
        <p:nvSpPr>
          <p:cNvPr id="33" name="Rectangle 32"/>
          <p:cNvSpPr/>
          <p:nvPr/>
        </p:nvSpPr>
        <p:spPr>
          <a:xfrm>
            <a:off x="5029200" y="5376672"/>
            <a:ext cx="8229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00</a:t>
            </a:r>
          </a:p>
        </p:txBody>
      </p:sp>
      <p:sp>
        <p:nvSpPr>
          <p:cNvPr id="34" name="Rectangle 33"/>
          <p:cNvSpPr/>
          <p:nvPr/>
        </p:nvSpPr>
        <p:spPr>
          <a:xfrm>
            <a:off x="5943600" y="5376672"/>
            <a:ext cx="19202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1010</a:t>
            </a:r>
          </a:p>
        </p:txBody>
      </p:sp>
      <p:sp>
        <p:nvSpPr>
          <p:cNvPr id="35" name="Rectangle 34"/>
          <p:cNvSpPr/>
          <p:nvPr/>
        </p:nvSpPr>
        <p:spPr>
          <a:xfrm>
            <a:off x="7955279" y="5376672"/>
            <a:ext cx="14630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0x6CA</a:t>
            </a:r>
          </a:p>
        </p:txBody>
      </p:sp>
      <p:sp>
        <p:nvSpPr>
          <p:cNvPr id="36" name="Rectangle 35"/>
          <p:cNvSpPr/>
          <p:nvPr/>
        </p:nvSpPr>
        <p:spPr>
          <a:xfrm>
            <a:off x="731520" y="5815584"/>
            <a:ext cx="19202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JZ 9</a:t>
            </a:r>
          </a:p>
        </p:txBody>
      </p:sp>
      <p:sp>
        <p:nvSpPr>
          <p:cNvPr id="37" name="Rectangle 36"/>
          <p:cNvSpPr/>
          <p:nvPr/>
        </p:nvSpPr>
        <p:spPr>
          <a:xfrm>
            <a:off x="2743200" y="5815584"/>
            <a:ext cx="12801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1011</a:t>
            </a:r>
          </a:p>
        </p:txBody>
      </p:sp>
      <p:sp>
        <p:nvSpPr>
          <p:cNvPr id="38" name="Rectangle 37"/>
          <p:cNvSpPr/>
          <p:nvPr/>
        </p:nvSpPr>
        <p:spPr>
          <a:xfrm>
            <a:off x="4114800" y="5815584"/>
            <a:ext cx="8229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00</a:t>
            </a:r>
          </a:p>
        </p:txBody>
      </p:sp>
      <p:sp>
        <p:nvSpPr>
          <p:cNvPr id="39" name="Rectangle 38"/>
          <p:cNvSpPr/>
          <p:nvPr/>
        </p:nvSpPr>
        <p:spPr>
          <a:xfrm>
            <a:off x="5029200" y="5815584"/>
            <a:ext cx="82296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00</a:t>
            </a:r>
          </a:p>
        </p:txBody>
      </p:sp>
      <p:sp>
        <p:nvSpPr>
          <p:cNvPr id="40" name="Rectangle 39"/>
          <p:cNvSpPr/>
          <p:nvPr/>
        </p:nvSpPr>
        <p:spPr>
          <a:xfrm>
            <a:off x="5943600" y="5815584"/>
            <a:ext cx="19202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1001</a:t>
            </a:r>
          </a:p>
        </p:txBody>
      </p:sp>
      <p:sp>
        <p:nvSpPr>
          <p:cNvPr id="41" name="Rectangle 40"/>
          <p:cNvSpPr/>
          <p:nvPr/>
        </p:nvSpPr>
        <p:spPr>
          <a:xfrm>
            <a:off x="7955279" y="5815584"/>
            <a:ext cx="1463040" cy="393192"/>
          </a:xfrm>
          <a:prstGeom prst="rect">
            <a:avLst/>
          </a:prstGeom>
          <a:solidFill>
            <a:srgbClr val="1D1D1D"/>
          </a:solidFill>
          <a:ln w="17780">
            <a:solidFill>
              <a:srgbClr val="55555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0">
                <a:solidFill>
                  <a:srgbClr val="F5F5F5"/>
                </a:solidFill>
                <a:latin typeface="Aptos"/>
              </a:defRPr>
            </a:pPr>
            <a:r>
              <a:t>0xB09</a:t>
            </a:r>
          </a:p>
        </p:txBody>
      </p:sp>
      <p:sp>
        <p:nvSpPr>
          <p:cNvPr id="42" name="TextBox 41"/>
          <p:cNvSpPr txBox="1"/>
          <p:nvPr/>
        </p:nvSpPr>
        <p:spPr>
          <a:xfrm>
            <a:off x="777240" y="6355080"/>
            <a:ext cx="10515600" cy="182880"/>
          </a:xfrm>
          <a:prstGeom prst="rect">
            <a:avLst/>
          </a:prstGeom>
          <a:noFill/>
        </p:spPr>
        <p:txBody>
          <a:bodyPr wrap="square" lIns="54864" tIns="54864" rIns="54864" bIns="54864" anchor="t">
            <a:spAutoFit/>
          </a:bodyPr>
          <a:lstStyle/>
          <a:p>
            <a:pPr>
              <a:spcAft>
                <a:spcPts val="500"/>
              </a:spcAft>
              <a:defRPr sz="1000" b="0">
                <a:solidFill>
                  <a:srgbClr val="AFAFAF"/>
                </a:solidFill>
                <a:latin typeface="Aptos"/>
              </a:defRPr>
            </a:pPr>
            <a:r>
              <a:t>Example encodings are shown as documented in the project presentation material.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INSTRUCTION FAMILIES AND DECODING</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INSTRUCTION SET</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06</a:t>
            </a:r>
          </a:p>
        </p:txBody>
      </p:sp>
      <p:sp>
        <p:nvSpPr>
          <p:cNvPr id="7" name="TextBox 6"/>
          <p:cNvSpPr txBox="1"/>
          <p:nvPr/>
        </p:nvSpPr>
        <p:spPr>
          <a:xfrm>
            <a:off x="731520" y="1234440"/>
            <a:ext cx="5303520" cy="4937760"/>
          </a:xfrm>
          <a:prstGeom prst="rect">
            <a:avLst/>
          </a:prstGeom>
          <a:noFill/>
        </p:spPr>
        <p:txBody>
          <a:bodyPr wrap="square" lIns="45720" tIns="36576" rIns="36576" bIns="36576">
            <a:spAutoFit/>
          </a:bodyPr>
          <a:lstStyle/>
          <a:p>
            <a:pPr>
              <a:spcAft>
                <a:spcPts val="1000"/>
              </a:spcAft>
              <a:defRPr sz="1600">
                <a:solidFill>
                  <a:srgbClr val="F5F5F5"/>
                </a:solidFill>
                <a:latin typeface="Aptos"/>
              </a:defRPr>
            </a:pPr>
            <a:r>
              <a:t>•  R-type: uses register operands, for example ADD R1, R2.</a:t>
            </a:r>
          </a:p>
          <a:p>
            <a:pPr>
              <a:spcAft>
                <a:spcPts val="1000"/>
              </a:spcAft>
              <a:defRPr sz="1600">
                <a:solidFill>
                  <a:srgbClr val="F5F5F5"/>
                </a:solidFill>
                <a:latin typeface="Aptos"/>
              </a:defRPr>
            </a:pPr>
            <a:r>
              <a:t>•  I-type: uses an immediate value, for example LDI R3, 10.</a:t>
            </a:r>
          </a:p>
          <a:p>
            <a:pPr>
              <a:spcAft>
                <a:spcPts val="1000"/>
              </a:spcAft>
              <a:defRPr sz="1600">
                <a:solidFill>
                  <a:srgbClr val="F5F5F5"/>
                </a:solidFill>
                <a:latin typeface="Aptos"/>
              </a:defRPr>
            </a:pPr>
            <a:r>
              <a:t>•  J-type: uses an address for control flow, for example JZ 9.</a:t>
            </a:r>
          </a:p>
          <a:p>
            <a:pPr>
              <a:spcAft>
                <a:spcPts val="1000"/>
              </a:spcAft>
              <a:defRPr sz="1600">
                <a:solidFill>
                  <a:srgbClr val="F5F5F5"/>
                </a:solidFill>
                <a:latin typeface="Aptos"/>
              </a:defRPr>
            </a:pPr>
            <a:r>
              <a:t>•  The opcode tells the Control Unit which operation and control signals to select.</a:t>
            </a:r>
          </a:p>
          <a:p>
            <a:pPr>
              <a:spcAft>
                <a:spcPts val="1000"/>
              </a:spcAft>
              <a:defRPr sz="1600">
                <a:solidFill>
                  <a:srgbClr val="F5F5F5"/>
                </a:solidFill>
                <a:latin typeface="Aptos"/>
              </a:defRPr>
            </a:pPr>
            <a:r>
              <a:t>•  The remaining fields identify destination/source registers or an immediate/address.</a:t>
            </a:r>
          </a:p>
        </p:txBody>
      </p:sp>
      <p:sp>
        <p:nvSpPr>
          <p:cNvPr id="8" name="Rectangle 7"/>
          <p:cNvSpPr/>
          <p:nvPr/>
        </p:nvSpPr>
        <p:spPr>
          <a:xfrm>
            <a:off x="6492240" y="1463040"/>
            <a:ext cx="4389120" cy="73152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12-bit instruction</a:t>
            </a:r>
          </a:p>
        </p:txBody>
      </p:sp>
      <p:cxnSp>
        <p:nvCxnSpPr>
          <p:cNvPr id="9" name="Connector 8"/>
          <p:cNvCxnSpPr/>
          <p:nvPr/>
        </p:nvCxnSpPr>
        <p:spPr>
          <a:xfrm>
            <a:off x="8686800" y="2194560"/>
            <a:ext cx="0" cy="411480"/>
          </a:xfrm>
          <a:prstGeom prst="line">
            <a:avLst/>
          </a:prstGeom>
          <a:ln w="25400">
            <a:solidFill>
              <a:srgbClr val="00DC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492240" y="2651760"/>
            <a:ext cx="4389120" cy="7315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Opcode decoder</a:t>
            </a:r>
          </a:p>
        </p:txBody>
      </p:sp>
      <p:cxnSp>
        <p:nvCxnSpPr>
          <p:cNvPr id="11" name="Connector 10"/>
          <p:cNvCxnSpPr/>
          <p:nvPr/>
        </p:nvCxnSpPr>
        <p:spPr>
          <a:xfrm flipH="1">
            <a:off x="6766560" y="3383280"/>
            <a:ext cx="548640" cy="502920"/>
          </a:xfrm>
          <a:prstGeom prst="line">
            <a:avLst/>
          </a:prstGeom>
          <a:ln w="22860">
            <a:solidFill>
              <a:srgbClr val="FF873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058400" y="3383280"/>
            <a:ext cx="548640" cy="502920"/>
          </a:xfrm>
          <a:prstGeom prst="line">
            <a:avLst/>
          </a:prstGeom>
          <a:ln w="22860">
            <a:solidFill>
              <a:srgbClr val="FF8737"/>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035040" y="3931920"/>
            <a:ext cx="2194560" cy="73152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ALU / data</a:t>
            </a:r>
          </a:p>
          <a:p>
            <a:pPr algn="ctr">
              <a:spcAft>
                <a:spcPts val="200"/>
              </a:spcAft>
              <a:defRPr sz="1500" b="1">
                <a:solidFill>
                  <a:srgbClr val="F5F5F5"/>
                </a:solidFill>
                <a:latin typeface="Aptos"/>
              </a:defRPr>
            </a:pPr>
            <a:r>
              <a:t>control</a:t>
            </a:r>
          </a:p>
        </p:txBody>
      </p:sp>
      <p:sp>
        <p:nvSpPr>
          <p:cNvPr id="14" name="Rectangle 13"/>
          <p:cNvSpPr/>
          <p:nvPr/>
        </p:nvSpPr>
        <p:spPr>
          <a:xfrm>
            <a:off x="8961120" y="3931920"/>
            <a:ext cx="2194560" cy="73152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Jump / branch</a:t>
            </a:r>
          </a:p>
          <a:p>
            <a:pPr algn="ctr">
              <a:spcAft>
                <a:spcPts val="200"/>
              </a:spcAft>
              <a:defRPr sz="1500" b="1">
                <a:solidFill>
                  <a:srgbClr val="F5F5F5"/>
                </a:solidFill>
                <a:latin typeface="Aptos"/>
              </a:defRPr>
            </a:pPr>
            <a:r>
              <a:t>control</a:t>
            </a:r>
          </a:p>
        </p:txBody>
      </p:sp>
      <p:sp>
        <p:nvSpPr>
          <p:cNvPr id="15" name="TextBox 14"/>
          <p:cNvSpPr txBox="1"/>
          <p:nvPr/>
        </p:nvSpPr>
        <p:spPr>
          <a:xfrm>
            <a:off x="6492240" y="5074920"/>
            <a:ext cx="4480560" cy="548640"/>
          </a:xfrm>
          <a:prstGeom prst="rect">
            <a:avLst/>
          </a:prstGeom>
          <a:noFill/>
        </p:spPr>
        <p:txBody>
          <a:bodyPr wrap="square" lIns="54864" tIns="54864" rIns="54864" bIns="54864" anchor="t">
            <a:spAutoFit/>
          </a:bodyPr>
          <a:lstStyle/>
          <a:p>
            <a:pPr>
              <a:spcAft>
                <a:spcPts val="500"/>
              </a:spcAft>
              <a:defRPr sz="1400" b="0">
                <a:solidFill>
                  <a:srgbClr val="AFAFAF"/>
                </a:solidFill>
                <a:latin typeface="Aptos"/>
              </a:defRPr>
            </a:pPr>
            <a:r>
              <a:t>Decoder outputs include ALU control, register write enable, memory write enable, and branch/jump indicators.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1: PROGRAM COUNTER AND INSTRUCTION MEMORY</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07</a:t>
            </a:r>
          </a:p>
        </p:txBody>
      </p:sp>
      <p:sp>
        <p:nvSpPr>
          <p:cNvPr id="7" name="Rectangle 6"/>
          <p:cNvSpPr/>
          <p:nvPr/>
        </p:nvSpPr>
        <p:spPr>
          <a:xfrm>
            <a:off x="731520" y="1828800"/>
            <a:ext cx="1920240" cy="91440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Program</a:t>
            </a:r>
          </a:p>
          <a:p>
            <a:pPr algn="ctr">
              <a:spcAft>
                <a:spcPts val="200"/>
              </a:spcAft>
              <a:defRPr sz="1700" b="1">
                <a:solidFill>
                  <a:srgbClr val="F5F5F5"/>
                </a:solidFill>
                <a:latin typeface="Aptos"/>
              </a:defRPr>
            </a:pPr>
            <a:r>
              <a:t>Counter (PC)</a:t>
            </a:r>
          </a:p>
        </p:txBody>
      </p:sp>
      <p:sp>
        <p:nvSpPr>
          <p:cNvPr id="8" name="Rectangle 7"/>
          <p:cNvSpPr/>
          <p:nvPr/>
        </p:nvSpPr>
        <p:spPr>
          <a:xfrm>
            <a:off x="3337560" y="1828800"/>
            <a:ext cx="1920240" cy="91440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PC + 1</a:t>
            </a:r>
          </a:p>
        </p:txBody>
      </p:sp>
      <p:sp>
        <p:nvSpPr>
          <p:cNvPr id="9" name="Rectangle 8"/>
          <p:cNvSpPr/>
          <p:nvPr/>
        </p:nvSpPr>
        <p:spPr>
          <a:xfrm>
            <a:off x="5943600" y="1828800"/>
            <a:ext cx="2286000" cy="91440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PC MUX</a:t>
            </a:r>
          </a:p>
        </p:txBody>
      </p:sp>
      <p:sp>
        <p:nvSpPr>
          <p:cNvPr id="10" name="Rectangle 9"/>
          <p:cNvSpPr/>
          <p:nvPr/>
        </p:nvSpPr>
        <p:spPr>
          <a:xfrm>
            <a:off x="8961120" y="1828800"/>
            <a:ext cx="2286000" cy="91440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Instruction</a:t>
            </a:r>
          </a:p>
          <a:p>
            <a:pPr algn="ctr">
              <a:spcAft>
                <a:spcPts val="200"/>
              </a:spcAft>
              <a:defRPr sz="1700" b="1">
                <a:solidFill>
                  <a:srgbClr val="F5F5F5"/>
                </a:solidFill>
                <a:latin typeface="Aptos"/>
              </a:defRPr>
            </a:pPr>
            <a:r>
              <a:t>Memory</a:t>
            </a:r>
          </a:p>
        </p:txBody>
      </p:sp>
      <p:cxnSp>
        <p:nvCxnSpPr>
          <p:cNvPr id="11" name="Connector 10"/>
          <p:cNvCxnSpPr/>
          <p:nvPr/>
        </p:nvCxnSpPr>
        <p:spPr>
          <a:xfrm>
            <a:off x="2651760" y="2286000"/>
            <a:ext cx="68580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57800" y="2286000"/>
            <a:ext cx="68580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0" y="2286000"/>
            <a:ext cx="73152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058400" y="2743200"/>
            <a:ext cx="0" cy="914400"/>
          </a:xfrm>
          <a:prstGeom prst="line">
            <a:avLst/>
          </a:prstGeom>
          <a:ln w="19050">
            <a:solidFill>
              <a:srgbClr val="FF8737"/>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641080" y="3703320"/>
            <a:ext cx="2880360" cy="65836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12-bit instruction word</a:t>
            </a:r>
          </a:p>
        </p:txBody>
      </p:sp>
      <p:sp>
        <p:nvSpPr>
          <p:cNvPr id="16" name="TextBox 15"/>
          <p:cNvSpPr txBox="1"/>
          <p:nvPr/>
        </p:nvSpPr>
        <p:spPr>
          <a:xfrm>
            <a:off x="777240" y="3749039"/>
            <a:ext cx="7132320" cy="2011680"/>
          </a:xfrm>
          <a:prstGeom prst="rect">
            <a:avLst/>
          </a:prstGeom>
          <a:noFill/>
        </p:spPr>
        <p:txBody>
          <a:bodyPr wrap="square" lIns="45720" tIns="36576" rIns="36576" bIns="36576">
            <a:spAutoFit/>
          </a:bodyPr>
          <a:lstStyle/>
          <a:p>
            <a:pPr>
              <a:spcAft>
                <a:spcPts val="1000"/>
              </a:spcAft>
              <a:defRPr sz="1500">
                <a:solidFill>
                  <a:srgbClr val="F5F5F5"/>
                </a:solidFill>
                <a:latin typeface="Aptos"/>
              </a:defRPr>
            </a:pPr>
            <a:r>
              <a:t>•  PC holds the address of the instruction to fetch.</a:t>
            </a:r>
          </a:p>
          <a:p>
            <a:pPr>
              <a:spcAft>
                <a:spcPts val="1000"/>
              </a:spcAft>
              <a:defRPr sz="1500">
                <a:solidFill>
                  <a:srgbClr val="F5F5F5"/>
                </a:solidFill>
                <a:latin typeface="Aptos"/>
              </a:defRPr>
            </a:pPr>
            <a:r>
              <a:t>•  PC + 1 calculates the next sequential address.</a:t>
            </a:r>
          </a:p>
          <a:p>
            <a:pPr>
              <a:spcAft>
                <a:spcPts val="1000"/>
              </a:spcAft>
              <a:defRPr sz="1500">
                <a:solidFill>
                  <a:srgbClr val="F5F5F5"/>
                </a:solidFill>
                <a:latin typeface="Aptos"/>
              </a:defRPr>
            </a:pPr>
            <a:r>
              <a:t>•  PC MUX selects PC+1 or a jump target, depending on pc_sel.</a:t>
            </a:r>
          </a:p>
          <a:p>
            <a:pPr>
              <a:spcAft>
                <a:spcPts val="1000"/>
              </a:spcAft>
              <a:defRPr sz="1500">
                <a:solidFill>
                  <a:srgbClr val="F5F5F5"/>
                </a:solidFill>
                <a:latin typeface="Aptos"/>
              </a:defRPr>
            </a:pPr>
            <a:r>
              <a:t>•  Instruction Memory stores 16 instructions, each 12 bits wide.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2: INSTRUCTION REGISTER AND PIPELINE REGISTERS</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08</a:t>
            </a:r>
          </a:p>
        </p:txBody>
      </p:sp>
      <p:sp>
        <p:nvSpPr>
          <p:cNvPr id="7" name="Rectangle 6"/>
          <p:cNvSpPr/>
          <p:nvPr/>
        </p:nvSpPr>
        <p:spPr>
          <a:xfrm>
            <a:off x="731520" y="1645920"/>
            <a:ext cx="2377440" cy="105156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Instruction</a:t>
            </a:r>
          </a:p>
          <a:p>
            <a:pPr algn="ctr">
              <a:spcAft>
                <a:spcPts val="200"/>
              </a:spcAft>
              <a:defRPr sz="1700" b="1">
                <a:solidFill>
                  <a:srgbClr val="F5F5F5"/>
                </a:solidFill>
                <a:latin typeface="Aptos"/>
              </a:defRPr>
            </a:pPr>
            <a:r>
              <a:t>Memory</a:t>
            </a:r>
          </a:p>
        </p:txBody>
      </p:sp>
      <p:sp>
        <p:nvSpPr>
          <p:cNvPr id="8" name="Rectangle 7"/>
          <p:cNvSpPr/>
          <p:nvPr/>
        </p:nvSpPr>
        <p:spPr>
          <a:xfrm>
            <a:off x="3657600" y="1645920"/>
            <a:ext cx="2286000" cy="105156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IF/ID Register</a:t>
            </a:r>
          </a:p>
          <a:p>
            <a:pPr algn="ctr">
              <a:spcAft>
                <a:spcPts val="200"/>
              </a:spcAft>
              <a:defRPr sz="1600" b="1">
                <a:solidFill>
                  <a:srgbClr val="F5F5F5"/>
                </a:solidFill>
                <a:latin typeface="Aptos"/>
              </a:defRPr>
            </a:pPr>
            <a:r>
              <a:t>(IR)</a:t>
            </a:r>
          </a:p>
        </p:txBody>
      </p:sp>
      <p:sp>
        <p:nvSpPr>
          <p:cNvPr id="9" name="Rectangle 8"/>
          <p:cNvSpPr/>
          <p:nvPr/>
        </p:nvSpPr>
        <p:spPr>
          <a:xfrm>
            <a:off x="6492240" y="1645920"/>
            <a:ext cx="2286000" cy="105156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Control Unit</a:t>
            </a:r>
          </a:p>
        </p:txBody>
      </p:sp>
      <p:sp>
        <p:nvSpPr>
          <p:cNvPr id="10" name="Rectangle 9"/>
          <p:cNvSpPr/>
          <p:nvPr/>
        </p:nvSpPr>
        <p:spPr>
          <a:xfrm>
            <a:off x="9326880" y="1645920"/>
            <a:ext cx="2194560" cy="105156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ID/EX Pipeline</a:t>
            </a:r>
          </a:p>
          <a:p>
            <a:pPr algn="ctr">
              <a:spcAft>
                <a:spcPts val="200"/>
              </a:spcAft>
              <a:defRPr sz="1500" b="1">
                <a:solidFill>
                  <a:srgbClr val="F5F5F5"/>
                </a:solidFill>
                <a:latin typeface="Aptos"/>
              </a:defRPr>
            </a:pPr>
            <a:r>
              <a:t>Register</a:t>
            </a:r>
          </a:p>
        </p:txBody>
      </p:sp>
      <p:cxnSp>
        <p:nvCxnSpPr>
          <p:cNvPr id="11" name="Connector 10"/>
          <p:cNvCxnSpPr/>
          <p:nvPr/>
        </p:nvCxnSpPr>
        <p:spPr>
          <a:xfrm>
            <a:off x="3108960" y="2167128"/>
            <a:ext cx="54864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43600" y="2167128"/>
            <a:ext cx="54864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78240" y="2167128"/>
            <a:ext cx="54864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246120"/>
            <a:ext cx="10698480" cy="2560320"/>
          </a:xfrm>
          <a:prstGeom prst="rect">
            <a:avLst/>
          </a:prstGeom>
          <a:noFill/>
        </p:spPr>
        <p:txBody>
          <a:bodyPr wrap="square" lIns="45720" tIns="36576" rIns="36576" bIns="36576">
            <a:spAutoFit/>
          </a:bodyPr>
          <a:lstStyle/>
          <a:p>
            <a:pPr>
              <a:spcAft>
                <a:spcPts val="1000"/>
              </a:spcAft>
              <a:defRPr sz="1600">
                <a:solidFill>
                  <a:srgbClr val="F5F5F5"/>
                </a:solidFill>
                <a:latin typeface="Aptos"/>
              </a:defRPr>
            </a:pPr>
            <a:r>
              <a:t>•  IF/ID captures the fetched instruction so the next stage can decode it.</a:t>
            </a:r>
          </a:p>
          <a:p>
            <a:pPr>
              <a:spcAft>
                <a:spcPts val="1000"/>
              </a:spcAft>
              <a:defRPr sz="1600">
                <a:solidFill>
                  <a:srgbClr val="F5F5F5"/>
                </a:solidFill>
                <a:latin typeface="Aptos"/>
              </a:defRPr>
            </a:pPr>
            <a:r>
              <a:t>•  The decoder reads the opcode and creates control signals.</a:t>
            </a:r>
          </a:p>
          <a:p>
            <a:pPr>
              <a:spcAft>
                <a:spcPts val="1000"/>
              </a:spcAft>
              <a:defRPr sz="1600">
                <a:solidFill>
                  <a:srgbClr val="F5F5F5"/>
                </a:solidFill>
                <a:latin typeface="Aptos"/>
              </a:defRPr>
            </a:pPr>
            <a:r>
              <a:t>•  ID/EX stores instruction fields and control signals for execution.</a:t>
            </a:r>
          </a:p>
          <a:p>
            <a:pPr>
              <a:spcAft>
                <a:spcPts val="1000"/>
              </a:spcAft>
              <a:defRPr sz="1600">
                <a:solidFill>
                  <a:srgbClr val="F5F5F5"/>
                </a:solidFill>
                <a:latin typeface="Aptos"/>
              </a:defRPr>
            </a:pPr>
            <a:r>
              <a:t>•  Pipeline registers keep stage-to-stage values stable between clock edges.</a:t>
            </a:r>
          </a:p>
          <a:p>
            <a:pPr>
              <a:spcAft>
                <a:spcPts val="1000"/>
              </a:spcAft>
              <a:defRPr sz="1600">
                <a:solidFill>
                  <a:srgbClr val="F5F5F5"/>
                </a:solidFill>
                <a:latin typeface="Aptos"/>
              </a:defRPr>
            </a:pPr>
            <a:r>
              <a:t>•  When a jump is taken, the design uses flush control to clear younger instructions.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3: CONTROL UNIT</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09</a:t>
            </a:r>
          </a:p>
        </p:txBody>
      </p:sp>
      <p:sp>
        <p:nvSpPr>
          <p:cNvPr id="7" name="Rectangle 6"/>
          <p:cNvSpPr/>
          <p:nvPr/>
        </p:nvSpPr>
        <p:spPr>
          <a:xfrm>
            <a:off x="777240" y="1554480"/>
            <a:ext cx="2560320" cy="91440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Opcode + fields</a:t>
            </a:r>
          </a:p>
        </p:txBody>
      </p:sp>
      <p:sp>
        <p:nvSpPr>
          <p:cNvPr id="8" name="Rectangle 7"/>
          <p:cNvSpPr/>
          <p:nvPr/>
        </p:nvSpPr>
        <p:spPr>
          <a:xfrm>
            <a:off x="4160520" y="1417320"/>
            <a:ext cx="2834640" cy="11887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Instruction Decoder</a:t>
            </a:r>
          </a:p>
        </p:txBody>
      </p:sp>
      <p:sp>
        <p:nvSpPr>
          <p:cNvPr id="9" name="Rectangle 8"/>
          <p:cNvSpPr/>
          <p:nvPr/>
        </p:nvSpPr>
        <p:spPr>
          <a:xfrm>
            <a:off x="7863840" y="1097280"/>
            <a:ext cx="3291840" cy="64008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ALU control: alu_ctrl</a:t>
            </a:r>
          </a:p>
        </p:txBody>
      </p:sp>
      <p:sp>
        <p:nvSpPr>
          <p:cNvPr id="10" name="Rectangle 9"/>
          <p:cNvSpPr/>
          <p:nvPr/>
        </p:nvSpPr>
        <p:spPr>
          <a:xfrm>
            <a:off x="7863840" y="1874519"/>
            <a:ext cx="3291840" cy="64008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Operand select: alu_src_sel</a:t>
            </a:r>
          </a:p>
        </p:txBody>
      </p:sp>
      <p:sp>
        <p:nvSpPr>
          <p:cNvPr id="11" name="Rectangle 10"/>
          <p:cNvSpPr/>
          <p:nvPr/>
        </p:nvSpPr>
        <p:spPr>
          <a:xfrm>
            <a:off x="7863840" y="2651760"/>
            <a:ext cx="3291840" cy="64008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Write-back: wb_sel / reg_we</a:t>
            </a:r>
          </a:p>
        </p:txBody>
      </p:sp>
      <p:sp>
        <p:nvSpPr>
          <p:cNvPr id="12" name="Rectangle 11"/>
          <p:cNvSpPr/>
          <p:nvPr/>
        </p:nvSpPr>
        <p:spPr>
          <a:xfrm>
            <a:off x="4160520" y="3794760"/>
            <a:ext cx="2834640" cy="1005840"/>
          </a:xfrm>
          <a:prstGeom prst="rect">
            <a:avLst/>
          </a:prstGeom>
          <a:solidFill>
            <a:srgbClr val="1D1D1D"/>
          </a:solidFill>
          <a:ln w="17780">
            <a:solidFill>
              <a:srgbClr val="FF5F5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Branch Unit</a:t>
            </a:r>
          </a:p>
        </p:txBody>
      </p:sp>
      <p:sp>
        <p:nvSpPr>
          <p:cNvPr id="13" name="Rectangle 12"/>
          <p:cNvSpPr/>
          <p:nvPr/>
        </p:nvSpPr>
        <p:spPr>
          <a:xfrm>
            <a:off x="7863840" y="3794760"/>
            <a:ext cx="3291840" cy="1005840"/>
          </a:xfrm>
          <a:prstGeom prst="rect">
            <a:avLst/>
          </a:prstGeom>
          <a:solidFill>
            <a:srgbClr val="1D1D1D"/>
          </a:solidFill>
          <a:ln w="17780">
            <a:solidFill>
              <a:srgbClr val="FF5F5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pc_sel / flush</a:t>
            </a:r>
          </a:p>
        </p:txBody>
      </p:sp>
      <p:cxnSp>
        <p:nvCxnSpPr>
          <p:cNvPr id="14" name="Connector 13"/>
          <p:cNvCxnSpPr/>
          <p:nvPr/>
        </p:nvCxnSpPr>
        <p:spPr>
          <a:xfrm>
            <a:off x="3337560" y="2011680"/>
            <a:ext cx="82296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995160" y="1417320"/>
            <a:ext cx="868680" cy="594360"/>
          </a:xfrm>
          <a:prstGeom prst="line">
            <a:avLst/>
          </a:prstGeom>
          <a:ln w="16510">
            <a:solidFill>
              <a:srgbClr val="FF873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95160" y="2011680"/>
            <a:ext cx="868680" cy="182880"/>
          </a:xfrm>
          <a:prstGeom prst="line">
            <a:avLst/>
          </a:prstGeom>
          <a:ln w="16510">
            <a:solidFill>
              <a:srgbClr val="FF873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95160" y="2011680"/>
            <a:ext cx="868680" cy="960120"/>
          </a:xfrm>
          <a:prstGeom prst="line">
            <a:avLst/>
          </a:prstGeom>
          <a:ln w="16510">
            <a:solidFill>
              <a:srgbClr val="FF873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77840" y="2606040"/>
            <a:ext cx="0" cy="1188720"/>
          </a:xfrm>
          <a:prstGeom prst="line">
            <a:avLst/>
          </a:prstGeom>
          <a:ln w="20320">
            <a:solidFill>
              <a:srgbClr val="FF5F5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995160" y="4297680"/>
            <a:ext cx="868680" cy="0"/>
          </a:xfrm>
          <a:prstGeom prst="line">
            <a:avLst/>
          </a:prstGeom>
          <a:ln w="22860">
            <a:solidFill>
              <a:srgbClr val="FF5F5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5257800"/>
            <a:ext cx="10607040" cy="731520"/>
          </a:xfrm>
          <a:prstGeom prst="rect">
            <a:avLst/>
          </a:prstGeom>
          <a:noFill/>
        </p:spPr>
        <p:txBody>
          <a:bodyPr wrap="square" lIns="54864" tIns="54864" rIns="54864" bIns="54864" anchor="t">
            <a:spAutoFit/>
          </a:bodyPr>
          <a:lstStyle/>
          <a:p>
            <a:pPr>
              <a:spcAft>
                <a:spcPts val="500"/>
              </a:spcAft>
              <a:defRPr sz="1600" b="0">
                <a:solidFill>
                  <a:srgbClr val="AFAFAF"/>
                </a:solidFill>
                <a:latin typeface="Aptos"/>
              </a:defRPr>
            </a:pPr>
            <a:r>
              <a:t>The Control Unit does not calculate the data result. It tells the datapath which operation to perform and where the result should go.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4: REGISTER FILE (R0–R3)</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10</a:t>
            </a:r>
          </a:p>
        </p:txBody>
      </p:sp>
      <p:sp>
        <p:nvSpPr>
          <p:cNvPr id="7" name="Rectangle 6"/>
          <p:cNvSpPr/>
          <p:nvPr/>
        </p:nvSpPr>
        <p:spPr>
          <a:xfrm>
            <a:off x="868680" y="1600200"/>
            <a:ext cx="1143000" cy="91440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R0</a:t>
            </a:r>
          </a:p>
          <a:p>
            <a:pPr algn="ctr">
              <a:spcAft>
                <a:spcPts val="200"/>
              </a:spcAft>
              <a:defRPr sz="1800" b="1">
                <a:solidFill>
                  <a:srgbClr val="F5F5F5"/>
                </a:solidFill>
                <a:latin typeface="Aptos"/>
              </a:defRPr>
            </a:pPr>
            <a:r>
              <a:t>00</a:t>
            </a:r>
          </a:p>
        </p:txBody>
      </p:sp>
      <p:sp>
        <p:nvSpPr>
          <p:cNvPr id="8" name="Rectangle 7"/>
          <p:cNvSpPr/>
          <p:nvPr/>
        </p:nvSpPr>
        <p:spPr>
          <a:xfrm>
            <a:off x="2286000" y="1600200"/>
            <a:ext cx="1143000" cy="91440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R1</a:t>
            </a:r>
          </a:p>
          <a:p>
            <a:pPr algn="ctr">
              <a:spcAft>
                <a:spcPts val="200"/>
              </a:spcAft>
              <a:defRPr sz="1800" b="1">
                <a:solidFill>
                  <a:srgbClr val="F5F5F5"/>
                </a:solidFill>
                <a:latin typeface="Aptos"/>
              </a:defRPr>
            </a:pPr>
            <a:r>
              <a:t>01</a:t>
            </a:r>
          </a:p>
        </p:txBody>
      </p:sp>
      <p:sp>
        <p:nvSpPr>
          <p:cNvPr id="9" name="Rectangle 8"/>
          <p:cNvSpPr/>
          <p:nvPr/>
        </p:nvSpPr>
        <p:spPr>
          <a:xfrm>
            <a:off x="3703320" y="1600200"/>
            <a:ext cx="1143000" cy="91440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R2</a:t>
            </a:r>
          </a:p>
          <a:p>
            <a:pPr algn="ctr">
              <a:spcAft>
                <a:spcPts val="200"/>
              </a:spcAft>
              <a:defRPr sz="1800" b="1">
                <a:solidFill>
                  <a:srgbClr val="F5F5F5"/>
                </a:solidFill>
                <a:latin typeface="Aptos"/>
              </a:defRPr>
            </a:pPr>
            <a:r>
              <a:t>10</a:t>
            </a:r>
          </a:p>
        </p:txBody>
      </p:sp>
      <p:sp>
        <p:nvSpPr>
          <p:cNvPr id="10" name="Rectangle 9"/>
          <p:cNvSpPr/>
          <p:nvPr/>
        </p:nvSpPr>
        <p:spPr>
          <a:xfrm>
            <a:off x="5120640" y="1600200"/>
            <a:ext cx="1143000" cy="91440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R3</a:t>
            </a:r>
          </a:p>
          <a:p>
            <a:pPr algn="ctr">
              <a:spcAft>
                <a:spcPts val="200"/>
              </a:spcAft>
              <a:defRPr sz="1800" b="1">
                <a:solidFill>
                  <a:srgbClr val="F5F5F5"/>
                </a:solidFill>
                <a:latin typeface="Aptos"/>
              </a:defRPr>
            </a:pPr>
            <a:r>
              <a:t>11</a:t>
            </a:r>
          </a:p>
        </p:txBody>
      </p:sp>
      <p:sp>
        <p:nvSpPr>
          <p:cNvPr id="11" name="Rectangle 10"/>
          <p:cNvSpPr/>
          <p:nvPr/>
        </p:nvSpPr>
        <p:spPr>
          <a:xfrm>
            <a:off x="7040880" y="1508760"/>
            <a:ext cx="3657600" cy="109728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Two read ports</a:t>
            </a:r>
          </a:p>
          <a:p>
            <a:pPr algn="ctr">
              <a:spcAft>
                <a:spcPts val="200"/>
              </a:spcAft>
              <a:defRPr sz="1700" b="1">
                <a:solidFill>
                  <a:srgbClr val="F5F5F5"/>
                </a:solidFill>
                <a:latin typeface="Aptos"/>
              </a:defRPr>
            </a:pPr>
            <a:r>
              <a:t>qa and qb</a:t>
            </a:r>
          </a:p>
        </p:txBody>
      </p:sp>
      <p:sp>
        <p:nvSpPr>
          <p:cNvPr id="12" name="Rectangle 11"/>
          <p:cNvSpPr/>
          <p:nvPr/>
        </p:nvSpPr>
        <p:spPr>
          <a:xfrm>
            <a:off x="7040880" y="2971800"/>
            <a:ext cx="3657600" cy="109728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One write-back path</a:t>
            </a:r>
          </a:p>
          <a:p>
            <a:pPr algn="ctr">
              <a:spcAft>
                <a:spcPts val="200"/>
              </a:spcAft>
              <a:defRPr sz="1600" b="1">
                <a:solidFill>
                  <a:srgbClr val="F5F5F5"/>
                </a:solidFill>
                <a:latin typeface="Aptos"/>
              </a:defRPr>
            </a:pPr>
            <a:r>
              <a:t>wd → destination Rd</a:t>
            </a:r>
          </a:p>
        </p:txBody>
      </p:sp>
      <p:cxnSp>
        <p:nvCxnSpPr>
          <p:cNvPr id="13" name="Connector 12"/>
          <p:cNvCxnSpPr/>
          <p:nvPr/>
        </p:nvCxnSpPr>
        <p:spPr>
          <a:xfrm flipH="1">
            <a:off x="5486400" y="2057400"/>
            <a:ext cx="1554480" cy="0"/>
          </a:xfrm>
          <a:prstGeom prst="line">
            <a:avLst/>
          </a:prstGeom>
          <a:ln w="2032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86400" y="2057400"/>
            <a:ext cx="0" cy="457200"/>
          </a:xfrm>
          <a:prstGeom prst="line">
            <a:avLst/>
          </a:prstGeom>
          <a:ln w="2032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486400" y="2514600"/>
            <a:ext cx="1554480" cy="0"/>
          </a:xfrm>
          <a:prstGeom prst="line">
            <a:avLst/>
          </a:prstGeom>
          <a:ln w="20320">
            <a:solidFill>
              <a:srgbClr val="00DCE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4389120"/>
            <a:ext cx="10698480" cy="1508760"/>
          </a:xfrm>
          <a:prstGeom prst="rect">
            <a:avLst/>
          </a:prstGeom>
          <a:noFill/>
        </p:spPr>
        <p:txBody>
          <a:bodyPr wrap="square" lIns="45720" tIns="36576" rIns="36576" bIns="36576">
            <a:spAutoFit/>
          </a:bodyPr>
          <a:lstStyle/>
          <a:p>
            <a:pPr>
              <a:spcAft>
                <a:spcPts val="1000"/>
              </a:spcAft>
              <a:defRPr sz="1500">
                <a:solidFill>
                  <a:srgbClr val="F5F5F5"/>
                </a:solidFill>
                <a:latin typeface="Aptos"/>
              </a:defRPr>
            </a:pPr>
            <a:r>
              <a:t>•  The register file stores temporary 4-bit values used by instructions.</a:t>
            </a:r>
          </a:p>
          <a:p>
            <a:pPr>
              <a:spcAft>
                <a:spcPts val="1000"/>
              </a:spcAft>
              <a:defRPr sz="1500">
                <a:solidFill>
                  <a:srgbClr val="F5F5F5"/>
                </a:solidFill>
                <a:latin typeface="Aptos"/>
              </a:defRPr>
            </a:pPr>
            <a:r>
              <a:t>•  Rd identifies the destination register; Rs identifies a source register.</a:t>
            </a:r>
          </a:p>
          <a:p>
            <a:pPr>
              <a:spcAft>
                <a:spcPts val="1000"/>
              </a:spcAft>
              <a:defRPr sz="1500">
                <a:solidFill>
                  <a:srgbClr val="F5F5F5"/>
                </a:solidFill>
                <a:latin typeface="Aptos"/>
              </a:defRPr>
            </a:pPr>
            <a:r>
              <a:t>•  Write-back updates a register when reg_we is enabled.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5: ARITHMETIC LOGIC UNIT (ALU)</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11</a:t>
            </a:r>
          </a:p>
        </p:txBody>
      </p:sp>
      <p:sp>
        <p:nvSpPr>
          <p:cNvPr id="7" name="Rectangle 6"/>
          <p:cNvSpPr/>
          <p:nvPr/>
        </p:nvSpPr>
        <p:spPr>
          <a:xfrm>
            <a:off x="731520" y="1828800"/>
            <a:ext cx="1920240" cy="82296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Operand A</a:t>
            </a:r>
          </a:p>
          <a:p>
            <a:pPr algn="ctr">
              <a:spcAft>
                <a:spcPts val="200"/>
              </a:spcAft>
              <a:defRPr sz="1600" b="1">
                <a:solidFill>
                  <a:srgbClr val="F5F5F5"/>
                </a:solidFill>
                <a:latin typeface="Aptos"/>
              </a:defRPr>
            </a:pPr>
            <a:r>
              <a:t>(qa)</a:t>
            </a:r>
          </a:p>
        </p:txBody>
      </p:sp>
      <p:sp>
        <p:nvSpPr>
          <p:cNvPr id="8" name="Rectangle 7"/>
          <p:cNvSpPr/>
          <p:nvPr/>
        </p:nvSpPr>
        <p:spPr>
          <a:xfrm>
            <a:off x="731520" y="3063240"/>
            <a:ext cx="1920240" cy="82296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Operand B</a:t>
            </a:r>
          </a:p>
          <a:p>
            <a:pPr algn="ctr">
              <a:spcAft>
                <a:spcPts val="200"/>
              </a:spcAft>
              <a:defRPr sz="1500" b="1">
                <a:solidFill>
                  <a:srgbClr val="F5F5F5"/>
                </a:solidFill>
                <a:latin typeface="Aptos"/>
              </a:defRPr>
            </a:pPr>
            <a:r>
              <a:t>(qb or imm)</a:t>
            </a:r>
          </a:p>
        </p:txBody>
      </p:sp>
      <p:sp>
        <p:nvSpPr>
          <p:cNvPr id="9" name="Rectangle 8"/>
          <p:cNvSpPr/>
          <p:nvPr/>
        </p:nvSpPr>
        <p:spPr>
          <a:xfrm>
            <a:off x="3657600" y="2194560"/>
            <a:ext cx="2743200" cy="118872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2200" b="1">
                <a:solidFill>
                  <a:srgbClr val="F5F5F5"/>
                </a:solidFill>
                <a:latin typeface="Aptos"/>
              </a:defRPr>
            </a:pPr>
            <a:r>
              <a:t>4-bit ALU</a:t>
            </a:r>
          </a:p>
        </p:txBody>
      </p:sp>
      <p:sp>
        <p:nvSpPr>
          <p:cNvPr id="10" name="Rectangle 9"/>
          <p:cNvSpPr/>
          <p:nvPr/>
        </p:nvSpPr>
        <p:spPr>
          <a:xfrm>
            <a:off x="7498079" y="1600200"/>
            <a:ext cx="3200400" cy="77724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Result [3:0]</a:t>
            </a:r>
          </a:p>
        </p:txBody>
      </p:sp>
      <p:sp>
        <p:nvSpPr>
          <p:cNvPr id="11" name="Rectangle 10"/>
          <p:cNvSpPr/>
          <p:nvPr/>
        </p:nvSpPr>
        <p:spPr>
          <a:xfrm>
            <a:off x="7498079" y="2743200"/>
            <a:ext cx="3200400" cy="77724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Zero / Carry flags</a:t>
            </a:r>
          </a:p>
        </p:txBody>
      </p:sp>
      <p:cxnSp>
        <p:nvCxnSpPr>
          <p:cNvPr id="12" name="Connector 11"/>
          <p:cNvCxnSpPr/>
          <p:nvPr/>
        </p:nvCxnSpPr>
        <p:spPr>
          <a:xfrm>
            <a:off x="2651760" y="2240280"/>
            <a:ext cx="1005840" cy="274320"/>
          </a:xfrm>
          <a:prstGeom prst="line">
            <a:avLst/>
          </a:prstGeom>
          <a:ln w="22860">
            <a:solidFill>
              <a:srgbClr val="5096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651760" y="2971800"/>
            <a:ext cx="1005840" cy="502920"/>
          </a:xfrm>
          <a:prstGeom prst="line">
            <a:avLst/>
          </a:prstGeom>
          <a:ln w="22860">
            <a:solidFill>
              <a:srgbClr val="A069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400800" y="1965960"/>
            <a:ext cx="1097279" cy="54864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2926080"/>
            <a:ext cx="1097279" cy="182880"/>
          </a:xfrm>
          <a:prstGeom prst="line">
            <a:avLst/>
          </a:prstGeom>
          <a:ln w="22860">
            <a:solidFill>
              <a:srgbClr val="FF873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4160520"/>
            <a:ext cx="10515600" cy="1737360"/>
          </a:xfrm>
          <a:prstGeom prst="rect">
            <a:avLst/>
          </a:prstGeom>
          <a:noFill/>
        </p:spPr>
        <p:txBody>
          <a:bodyPr wrap="square" lIns="45720" tIns="36576" rIns="36576" bIns="36576">
            <a:spAutoFit/>
          </a:bodyPr>
          <a:lstStyle/>
          <a:p>
            <a:pPr>
              <a:spcAft>
                <a:spcPts val="1000"/>
              </a:spcAft>
              <a:defRPr sz="1500">
                <a:solidFill>
                  <a:srgbClr val="F5F5F5"/>
                </a:solidFill>
                <a:latin typeface="Aptos"/>
              </a:defRPr>
            </a:pPr>
            <a:r>
              <a:t>•  The ALU performs arithmetic and logic operations selected by alu_ctrl.</a:t>
            </a:r>
          </a:p>
          <a:p>
            <a:pPr>
              <a:spcAft>
                <a:spcPts val="1000"/>
              </a:spcAft>
              <a:defRPr sz="1500">
                <a:solidFill>
                  <a:srgbClr val="F5F5F5"/>
                </a:solidFill>
                <a:latin typeface="Aptos"/>
              </a:defRPr>
            </a:pPr>
            <a:r>
              <a:t>•  The ALU result may be written to a register or used as a data-memory address.</a:t>
            </a:r>
          </a:p>
          <a:p>
            <a:pPr>
              <a:spcAft>
                <a:spcPts val="1000"/>
              </a:spcAft>
              <a:defRPr sz="1500">
                <a:solidFill>
                  <a:srgbClr val="F5F5F5"/>
                </a:solidFill>
                <a:latin typeface="Aptos"/>
              </a:defRPr>
            </a:pPr>
            <a:r>
              <a:t>•  Zero indicates that the result is zero; Carry reports a carry/borrow-related condition for arithmetic.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6: MULTIPLEXERS AND FLAGS</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12</a:t>
            </a:r>
          </a:p>
        </p:txBody>
      </p:sp>
      <p:sp>
        <p:nvSpPr>
          <p:cNvPr id="7" name="Rectangle 6"/>
          <p:cNvSpPr/>
          <p:nvPr/>
        </p:nvSpPr>
        <p:spPr>
          <a:xfrm>
            <a:off x="685800" y="1508760"/>
            <a:ext cx="3383280" cy="7498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PC MUX</a:t>
            </a:r>
          </a:p>
        </p:txBody>
      </p:sp>
      <p:sp>
        <p:nvSpPr>
          <p:cNvPr id="8" name="TextBox 7"/>
          <p:cNvSpPr txBox="1"/>
          <p:nvPr/>
        </p:nvSpPr>
        <p:spPr>
          <a:xfrm>
            <a:off x="777240" y="2377440"/>
            <a:ext cx="3200400" cy="640080"/>
          </a:xfrm>
          <a:prstGeom prst="rect">
            <a:avLst/>
          </a:prstGeom>
          <a:noFill/>
        </p:spPr>
        <p:txBody>
          <a:bodyPr wrap="square" lIns="54864" tIns="54864" rIns="54864" bIns="54864" anchor="t">
            <a:spAutoFit/>
          </a:bodyPr>
          <a:lstStyle/>
          <a:p>
            <a:pPr algn="ctr">
              <a:spcAft>
                <a:spcPts val="500"/>
              </a:spcAft>
              <a:defRPr sz="1400" b="0">
                <a:solidFill>
                  <a:srgbClr val="AFAFAF"/>
                </a:solidFill>
                <a:latin typeface="Aptos"/>
              </a:defRPr>
            </a:pPr>
            <a:r>
              <a:t>PC+1 or jump target</a:t>
            </a:r>
          </a:p>
        </p:txBody>
      </p:sp>
      <p:sp>
        <p:nvSpPr>
          <p:cNvPr id="9" name="Rectangle 8"/>
          <p:cNvSpPr/>
          <p:nvPr/>
        </p:nvSpPr>
        <p:spPr>
          <a:xfrm>
            <a:off x="4526280" y="1508760"/>
            <a:ext cx="3383280" cy="7498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Operand MUX</a:t>
            </a:r>
          </a:p>
        </p:txBody>
      </p:sp>
      <p:sp>
        <p:nvSpPr>
          <p:cNvPr id="10" name="TextBox 9"/>
          <p:cNvSpPr txBox="1"/>
          <p:nvPr/>
        </p:nvSpPr>
        <p:spPr>
          <a:xfrm>
            <a:off x="4617720" y="2377440"/>
            <a:ext cx="3200400" cy="640080"/>
          </a:xfrm>
          <a:prstGeom prst="rect">
            <a:avLst/>
          </a:prstGeom>
          <a:noFill/>
        </p:spPr>
        <p:txBody>
          <a:bodyPr wrap="square" lIns="54864" tIns="54864" rIns="54864" bIns="54864" anchor="t">
            <a:spAutoFit/>
          </a:bodyPr>
          <a:lstStyle/>
          <a:p>
            <a:pPr algn="ctr">
              <a:spcAft>
                <a:spcPts val="500"/>
              </a:spcAft>
              <a:defRPr sz="1400" b="0">
                <a:solidFill>
                  <a:srgbClr val="AFAFAF"/>
                </a:solidFill>
                <a:latin typeface="Aptos"/>
              </a:defRPr>
            </a:pPr>
            <a:r>
              <a:t>register operand or immediate</a:t>
            </a:r>
          </a:p>
        </p:txBody>
      </p:sp>
      <p:sp>
        <p:nvSpPr>
          <p:cNvPr id="11" name="Rectangle 10"/>
          <p:cNvSpPr/>
          <p:nvPr/>
        </p:nvSpPr>
        <p:spPr>
          <a:xfrm>
            <a:off x="8366760" y="1508760"/>
            <a:ext cx="3383280" cy="7498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WB MUX</a:t>
            </a:r>
          </a:p>
        </p:txBody>
      </p:sp>
      <p:sp>
        <p:nvSpPr>
          <p:cNvPr id="12" name="TextBox 11"/>
          <p:cNvSpPr txBox="1"/>
          <p:nvPr/>
        </p:nvSpPr>
        <p:spPr>
          <a:xfrm>
            <a:off x="8458200" y="2377440"/>
            <a:ext cx="3200400" cy="640080"/>
          </a:xfrm>
          <a:prstGeom prst="rect">
            <a:avLst/>
          </a:prstGeom>
          <a:noFill/>
        </p:spPr>
        <p:txBody>
          <a:bodyPr wrap="square" lIns="54864" tIns="54864" rIns="54864" bIns="54864" anchor="t">
            <a:spAutoFit/>
          </a:bodyPr>
          <a:lstStyle/>
          <a:p>
            <a:pPr algn="ctr">
              <a:spcAft>
                <a:spcPts val="500"/>
              </a:spcAft>
              <a:defRPr sz="1400" b="0">
                <a:solidFill>
                  <a:srgbClr val="AFAFAF"/>
                </a:solidFill>
                <a:latin typeface="Aptos"/>
              </a:defRPr>
            </a:pPr>
            <a:r>
              <a:t>ALU result or memory data</a:t>
            </a:r>
          </a:p>
        </p:txBody>
      </p:sp>
      <p:sp>
        <p:nvSpPr>
          <p:cNvPr id="13" name="Rectangle 12"/>
          <p:cNvSpPr/>
          <p:nvPr/>
        </p:nvSpPr>
        <p:spPr>
          <a:xfrm>
            <a:off x="1965960" y="3703320"/>
            <a:ext cx="3108960" cy="100584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Zero flag (Z)</a:t>
            </a:r>
          </a:p>
          <a:p>
            <a:pPr algn="ctr">
              <a:spcAft>
                <a:spcPts val="200"/>
              </a:spcAft>
              <a:defRPr sz="1600" b="1">
                <a:solidFill>
                  <a:srgbClr val="F5F5F5"/>
                </a:solidFill>
                <a:latin typeface="Aptos"/>
              </a:defRPr>
            </a:pPr>
            <a:r>
              <a:t>Result equals 0</a:t>
            </a:r>
          </a:p>
        </p:txBody>
      </p:sp>
      <p:sp>
        <p:nvSpPr>
          <p:cNvPr id="14" name="Rectangle 13"/>
          <p:cNvSpPr/>
          <p:nvPr/>
        </p:nvSpPr>
        <p:spPr>
          <a:xfrm>
            <a:off x="6812280" y="3703320"/>
            <a:ext cx="3108960" cy="100584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Carry flag (C)</a:t>
            </a:r>
          </a:p>
          <a:p>
            <a:pPr algn="ctr">
              <a:spcAft>
                <a:spcPts val="200"/>
              </a:spcAft>
              <a:defRPr sz="1600" b="1">
                <a:solidFill>
                  <a:srgbClr val="F5F5F5"/>
                </a:solidFill>
                <a:latin typeface="Aptos"/>
              </a:defRPr>
            </a:pPr>
            <a:r>
              <a:t>Arithmetic carry status</a:t>
            </a:r>
          </a:p>
        </p:txBody>
      </p:sp>
      <p:sp>
        <p:nvSpPr>
          <p:cNvPr id="15" name="TextBox 14"/>
          <p:cNvSpPr txBox="1"/>
          <p:nvPr/>
        </p:nvSpPr>
        <p:spPr>
          <a:xfrm>
            <a:off x="822960" y="5166360"/>
            <a:ext cx="10515600" cy="685800"/>
          </a:xfrm>
          <a:prstGeom prst="rect">
            <a:avLst/>
          </a:prstGeom>
          <a:noFill/>
        </p:spPr>
        <p:txBody>
          <a:bodyPr wrap="square" lIns="54864" tIns="54864" rIns="54864" bIns="54864" anchor="t">
            <a:spAutoFit/>
          </a:bodyPr>
          <a:lstStyle/>
          <a:p>
            <a:pPr>
              <a:spcAft>
                <a:spcPts val="500"/>
              </a:spcAft>
              <a:defRPr sz="1500" b="0">
                <a:solidFill>
                  <a:srgbClr val="F5F5F5"/>
                </a:solidFill>
                <a:latin typeface="Aptos"/>
              </a:defRPr>
            </a:pPr>
            <a:r>
              <a:t>A MUX selects one of several inputs. A flag register stores status information so later control logic, such as a conditional jump, can use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BLOCK 7: DATA MEMORY AND WRITE-BACK</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CPU COMPONENTS</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13</a:t>
            </a:r>
          </a:p>
        </p:txBody>
      </p:sp>
      <p:sp>
        <p:nvSpPr>
          <p:cNvPr id="7" name="Rectangle 6"/>
          <p:cNvSpPr/>
          <p:nvPr/>
        </p:nvSpPr>
        <p:spPr>
          <a:xfrm>
            <a:off x="731520" y="1874519"/>
            <a:ext cx="2011680" cy="91440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ALU result</a:t>
            </a:r>
          </a:p>
          <a:p>
            <a:pPr algn="ctr">
              <a:spcAft>
                <a:spcPts val="200"/>
              </a:spcAft>
              <a:defRPr sz="1600" b="1">
                <a:solidFill>
                  <a:srgbClr val="F5F5F5"/>
                </a:solidFill>
                <a:latin typeface="Aptos"/>
              </a:defRPr>
            </a:pPr>
            <a:r>
              <a:t>(address)</a:t>
            </a:r>
          </a:p>
        </p:txBody>
      </p:sp>
      <p:sp>
        <p:nvSpPr>
          <p:cNvPr id="8" name="Rectangle 7"/>
          <p:cNvSpPr/>
          <p:nvPr/>
        </p:nvSpPr>
        <p:spPr>
          <a:xfrm>
            <a:off x="3657600" y="1508760"/>
            <a:ext cx="2743200" cy="155448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900" b="1">
                <a:solidFill>
                  <a:srgbClr val="F5F5F5"/>
                </a:solidFill>
                <a:latin typeface="Aptos"/>
              </a:defRPr>
            </a:pPr>
            <a:r>
              <a:t>Data Memory</a:t>
            </a:r>
          </a:p>
          <a:p>
            <a:pPr algn="ctr">
              <a:spcAft>
                <a:spcPts val="200"/>
              </a:spcAft>
              <a:defRPr sz="1900" b="1">
                <a:solidFill>
                  <a:srgbClr val="F5F5F5"/>
                </a:solidFill>
                <a:latin typeface="Aptos"/>
              </a:defRPr>
            </a:pPr>
            <a:r>
              <a:t>16 × 4 bits</a:t>
            </a:r>
          </a:p>
        </p:txBody>
      </p:sp>
      <p:sp>
        <p:nvSpPr>
          <p:cNvPr id="9" name="Rectangle 8"/>
          <p:cNvSpPr/>
          <p:nvPr/>
        </p:nvSpPr>
        <p:spPr>
          <a:xfrm>
            <a:off x="7543800" y="1234440"/>
            <a:ext cx="3291840" cy="73152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Read data</a:t>
            </a:r>
          </a:p>
        </p:txBody>
      </p:sp>
      <p:sp>
        <p:nvSpPr>
          <p:cNvPr id="10" name="Rectangle 9"/>
          <p:cNvSpPr/>
          <p:nvPr/>
        </p:nvSpPr>
        <p:spPr>
          <a:xfrm>
            <a:off x="7543800" y="2240280"/>
            <a:ext cx="3291840" cy="73152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WB MUX</a:t>
            </a:r>
          </a:p>
        </p:txBody>
      </p:sp>
      <p:sp>
        <p:nvSpPr>
          <p:cNvPr id="11" name="Rectangle 10"/>
          <p:cNvSpPr/>
          <p:nvPr/>
        </p:nvSpPr>
        <p:spPr>
          <a:xfrm>
            <a:off x="7543800" y="3246120"/>
            <a:ext cx="3291840" cy="73152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Register file Rd</a:t>
            </a:r>
          </a:p>
        </p:txBody>
      </p:sp>
      <p:cxnSp>
        <p:nvCxnSpPr>
          <p:cNvPr id="12" name="Connector 11"/>
          <p:cNvCxnSpPr/>
          <p:nvPr/>
        </p:nvCxnSpPr>
        <p:spPr>
          <a:xfrm>
            <a:off x="2743200" y="2331720"/>
            <a:ext cx="914400" cy="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400800" y="1600200"/>
            <a:ext cx="1143000" cy="41148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44000" y="1965960"/>
            <a:ext cx="0" cy="27432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144000" y="2971800"/>
            <a:ext cx="0" cy="274320"/>
          </a:xfrm>
          <a:prstGeom prst="line">
            <a:avLst/>
          </a:prstGeom>
          <a:ln w="22860">
            <a:solidFill>
              <a:srgbClr val="00DCE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4434840"/>
            <a:ext cx="10515600" cy="1005840"/>
          </a:xfrm>
          <a:prstGeom prst="rect">
            <a:avLst/>
          </a:prstGeom>
          <a:noFill/>
        </p:spPr>
        <p:txBody>
          <a:bodyPr wrap="square" lIns="54864" tIns="54864" rIns="54864" bIns="54864" anchor="t">
            <a:spAutoFit/>
          </a:bodyPr>
          <a:lstStyle/>
          <a:p>
            <a:pPr>
              <a:spcAft>
                <a:spcPts val="500"/>
              </a:spcAft>
              <a:defRPr sz="1600" b="0">
                <a:solidFill>
                  <a:srgbClr val="AFAFAF"/>
                </a:solidFill>
                <a:latin typeface="Aptos"/>
              </a:defRPr>
            </a:pPr>
            <a:r>
              <a:rPr dirty="0" err="1"/>
              <a:t>mem_we</a:t>
            </a:r>
            <a:r>
              <a:rPr dirty="0"/>
              <a:t> enables a memory write. </a:t>
            </a:r>
            <a:r>
              <a:rPr dirty="0" err="1"/>
              <a:t>wb_sel</a:t>
            </a:r>
            <a:r>
              <a:rPr dirty="0"/>
              <a:t> chooses the value sent back to Rd. For a load-like operation, memory data is selected; for an ALU operation, the ALU result is selected.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BRANCH / JUMP CONTROL AND FLUSH</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SCHEMATIC</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16</a:t>
            </a:r>
          </a:p>
        </p:txBody>
      </p:sp>
      <p:sp>
        <p:nvSpPr>
          <p:cNvPr id="7" name="Rectangle 6"/>
          <p:cNvSpPr/>
          <p:nvPr/>
        </p:nvSpPr>
        <p:spPr>
          <a:xfrm>
            <a:off x="777240" y="1508760"/>
            <a:ext cx="2286000" cy="82296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600" b="1">
                <a:solidFill>
                  <a:srgbClr val="F5F5F5"/>
                </a:solidFill>
                <a:latin typeface="Aptos"/>
              </a:defRPr>
            </a:pPr>
            <a:r>
              <a:t>Branch / jump</a:t>
            </a:r>
          </a:p>
          <a:p>
            <a:pPr algn="ctr">
              <a:spcAft>
                <a:spcPts val="200"/>
              </a:spcAft>
              <a:defRPr sz="1600" b="1">
                <a:solidFill>
                  <a:srgbClr val="F5F5F5"/>
                </a:solidFill>
                <a:latin typeface="Aptos"/>
              </a:defRPr>
            </a:pPr>
            <a:r>
              <a:t>instruction</a:t>
            </a:r>
          </a:p>
        </p:txBody>
      </p:sp>
      <p:sp>
        <p:nvSpPr>
          <p:cNvPr id="8" name="Rectangle 7"/>
          <p:cNvSpPr/>
          <p:nvPr/>
        </p:nvSpPr>
        <p:spPr>
          <a:xfrm>
            <a:off x="3794760" y="1508760"/>
            <a:ext cx="2286000" cy="822960"/>
          </a:xfrm>
          <a:prstGeom prst="rect">
            <a:avLst/>
          </a:prstGeom>
          <a:solidFill>
            <a:srgbClr val="1D1D1D"/>
          </a:solidFill>
          <a:ln w="17780">
            <a:solidFill>
              <a:srgbClr val="FF5F5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Branch Unit</a:t>
            </a:r>
          </a:p>
        </p:txBody>
      </p:sp>
      <p:sp>
        <p:nvSpPr>
          <p:cNvPr id="9" name="Rectangle 8"/>
          <p:cNvSpPr/>
          <p:nvPr/>
        </p:nvSpPr>
        <p:spPr>
          <a:xfrm>
            <a:off x="6812280" y="1097280"/>
            <a:ext cx="1920240" cy="73152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pc_sel</a:t>
            </a:r>
          </a:p>
        </p:txBody>
      </p:sp>
      <p:sp>
        <p:nvSpPr>
          <p:cNvPr id="10" name="Rectangle 9"/>
          <p:cNvSpPr/>
          <p:nvPr/>
        </p:nvSpPr>
        <p:spPr>
          <a:xfrm>
            <a:off x="6812280" y="2011680"/>
            <a:ext cx="1920240" cy="731520"/>
          </a:xfrm>
          <a:prstGeom prst="rect">
            <a:avLst/>
          </a:prstGeom>
          <a:solidFill>
            <a:srgbClr val="1D1D1D"/>
          </a:solidFill>
          <a:ln w="17780">
            <a:solidFill>
              <a:srgbClr val="FF5F5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flush</a:t>
            </a:r>
          </a:p>
        </p:txBody>
      </p:sp>
      <p:sp>
        <p:nvSpPr>
          <p:cNvPr id="11" name="Rectangle 10"/>
          <p:cNvSpPr/>
          <p:nvPr/>
        </p:nvSpPr>
        <p:spPr>
          <a:xfrm>
            <a:off x="9464040" y="1508760"/>
            <a:ext cx="1828800" cy="82296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700" b="1">
                <a:solidFill>
                  <a:srgbClr val="F5F5F5"/>
                </a:solidFill>
                <a:latin typeface="Aptos"/>
              </a:defRPr>
            </a:pPr>
            <a:r>
              <a:t>PC MUX</a:t>
            </a:r>
          </a:p>
        </p:txBody>
      </p:sp>
      <p:cxnSp>
        <p:nvCxnSpPr>
          <p:cNvPr id="12" name="Connector 11"/>
          <p:cNvCxnSpPr/>
          <p:nvPr/>
        </p:nvCxnSpPr>
        <p:spPr>
          <a:xfrm>
            <a:off x="3063240" y="1920240"/>
            <a:ext cx="731520" cy="0"/>
          </a:xfrm>
          <a:prstGeom prst="line">
            <a:avLst/>
          </a:prstGeom>
          <a:ln w="2032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080760" y="1463040"/>
            <a:ext cx="731520" cy="365760"/>
          </a:xfrm>
          <a:prstGeom prst="line">
            <a:avLst/>
          </a:prstGeom>
          <a:ln w="19050">
            <a:solidFill>
              <a:srgbClr val="FF5F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80760" y="2011680"/>
            <a:ext cx="731520" cy="365760"/>
          </a:xfrm>
          <a:prstGeom prst="line">
            <a:avLst/>
          </a:prstGeom>
          <a:ln w="19050">
            <a:solidFill>
              <a:srgbClr val="FF5F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32520" y="1463040"/>
            <a:ext cx="731520" cy="365760"/>
          </a:xfrm>
          <a:prstGeom prst="line">
            <a:avLst/>
          </a:prstGeom>
          <a:ln w="19050">
            <a:solidFill>
              <a:srgbClr val="A069F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3337560"/>
            <a:ext cx="10515600" cy="2103120"/>
          </a:xfrm>
          <a:prstGeom prst="rect">
            <a:avLst/>
          </a:prstGeom>
          <a:noFill/>
        </p:spPr>
        <p:txBody>
          <a:bodyPr wrap="square" lIns="45720" tIns="36576" rIns="36576" bIns="36576">
            <a:spAutoFit/>
          </a:bodyPr>
          <a:lstStyle/>
          <a:p>
            <a:pPr>
              <a:spcAft>
                <a:spcPts val="1000"/>
              </a:spcAft>
              <a:defRPr sz="1600">
                <a:solidFill>
                  <a:srgbClr val="F5F5F5"/>
                </a:solidFill>
                <a:latin typeface="Aptos"/>
              </a:defRPr>
            </a:pPr>
            <a:r>
              <a:t>•  The Branch Unit evaluates jump/conditional-jump control using instruction flags.</a:t>
            </a:r>
          </a:p>
          <a:p>
            <a:pPr>
              <a:spcAft>
                <a:spcPts val="1000"/>
              </a:spcAft>
              <a:defRPr sz="1600">
                <a:solidFill>
                  <a:srgbClr val="F5F5F5"/>
                </a:solidFill>
                <a:latin typeface="Aptos"/>
              </a:defRPr>
            </a:pPr>
            <a:r>
              <a:t>•  pc_sel tells the PC MUX whether to use the sequential address or jump target.</a:t>
            </a:r>
          </a:p>
          <a:p>
            <a:pPr>
              <a:spcAft>
                <a:spcPts val="1000"/>
              </a:spcAft>
              <a:defRPr sz="1600">
                <a:solidFill>
                  <a:srgbClr val="F5F5F5"/>
                </a:solidFill>
                <a:latin typeface="Aptos"/>
              </a:defRPr>
            </a:pPr>
            <a:r>
              <a:t>•  flush clears younger pipeline instructions after a taken jump to reduce wrong-path execution.</a:t>
            </a:r>
          </a:p>
          <a:p>
            <a:pPr>
              <a:spcAft>
                <a:spcPts val="1000"/>
              </a:spcAft>
              <a:defRPr sz="1600">
                <a:solidFill>
                  <a:srgbClr val="F5F5F5"/>
                </a:solidFill>
                <a:latin typeface="Aptos"/>
              </a:defRPr>
            </a:pPr>
            <a:r>
              <a:t>•  The supplied project material describes the jump decision as occurring in the EX stage.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CPU SCHEMATIC: FULL DATAPATH</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SCHEMATIC</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14</a:t>
            </a:r>
          </a:p>
        </p:txBody>
      </p:sp>
      <p:sp>
        <p:nvSpPr>
          <p:cNvPr id="7" name="Rectangle 6"/>
          <p:cNvSpPr/>
          <p:nvPr/>
        </p:nvSpPr>
        <p:spPr>
          <a:xfrm>
            <a:off x="502920" y="1234440"/>
            <a:ext cx="3200400" cy="4480560"/>
          </a:xfrm>
          <a:prstGeom prst="rect">
            <a:avLst/>
          </a:prstGeom>
          <a:solidFill>
            <a:srgbClr val="142834"/>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40480" y="1234440"/>
            <a:ext cx="2377440" cy="4480560"/>
          </a:xfrm>
          <a:prstGeom prst="rect">
            <a:avLst/>
          </a:prstGeom>
          <a:solidFill>
            <a:srgbClr val="2D2318"/>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55080" y="1234440"/>
            <a:ext cx="5303520" cy="4480560"/>
          </a:xfrm>
          <a:prstGeom prst="rect">
            <a:avLst/>
          </a:prstGeom>
          <a:solidFill>
            <a:srgbClr val="142A1C"/>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25880"/>
            <a:ext cx="2743200" cy="274320"/>
          </a:xfrm>
          <a:prstGeom prst="rect">
            <a:avLst/>
          </a:prstGeom>
          <a:noFill/>
        </p:spPr>
        <p:txBody>
          <a:bodyPr wrap="square" lIns="54864" tIns="54864" rIns="54864" bIns="54864" anchor="t">
            <a:spAutoFit/>
          </a:bodyPr>
          <a:lstStyle/>
          <a:p>
            <a:pPr algn="ctr">
              <a:spcAft>
                <a:spcPts val="500"/>
              </a:spcAft>
              <a:defRPr sz="1300" b="1">
                <a:solidFill>
                  <a:srgbClr val="00DCEB"/>
                </a:solidFill>
                <a:latin typeface="Aptos"/>
              </a:defRPr>
            </a:pPr>
            <a:r>
              <a:t>STAGE 1: IF</a:t>
            </a:r>
          </a:p>
        </p:txBody>
      </p:sp>
      <p:sp>
        <p:nvSpPr>
          <p:cNvPr id="11" name="TextBox 10"/>
          <p:cNvSpPr txBox="1"/>
          <p:nvPr/>
        </p:nvSpPr>
        <p:spPr>
          <a:xfrm>
            <a:off x="3977639" y="1325880"/>
            <a:ext cx="2103120" cy="274320"/>
          </a:xfrm>
          <a:prstGeom prst="rect">
            <a:avLst/>
          </a:prstGeom>
          <a:noFill/>
        </p:spPr>
        <p:txBody>
          <a:bodyPr wrap="square" lIns="54864" tIns="54864" rIns="54864" bIns="54864" anchor="t">
            <a:spAutoFit/>
          </a:bodyPr>
          <a:lstStyle/>
          <a:p>
            <a:pPr algn="ctr">
              <a:spcAft>
                <a:spcPts val="500"/>
              </a:spcAft>
              <a:defRPr sz="1300" b="1">
                <a:solidFill>
                  <a:srgbClr val="FF8737"/>
                </a:solidFill>
                <a:latin typeface="Aptos"/>
              </a:defRPr>
            </a:pPr>
            <a:r>
              <a:t>STAGE 2: ID</a:t>
            </a:r>
          </a:p>
        </p:txBody>
      </p:sp>
      <p:sp>
        <p:nvSpPr>
          <p:cNvPr id="12" name="TextBox 11"/>
          <p:cNvSpPr txBox="1"/>
          <p:nvPr/>
        </p:nvSpPr>
        <p:spPr>
          <a:xfrm>
            <a:off x="6537960" y="1325880"/>
            <a:ext cx="4937760" cy="274320"/>
          </a:xfrm>
          <a:prstGeom prst="rect">
            <a:avLst/>
          </a:prstGeom>
          <a:noFill/>
        </p:spPr>
        <p:txBody>
          <a:bodyPr wrap="square" lIns="54864" tIns="54864" rIns="54864" bIns="54864" anchor="t">
            <a:spAutoFit/>
          </a:bodyPr>
          <a:lstStyle/>
          <a:p>
            <a:pPr algn="ctr">
              <a:spcAft>
                <a:spcPts val="500"/>
              </a:spcAft>
              <a:defRPr sz="1300" b="1">
                <a:solidFill>
                  <a:srgbClr val="5AC882"/>
                </a:solidFill>
                <a:latin typeface="Aptos"/>
              </a:defRPr>
            </a:pPr>
            <a:r>
              <a:t>STAGE 3: EX / MEMORY / WB</a:t>
            </a:r>
          </a:p>
        </p:txBody>
      </p:sp>
      <p:sp>
        <p:nvSpPr>
          <p:cNvPr id="13" name="Rectangle 12"/>
          <p:cNvSpPr/>
          <p:nvPr/>
        </p:nvSpPr>
        <p:spPr>
          <a:xfrm>
            <a:off x="731520" y="1965960"/>
            <a:ext cx="1097280" cy="64008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PC</a:t>
            </a:r>
          </a:p>
        </p:txBody>
      </p:sp>
      <p:sp>
        <p:nvSpPr>
          <p:cNvPr id="14" name="Rectangle 13"/>
          <p:cNvSpPr/>
          <p:nvPr/>
        </p:nvSpPr>
        <p:spPr>
          <a:xfrm>
            <a:off x="2148840" y="1965960"/>
            <a:ext cx="1234440" cy="64008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300" b="1">
                <a:solidFill>
                  <a:srgbClr val="F5F5F5"/>
                </a:solidFill>
                <a:latin typeface="Aptos"/>
              </a:defRPr>
            </a:pPr>
            <a:r>
              <a:t>Instr.</a:t>
            </a:r>
          </a:p>
          <a:p>
            <a:pPr algn="ctr">
              <a:spcAft>
                <a:spcPts val="200"/>
              </a:spcAft>
              <a:defRPr sz="1300" b="1">
                <a:solidFill>
                  <a:srgbClr val="F5F5F5"/>
                </a:solidFill>
                <a:latin typeface="Aptos"/>
              </a:defRPr>
            </a:pPr>
            <a:r>
              <a:t>Memory</a:t>
            </a:r>
          </a:p>
        </p:txBody>
      </p:sp>
      <p:cxnSp>
        <p:nvCxnSpPr>
          <p:cNvPr id="15" name="Connector 14"/>
          <p:cNvCxnSpPr/>
          <p:nvPr/>
        </p:nvCxnSpPr>
        <p:spPr>
          <a:xfrm>
            <a:off x="1828800" y="2286000"/>
            <a:ext cx="320040" cy="0"/>
          </a:xfrm>
          <a:prstGeom prst="line">
            <a:avLst/>
          </a:prstGeom>
          <a:ln w="19050">
            <a:solidFill>
              <a:srgbClr val="00DCEB"/>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828800" y="3246120"/>
            <a:ext cx="1463040" cy="64008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300" b="1">
                <a:solidFill>
                  <a:srgbClr val="F5F5F5"/>
                </a:solidFill>
                <a:latin typeface="Aptos"/>
              </a:defRPr>
            </a:pPr>
            <a:r>
              <a:t>IF/ID IR</a:t>
            </a:r>
          </a:p>
        </p:txBody>
      </p:sp>
      <p:cxnSp>
        <p:nvCxnSpPr>
          <p:cNvPr id="17" name="Connector 16"/>
          <p:cNvCxnSpPr/>
          <p:nvPr/>
        </p:nvCxnSpPr>
        <p:spPr>
          <a:xfrm flipH="1">
            <a:off x="2560320" y="2606040"/>
            <a:ext cx="182880" cy="640080"/>
          </a:xfrm>
          <a:prstGeom prst="line">
            <a:avLst/>
          </a:prstGeom>
          <a:ln w="17780">
            <a:solidFill>
              <a:srgbClr val="00DC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114800" y="2057400"/>
            <a:ext cx="1828800" cy="73152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Decoder</a:t>
            </a:r>
          </a:p>
        </p:txBody>
      </p:sp>
      <p:sp>
        <p:nvSpPr>
          <p:cNvPr id="19" name="Rectangle 18"/>
          <p:cNvSpPr/>
          <p:nvPr/>
        </p:nvSpPr>
        <p:spPr>
          <a:xfrm>
            <a:off x="4114800" y="3337560"/>
            <a:ext cx="1828800" cy="73152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ID/EX Reg.</a:t>
            </a:r>
          </a:p>
        </p:txBody>
      </p:sp>
      <p:cxnSp>
        <p:nvCxnSpPr>
          <p:cNvPr id="20" name="Connector 19"/>
          <p:cNvCxnSpPr/>
          <p:nvPr/>
        </p:nvCxnSpPr>
        <p:spPr>
          <a:xfrm>
            <a:off x="5029200" y="2788920"/>
            <a:ext cx="0" cy="548640"/>
          </a:xfrm>
          <a:prstGeom prst="line">
            <a:avLst/>
          </a:prstGeom>
          <a:ln w="19050">
            <a:solidFill>
              <a:srgbClr val="FF8737"/>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629400" y="1965960"/>
            <a:ext cx="1371600" cy="68580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300" b="1">
                <a:solidFill>
                  <a:srgbClr val="F5F5F5"/>
                </a:solidFill>
                <a:latin typeface="Aptos"/>
              </a:defRPr>
            </a:pPr>
            <a:r>
              <a:t>Register</a:t>
            </a:r>
          </a:p>
          <a:p>
            <a:pPr algn="ctr">
              <a:spcAft>
                <a:spcPts val="200"/>
              </a:spcAft>
              <a:defRPr sz="1300" b="1">
                <a:solidFill>
                  <a:srgbClr val="F5F5F5"/>
                </a:solidFill>
                <a:latin typeface="Aptos"/>
              </a:defRPr>
            </a:pPr>
            <a:r>
              <a:t>File</a:t>
            </a:r>
          </a:p>
        </p:txBody>
      </p:sp>
      <p:sp>
        <p:nvSpPr>
          <p:cNvPr id="22" name="Rectangle 21"/>
          <p:cNvSpPr/>
          <p:nvPr/>
        </p:nvSpPr>
        <p:spPr>
          <a:xfrm>
            <a:off x="8366760" y="1965960"/>
            <a:ext cx="1234440" cy="68580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F5F5F5"/>
                </a:solidFill>
                <a:latin typeface="Aptos"/>
              </a:defRPr>
            </a:pPr>
            <a:r>
              <a:t>Operand</a:t>
            </a:r>
          </a:p>
          <a:p>
            <a:pPr algn="ctr">
              <a:spcAft>
                <a:spcPts val="200"/>
              </a:spcAft>
              <a:defRPr sz="1200" b="1">
                <a:solidFill>
                  <a:srgbClr val="F5F5F5"/>
                </a:solidFill>
                <a:latin typeface="Aptos"/>
              </a:defRPr>
            </a:pPr>
            <a:r>
              <a:t>MUX</a:t>
            </a:r>
          </a:p>
        </p:txBody>
      </p:sp>
      <p:sp>
        <p:nvSpPr>
          <p:cNvPr id="23" name="Rectangle 22"/>
          <p:cNvSpPr/>
          <p:nvPr/>
        </p:nvSpPr>
        <p:spPr>
          <a:xfrm>
            <a:off x="9966960" y="1965960"/>
            <a:ext cx="1234440" cy="68580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500" b="1">
                <a:solidFill>
                  <a:srgbClr val="F5F5F5"/>
                </a:solidFill>
                <a:latin typeface="Aptos"/>
              </a:defRPr>
            </a:pPr>
            <a:r>
              <a:t>ALU</a:t>
            </a:r>
          </a:p>
        </p:txBody>
      </p:sp>
      <p:sp>
        <p:nvSpPr>
          <p:cNvPr id="24" name="Rectangle 23"/>
          <p:cNvSpPr/>
          <p:nvPr/>
        </p:nvSpPr>
        <p:spPr>
          <a:xfrm>
            <a:off x="9966960" y="3154680"/>
            <a:ext cx="1234440" cy="685800"/>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200" b="1">
                <a:solidFill>
                  <a:srgbClr val="F5F5F5"/>
                </a:solidFill>
                <a:latin typeface="Aptos"/>
              </a:defRPr>
            </a:pPr>
            <a:r>
              <a:t>Data Mem.</a:t>
            </a:r>
          </a:p>
        </p:txBody>
      </p:sp>
      <p:sp>
        <p:nvSpPr>
          <p:cNvPr id="25" name="Rectangle 24"/>
          <p:cNvSpPr/>
          <p:nvPr/>
        </p:nvSpPr>
        <p:spPr>
          <a:xfrm>
            <a:off x="9966960" y="4343400"/>
            <a:ext cx="1234440" cy="68580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300" b="1">
                <a:solidFill>
                  <a:srgbClr val="F5F5F5"/>
                </a:solidFill>
                <a:latin typeface="Aptos"/>
              </a:defRPr>
            </a:pPr>
            <a:r>
              <a:t>WB MUX</a:t>
            </a:r>
          </a:p>
        </p:txBody>
      </p:sp>
      <p:cxnSp>
        <p:nvCxnSpPr>
          <p:cNvPr id="26" name="Connector 25"/>
          <p:cNvCxnSpPr/>
          <p:nvPr/>
        </p:nvCxnSpPr>
        <p:spPr>
          <a:xfrm>
            <a:off x="8001000" y="2286000"/>
            <a:ext cx="365760" cy="0"/>
          </a:xfrm>
          <a:prstGeom prst="line">
            <a:avLst/>
          </a:prstGeom>
          <a:ln w="1778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01200" y="2286000"/>
            <a:ext cx="365760" cy="0"/>
          </a:xfrm>
          <a:prstGeom prst="line">
            <a:avLst/>
          </a:prstGeom>
          <a:ln w="1778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561320" y="2651760"/>
            <a:ext cx="0" cy="502920"/>
          </a:xfrm>
          <a:prstGeom prst="line">
            <a:avLst/>
          </a:prstGeom>
          <a:ln w="1778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561320" y="3840480"/>
            <a:ext cx="0" cy="502920"/>
          </a:xfrm>
          <a:prstGeom prst="line">
            <a:avLst/>
          </a:prstGeom>
          <a:ln w="1778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315200" y="5029200"/>
            <a:ext cx="3246120" cy="0"/>
          </a:xfrm>
          <a:prstGeom prst="line">
            <a:avLst/>
          </a:prstGeom>
          <a:ln w="16510">
            <a:solidFill>
              <a:srgbClr val="5AC88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5074920"/>
            <a:ext cx="5303520" cy="457200"/>
          </a:xfrm>
          <a:prstGeom prst="rect">
            <a:avLst/>
          </a:prstGeom>
          <a:noFill/>
        </p:spPr>
        <p:txBody>
          <a:bodyPr wrap="square" lIns="54864" tIns="54864" rIns="54864" bIns="54864" anchor="t">
            <a:spAutoFit/>
          </a:bodyPr>
          <a:lstStyle/>
          <a:p>
            <a:pPr>
              <a:spcAft>
                <a:spcPts val="500"/>
              </a:spcAft>
              <a:defRPr sz="1300" b="0">
                <a:solidFill>
                  <a:srgbClr val="AFAFAF"/>
                </a:solidFill>
                <a:latin typeface="Aptos"/>
              </a:defRPr>
            </a:pPr>
            <a:r>
              <a:t>Instruction and control fields move through pipeline registers.</a:t>
            </a:r>
          </a:p>
        </p:txBody>
      </p:sp>
      <p:sp>
        <p:nvSpPr>
          <p:cNvPr id="32" name="TextBox 31"/>
          <p:cNvSpPr txBox="1"/>
          <p:nvPr/>
        </p:nvSpPr>
        <p:spPr>
          <a:xfrm>
            <a:off x="6629400" y="5486400"/>
            <a:ext cx="4663440" cy="274320"/>
          </a:xfrm>
          <a:prstGeom prst="rect">
            <a:avLst/>
          </a:prstGeom>
          <a:noFill/>
        </p:spPr>
        <p:txBody>
          <a:bodyPr wrap="square" lIns="54864" tIns="54864" rIns="54864" bIns="54864" anchor="t">
            <a:spAutoFit/>
          </a:bodyPr>
          <a:lstStyle/>
          <a:p>
            <a:pPr>
              <a:spcAft>
                <a:spcPts val="500"/>
              </a:spcAft>
              <a:defRPr sz="1100" b="0">
                <a:solidFill>
                  <a:srgbClr val="AFAFAF"/>
                </a:solidFill>
                <a:latin typeface="Aptos"/>
              </a:defRPr>
            </a:pPr>
            <a:r>
              <a:t>Arrows represent simplified data flow, not every wire.</a:t>
            </a:r>
          </a:p>
        </p:txBody>
      </p:sp>
      <p:pic>
        <p:nvPicPr>
          <p:cNvPr id="36" name="Hình ảnh 35">
            <a:extLst>
              <a:ext uri="{FF2B5EF4-FFF2-40B4-BE49-F238E27FC236}">
                <a16:creationId xmlns:a16="http://schemas.microsoft.com/office/drawing/2014/main" id="{F9B5E94F-F65A-7EAF-EA71-EBBFD1641E24}"/>
              </a:ext>
            </a:extLst>
          </p:cNvPr>
          <p:cNvPicPr>
            <a:picLocks noChangeAspect="1"/>
          </p:cNvPicPr>
          <p:nvPr/>
        </p:nvPicPr>
        <p:blipFill>
          <a:blip r:embed="rId2"/>
          <a:stretch>
            <a:fillRect/>
          </a:stretch>
        </p:blipFill>
        <p:spPr>
          <a:xfrm>
            <a:off x="0" y="1127229"/>
            <a:ext cx="12192000" cy="4603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TESTBENCH: WHAT IS BEING CHECKED?</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TESTBENCH</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17</a:t>
            </a:r>
          </a:p>
        </p:txBody>
      </p:sp>
      <p:sp>
        <p:nvSpPr>
          <p:cNvPr id="7" name="TextBox 6"/>
          <p:cNvSpPr txBox="1"/>
          <p:nvPr/>
        </p:nvSpPr>
        <p:spPr>
          <a:xfrm>
            <a:off x="731520" y="1234440"/>
            <a:ext cx="5486400" cy="4937760"/>
          </a:xfrm>
          <a:prstGeom prst="rect">
            <a:avLst/>
          </a:prstGeom>
          <a:noFill/>
        </p:spPr>
        <p:txBody>
          <a:bodyPr wrap="square" lIns="45720" tIns="36576" rIns="36576" bIns="36576">
            <a:spAutoFit/>
          </a:bodyPr>
          <a:lstStyle/>
          <a:p>
            <a:pPr>
              <a:spcAft>
                <a:spcPts val="1000"/>
              </a:spcAft>
              <a:defRPr sz="1600">
                <a:solidFill>
                  <a:srgbClr val="F5F5F5"/>
                </a:solidFill>
                <a:latin typeface="Aptos"/>
              </a:defRPr>
            </a:pPr>
            <a:r>
              <a:t>•  A testbench is a separate Verilog module that drives clock/reset and checks outputs.</a:t>
            </a:r>
          </a:p>
          <a:p>
            <a:pPr>
              <a:spcAft>
                <a:spcPts val="1000"/>
              </a:spcAft>
              <a:defRPr sz="1600">
                <a:solidFill>
                  <a:srgbClr val="F5F5F5"/>
                </a:solidFill>
                <a:latin typeface="Aptos"/>
              </a:defRPr>
            </a:pPr>
            <a:r>
              <a:t>•  tb_cpu instantiates cpu_top and observes PC, instruction, ALU result, write-back data, and flags.</a:t>
            </a:r>
          </a:p>
          <a:p>
            <a:pPr>
              <a:spcAft>
                <a:spcPts val="1000"/>
              </a:spcAft>
              <a:defRPr sz="1600">
                <a:solidFill>
                  <a:srgbClr val="F5F5F5"/>
                </a:solidFill>
                <a:latin typeface="Aptos"/>
              </a:defRPr>
            </a:pPr>
            <a:r>
              <a:t>•  The testbench prints TIME lines to show sampled signal values.</a:t>
            </a:r>
          </a:p>
          <a:p>
            <a:pPr>
              <a:spcAft>
                <a:spcPts val="1000"/>
              </a:spcAft>
              <a:defRPr sz="1600">
                <a:solidFill>
                  <a:srgbClr val="F5F5F5"/>
                </a:solidFill>
                <a:latin typeface="Aptos"/>
              </a:defRPr>
            </a:pPr>
            <a:r>
              <a:t>•  PASS means a check matched the expected value; FAIL means it did not.</a:t>
            </a:r>
          </a:p>
          <a:p>
            <a:pPr>
              <a:spcAft>
                <a:spcPts val="1000"/>
              </a:spcAft>
              <a:defRPr sz="1600">
                <a:solidFill>
                  <a:srgbClr val="F5F5F5"/>
                </a:solidFill>
                <a:latin typeface="Aptos"/>
              </a:defRPr>
            </a:pPr>
            <a:r>
              <a:t>•  The current run reports 33 checks and 5 failures.</a:t>
            </a:r>
          </a:p>
        </p:txBody>
      </p:sp>
      <p:sp>
        <p:nvSpPr>
          <p:cNvPr id="8" name="Rectangle 7"/>
          <p:cNvSpPr/>
          <p:nvPr/>
        </p:nvSpPr>
        <p:spPr>
          <a:xfrm>
            <a:off x="6720840" y="1417320"/>
            <a:ext cx="4297680" cy="822960"/>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Clock (clk)</a:t>
            </a:r>
          </a:p>
        </p:txBody>
      </p:sp>
      <p:sp>
        <p:nvSpPr>
          <p:cNvPr id="9" name="Rectangle 8"/>
          <p:cNvSpPr/>
          <p:nvPr/>
        </p:nvSpPr>
        <p:spPr>
          <a:xfrm>
            <a:off x="6720840" y="2514600"/>
            <a:ext cx="4297680" cy="82296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Reset (rst)</a:t>
            </a:r>
          </a:p>
        </p:txBody>
      </p:sp>
      <p:sp>
        <p:nvSpPr>
          <p:cNvPr id="10" name="Rectangle 9"/>
          <p:cNvSpPr/>
          <p:nvPr/>
        </p:nvSpPr>
        <p:spPr>
          <a:xfrm>
            <a:off x="6720840" y="3611880"/>
            <a:ext cx="4297680" cy="82296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DUT: cpu_top</a:t>
            </a:r>
          </a:p>
        </p:txBody>
      </p:sp>
      <p:sp>
        <p:nvSpPr>
          <p:cNvPr id="11" name="Rectangle 10"/>
          <p:cNvSpPr/>
          <p:nvPr/>
        </p:nvSpPr>
        <p:spPr>
          <a:xfrm>
            <a:off x="6720840" y="4709160"/>
            <a:ext cx="4297680" cy="822960"/>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800" b="1">
                <a:solidFill>
                  <a:srgbClr val="F5F5F5"/>
                </a:solidFill>
                <a:latin typeface="Aptos"/>
              </a:defRPr>
            </a:pPr>
            <a:r>
              <a:t>Assertions / checks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TESTBENCH ABBREVIATIONS AND SIGNALS</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TESTBENCH</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18</a:t>
            </a:r>
          </a:p>
        </p:txBody>
      </p:sp>
      <p:sp>
        <p:nvSpPr>
          <p:cNvPr id="7" name="Rectangle 6"/>
          <p:cNvSpPr/>
          <p:nvPr/>
        </p:nvSpPr>
        <p:spPr>
          <a:xfrm>
            <a:off x="685800" y="1234440"/>
            <a:ext cx="1417320" cy="621792"/>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TIME</a:t>
            </a:r>
          </a:p>
        </p:txBody>
      </p:sp>
      <p:sp>
        <p:nvSpPr>
          <p:cNvPr id="8" name="TextBox 7"/>
          <p:cNvSpPr txBox="1"/>
          <p:nvPr/>
        </p:nvSpPr>
        <p:spPr>
          <a:xfrm>
            <a:off x="2240280" y="1252728"/>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Simulation timestamp, commonly displayed in ns by the simulator.</a:t>
            </a:r>
          </a:p>
        </p:txBody>
      </p:sp>
      <p:sp>
        <p:nvSpPr>
          <p:cNvPr id="9" name="Rectangle 8"/>
          <p:cNvSpPr/>
          <p:nvPr/>
        </p:nvSpPr>
        <p:spPr>
          <a:xfrm>
            <a:off x="685800" y="2176272"/>
            <a:ext cx="1417320" cy="621792"/>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PC</a:t>
            </a:r>
          </a:p>
        </p:txBody>
      </p:sp>
      <p:sp>
        <p:nvSpPr>
          <p:cNvPr id="10" name="TextBox 9"/>
          <p:cNvSpPr txBox="1"/>
          <p:nvPr/>
        </p:nvSpPr>
        <p:spPr>
          <a:xfrm>
            <a:off x="2240280" y="2194560"/>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Program Counter: address of the instruction being fetched.</a:t>
            </a:r>
          </a:p>
        </p:txBody>
      </p:sp>
      <p:sp>
        <p:nvSpPr>
          <p:cNvPr id="11" name="Rectangle 10"/>
          <p:cNvSpPr/>
          <p:nvPr/>
        </p:nvSpPr>
        <p:spPr>
          <a:xfrm>
            <a:off x="685800" y="3118104"/>
            <a:ext cx="1417320" cy="621792"/>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INSTR</a:t>
            </a:r>
          </a:p>
        </p:txBody>
      </p:sp>
      <p:sp>
        <p:nvSpPr>
          <p:cNvPr id="12" name="TextBox 11"/>
          <p:cNvSpPr txBox="1"/>
          <p:nvPr/>
        </p:nvSpPr>
        <p:spPr>
          <a:xfrm>
            <a:off x="2240280" y="3136392"/>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Instruction word read from instruction memory (12 bits, often shown in hex).</a:t>
            </a:r>
          </a:p>
        </p:txBody>
      </p:sp>
      <p:sp>
        <p:nvSpPr>
          <p:cNvPr id="13" name="Rectangle 12"/>
          <p:cNvSpPr/>
          <p:nvPr/>
        </p:nvSpPr>
        <p:spPr>
          <a:xfrm>
            <a:off x="685800" y="4059935"/>
            <a:ext cx="1417320" cy="621792"/>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ALU</a:t>
            </a:r>
          </a:p>
        </p:txBody>
      </p:sp>
      <p:sp>
        <p:nvSpPr>
          <p:cNvPr id="14" name="TextBox 13"/>
          <p:cNvSpPr txBox="1"/>
          <p:nvPr/>
        </p:nvSpPr>
        <p:spPr>
          <a:xfrm>
            <a:off x="2240280" y="4078223"/>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Arithmetic Logic Unit output (4-bit result).</a:t>
            </a:r>
          </a:p>
        </p:txBody>
      </p:sp>
      <p:sp>
        <p:nvSpPr>
          <p:cNvPr id="15" name="Rectangle 14"/>
          <p:cNvSpPr/>
          <p:nvPr/>
        </p:nvSpPr>
        <p:spPr>
          <a:xfrm>
            <a:off x="685800" y="5001768"/>
            <a:ext cx="1417320" cy="621792"/>
          </a:xfrm>
          <a:prstGeom prst="rect">
            <a:avLst/>
          </a:prstGeom>
          <a:solidFill>
            <a:srgbClr val="1D1D1D"/>
          </a:solidFill>
          <a:ln w="17780">
            <a:solidFill>
              <a:srgbClr val="00DCE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WB</a:t>
            </a:r>
          </a:p>
        </p:txBody>
      </p:sp>
      <p:sp>
        <p:nvSpPr>
          <p:cNvPr id="16" name="TextBox 15"/>
          <p:cNvSpPr txBox="1"/>
          <p:nvPr/>
        </p:nvSpPr>
        <p:spPr>
          <a:xfrm>
            <a:off x="2240280" y="5020056"/>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Write-back value selected for a destination register.</a:t>
            </a:r>
          </a:p>
        </p:txBody>
      </p:sp>
      <p:sp>
        <p:nvSpPr>
          <p:cNvPr id="17" name="Rectangle 16"/>
          <p:cNvSpPr/>
          <p:nvPr/>
        </p:nvSpPr>
        <p:spPr>
          <a:xfrm>
            <a:off x="6400800" y="1234440"/>
            <a:ext cx="1417320" cy="621792"/>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R0–R3</a:t>
            </a:r>
          </a:p>
        </p:txBody>
      </p:sp>
      <p:sp>
        <p:nvSpPr>
          <p:cNvPr id="18" name="TextBox 17"/>
          <p:cNvSpPr txBox="1"/>
          <p:nvPr/>
        </p:nvSpPr>
        <p:spPr>
          <a:xfrm>
            <a:off x="7955279" y="1252728"/>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Four 4-bit general-purpose registers.</a:t>
            </a:r>
          </a:p>
        </p:txBody>
      </p:sp>
      <p:sp>
        <p:nvSpPr>
          <p:cNvPr id="19" name="Rectangle 18"/>
          <p:cNvSpPr/>
          <p:nvPr/>
        </p:nvSpPr>
        <p:spPr>
          <a:xfrm>
            <a:off x="6400800" y="2176272"/>
            <a:ext cx="1417320" cy="621792"/>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Z</a:t>
            </a:r>
          </a:p>
        </p:txBody>
      </p:sp>
      <p:sp>
        <p:nvSpPr>
          <p:cNvPr id="20" name="TextBox 19"/>
          <p:cNvSpPr txBox="1"/>
          <p:nvPr/>
        </p:nvSpPr>
        <p:spPr>
          <a:xfrm>
            <a:off x="7955279" y="2194560"/>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Zero flag: 1 when the relevant result is zero.</a:t>
            </a:r>
          </a:p>
        </p:txBody>
      </p:sp>
      <p:sp>
        <p:nvSpPr>
          <p:cNvPr id="21" name="Rectangle 20"/>
          <p:cNvSpPr/>
          <p:nvPr/>
        </p:nvSpPr>
        <p:spPr>
          <a:xfrm>
            <a:off x="6400800" y="3118104"/>
            <a:ext cx="1417320" cy="621792"/>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C</a:t>
            </a:r>
          </a:p>
        </p:txBody>
      </p:sp>
      <p:sp>
        <p:nvSpPr>
          <p:cNvPr id="22" name="TextBox 21"/>
          <p:cNvSpPr txBox="1"/>
          <p:nvPr/>
        </p:nvSpPr>
        <p:spPr>
          <a:xfrm>
            <a:off x="7955279" y="3136392"/>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Carry flag: arithmetic carry/borrow status.</a:t>
            </a:r>
          </a:p>
        </p:txBody>
      </p:sp>
      <p:sp>
        <p:nvSpPr>
          <p:cNvPr id="23" name="Rectangle 22"/>
          <p:cNvSpPr/>
          <p:nvPr/>
        </p:nvSpPr>
        <p:spPr>
          <a:xfrm>
            <a:off x="6400800" y="4059935"/>
            <a:ext cx="1417320" cy="621792"/>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PASS / FAIL</a:t>
            </a:r>
          </a:p>
        </p:txBody>
      </p:sp>
      <p:sp>
        <p:nvSpPr>
          <p:cNvPr id="24" name="TextBox 23"/>
          <p:cNvSpPr txBox="1"/>
          <p:nvPr/>
        </p:nvSpPr>
        <p:spPr>
          <a:xfrm>
            <a:off x="7955279" y="4078223"/>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Comparison result from a testbench check.</a:t>
            </a:r>
          </a:p>
        </p:txBody>
      </p:sp>
      <p:sp>
        <p:nvSpPr>
          <p:cNvPr id="25" name="Rectangle 24"/>
          <p:cNvSpPr/>
          <p:nvPr/>
        </p:nvSpPr>
        <p:spPr>
          <a:xfrm>
            <a:off x="6400800" y="5001768"/>
            <a:ext cx="1417320" cy="621792"/>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1400" b="1">
                <a:solidFill>
                  <a:srgbClr val="F5F5F5"/>
                </a:solidFill>
                <a:latin typeface="Aptos"/>
              </a:defRPr>
            </a:pPr>
            <a:r>
              <a:t>X</a:t>
            </a:r>
          </a:p>
        </p:txBody>
      </p:sp>
      <p:sp>
        <p:nvSpPr>
          <p:cNvPr id="26" name="TextBox 25"/>
          <p:cNvSpPr txBox="1"/>
          <p:nvPr/>
        </p:nvSpPr>
        <p:spPr>
          <a:xfrm>
            <a:off x="7955279" y="5020056"/>
            <a:ext cx="3977639" cy="594360"/>
          </a:xfrm>
          <a:prstGeom prst="rect">
            <a:avLst/>
          </a:prstGeom>
          <a:noFill/>
        </p:spPr>
        <p:txBody>
          <a:bodyPr wrap="square" lIns="54864" tIns="54864" rIns="54864" bIns="54864" anchor="t">
            <a:spAutoFit/>
          </a:bodyPr>
          <a:lstStyle/>
          <a:p>
            <a:pPr>
              <a:spcAft>
                <a:spcPts val="500"/>
              </a:spcAft>
              <a:defRPr sz="1300" b="0">
                <a:solidFill>
                  <a:srgbClr val="F5F5F5"/>
                </a:solidFill>
                <a:latin typeface="Aptos"/>
              </a:defRPr>
            </a:pPr>
            <a:r>
              <a:t>Unknown/uninitialized logic value in simulation.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BEHAVIORAL SIMULATION WAVEFORM</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TESTBENCH</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22</a:t>
            </a:r>
          </a:p>
        </p:txBody>
      </p:sp>
      <p:sp>
        <p:nvSpPr>
          <p:cNvPr id="7" name="TextBox 6"/>
          <p:cNvSpPr txBox="1"/>
          <p:nvPr/>
        </p:nvSpPr>
        <p:spPr>
          <a:xfrm>
            <a:off x="731520" y="1143000"/>
            <a:ext cx="10698480" cy="411480"/>
          </a:xfrm>
          <a:prstGeom prst="rect">
            <a:avLst/>
          </a:prstGeom>
          <a:noFill/>
        </p:spPr>
        <p:txBody>
          <a:bodyPr wrap="square" lIns="54864" tIns="54864" rIns="54864" bIns="54864" anchor="t">
            <a:spAutoFit/>
          </a:bodyPr>
          <a:lstStyle/>
          <a:p>
            <a:pPr>
              <a:spcAft>
                <a:spcPts val="500"/>
              </a:spcAft>
              <a:defRPr sz="1400" b="0">
                <a:solidFill>
                  <a:srgbClr val="AFAFAF"/>
                </a:solidFill>
                <a:latin typeface="Aptos"/>
              </a:defRPr>
            </a:pPr>
            <a:r>
              <a:t>Signals shown in the Vivado/XSim waveform include clk, rst, checks, errors, PC, instruction, ALU output, write-back data, and flags.</a:t>
            </a:r>
          </a:p>
        </p:txBody>
      </p:sp>
      <p:sp>
        <p:nvSpPr>
          <p:cNvPr id="8" name="TextBox 7"/>
          <p:cNvSpPr txBox="1"/>
          <p:nvPr/>
        </p:nvSpPr>
        <p:spPr>
          <a:xfrm>
            <a:off x="640080" y="1828800"/>
            <a:ext cx="731520" cy="320040"/>
          </a:xfrm>
          <a:prstGeom prst="rect">
            <a:avLst/>
          </a:prstGeom>
          <a:noFill/>
        </p:spPr>
        <p:txBody>
          <a:bodyPr wrap="square" lIns="54864" tIns="54864" rIns="54864" bIns="54864" anchor="t">
            <a:spAutoFit/>
          </a:bodyPr>
          <a:lstStyle/>
          <a:p>
            <a:pPr>
              <a:spcAft>
                <a:spcPts val="500"/>
              </a:spcAft>
              <a:defRPr sz="1200" b="1">
                <a:solidFill>
                  <a:srgbClr val="00DCEB"/>
                </a:solidFill>
                <a:latin typeface="Aptos"/>
              </a:defRPr>
            </a:pPr>
            <a:r>
              <a:t>clk</a:t>
            </a:r>
          </a:p>
        </p:txBody>
      </p:sp>
      <p:cxnSp>
        <p:nvCxnSpPr>
          <p:cNvPr id="9" name="Connector 8"/>
          <p:cNvCxnSpPr/>
          <p:nvPr/>
        </p:nvCxnSpPr>
        <p:spPr>
          <a:xfrm>
            <a:off x="914400" y="2148840"/>
            <a:ext cx="10241280" cy="0"/>
          </a:xfrm>
          <a:prstGeom prst="line">
            <a:avLst/>
          </a:prstGeom>
          <a:ln w="889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1440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440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277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34112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4112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5448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76783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76783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8119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9455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19455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40791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62127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62127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83463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04800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4800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613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47471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7471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8807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90143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90143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1479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32815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2815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54151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75488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5488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96824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18160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18160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3949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60832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60832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82168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03503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03503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24839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4617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46176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67512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88847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8847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183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731520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315200" y="1874519"/>
            <a:ext cx="213359"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2855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74191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74191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95527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16864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168640" y="1874519"/>
            <a:ext cx="213359"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38199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5953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9536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80872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02207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02207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23543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44880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448800"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6621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87551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75519" y="1874519"/>
            <a:ext cx="213360"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08887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30224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302240" y="1874519"/>
            <a:ext cx="213359"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51559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0728960"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728960" y="1874519"/>
            <a:ext cx="213359" cy="0"/>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942319" y="1874519"/>
            <a:ext cx="0" cy="256033"/>
          </a:xfrm>
          <a:prstGeom prst="line">
            <a:avLst/>
          </a:prstGeom>
          <a:ln w="15240">
            <a:solidFill>
              <a:srgbClr val="00DCEB"/>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40080" y="2423160"/>
            <a:ext cx="731520" cy="320040"/>
          </a:xfrm>
          <a:prstGeom prst="rect">
            <a:avLst/>
          </a:prstGeom>
          <a:noFill/>
        </p:spPr>
        <p:txBody>
          <a:bodyPr wrap="square" lIns="54864" tIns="54864" rIns="54864" bIns="54864" anchor="t">
            <a:spAutoFit/>
          </a:bodyPr>
          <a:lstStyle/>
          <a:p>
            <a:pPr>
              <a:spcAft>
                <a:spcPts val="500"/>
              </a:spcAft>
              <a:defRPr sz="1200" b="1">
                <a:solidFill>
                  <a:srgbClr val="FF8737"/>
                </a:solidFill>
                <a:latin typeface="Aptos"/>
              </a:defRPr>
            </a:pPr>
            <a:r>
              <a:t>rst</a:t>
            </a:r>
          </a:p>
        </p:txBody>
      </p:sp>
      <p:cxnSp>
        <p:nvCxnSpPr>
          <p:cNvPr id="83" name="Connector 82"/>
          <p:cNvCxnSpPr/>
          <p:nvPr/>
        </p:nvCxnSpPr>
        <p:spPr>
          <a:xfrm>
            <a:off x="914400" y="2743200"/>
            <a:ext cx="10241280" cy="0"/>
          </a:xfrm>
          <a:prstGeom prst="line">
            <a:avLst/>
          </a:prstGeom>
          <a:ln w="889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14400" y="2468879"/>
            <a:ext cx="731520" cy="0"/>
          </a:xfrm>
          <a:prstGeom prst="line">
            <a:avLst/>
          </a:prstGeom>
          <a:ln w="25400">
            <a:solidFill>
              <a:srgbClr val="FF873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645920" y="2468879"/>
            <a:ext cx="0" cy="256033"/>
          </a:xfrm>
          <a:prstGeom prst="line">
            <a:avLst/>
          </a:prstGeom>
          <a:ln w="19050">
            <a:solidFill>
              <a:srgbClr val="FF873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645920" y="2724912"/>
            <a:ext cx="9509760" cy="0"/>
          </a:xfrm>
          <a:prstGeom prst="line">
            <a:avLst/>
          </a:prstGeom>
          <a:ln w="25400">
            <a:solidFill>
              <a:srgbClr val="FF8737"/>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640080" y="3017520"/>
            <a:ext cx="731520" cy="320040"/>
          </a:xfrm>
          <a:prstGeom prst="rect">
            <a:avLst/>
          </a:prstGeom>
          <a:noFill/>
        </p:spPr>
        <p:txBody>
          <a:bodyPr wrap="square" lIns="54864" tIns="54864" rIns="54864" bIns="54864" anchor="t">
            <a:spAutoFit/>
          </a:bodyPr>
          <a:lstStyle/>
          <a:p>
            <a:pPr>
              <a:spcAft>
                <a:spcPts val="500"/>
              </a:spcAft>
              <a:defRPr sz="1200" b="1">
                <a:solidFill>
                  <a:srgbClr val="5096FF"/>
                </a:solidFill>
                <a:latin typeface="Aptos"/>
              </a:defRPr>
            </a:pPr>
            <a:r>
              <a:t>PC</a:t>
            </a:r>
          </a:p>
        </p:txBody>
      </p:sp>
      <p:cxnSp>
        <p:nvCxnSpPr>
          <p:cNvPr id="88" name="Connector 87"/>
          <p:cNvCxnSpPr/>
          <p:nvPr/>
        </p:nvCxnSpPr>
        <p:spPr>
          <a:xfrm>
            <a:off x="914400" y="3337560"/>
            <a:ext cx="10241280" cy="0"/>
          </a:xfrm>
          <a:prstGeom prst="line">
            <a:avLst/>
          </a:prstGeom>
          <a:ln w="8890">
            <a:solidFill>
              <a:srgbClr val="464646"/>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91440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90" name="Rectangle 89"/>
          <p:cNvSpPr/>
          <p:nvPr/>
        </p:nvSpPr>
        <p:spPr>
          <a:xfrm>
            <a:off x="205232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1</a:t>
            </a:r>
          </a:p>
        </p:txBody>
      </p:sp>
      <p:sp>
        <p:nvSpPr>
          <p:cNvPr id="91" name="Rectangle 90"/>
          <p:cNvSpPr/>
          <p:nvPr/>
        </p:nvSpPr>
        <p:spPr>
          <a:xfrm>
            <a:off x="319024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2</a:t>
            </a:r>
          </a:p>
        </p:txBody>
      </p:sp>
      <p:sp>
        <p:nvSpPr>
          <p:cNvPr id="92" name="Rectangle 91"/>
          <p:cNvSpPr/>
          <p:nvPr/>
        </p:nvSpPr>
        <p:spPr>
          <a:xfrm>
            <a:off x="432816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3</a:t>
            </a:r>
          </a:p>
        </p:txBody>
      </p:sp>
      <p:sp>
        <p:nvSpPr>
          <p:cNvPr id="93" name="Rectangle 92"/>
          <p:cNvSpPr/>
          <p:nvPr/>
        </p:nvSpPr>
        <p:spPr>
          <a:xfrm>
            <a:off x="546608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4</a:t>
            </a:r>
          </a:p>
        </p:txBody>
      </p:sp>
      <p:sp>
        <p:nvSpPr>
          <p:cNvPr id="94" name="Rectangle 93"/>
          <p:cNvSpPr/>
          <p:nvPr/>
        </p:nvSpPr>
        <p:spPr>
          <a:xfrm>
            <a:off x="660400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5</a:t>
            </a:r>
          </a:p>
        </p:txBody>
      </p:sp>
      <p:sp>
        <p:nvSpPr>
          <p:cNvPr id="95" name="Rectangle 94"/>
          <p:cNvSpPr/>
          <p:nvPr/>
        </p:nvSpPr>
        <p:spPr>
          <a:xfrm>
            <a:off x="774192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6</a:t>
            </a:r>
          </a:p>
        </p:txBody>
      </p:sp>
      <p:sp>
        <p:nvSpPr>
          <p:cNvPr id="96" name="Rectangle 95"/>
          <p:cNvSpPr/>
          <p:nvPr/>
        </p:nvSpPr>
        <p:spPr>
          <a:xfrm>
            <a:off x="887984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7</a:t>
            </a:r>
          </a:p>
        </p:txBody>
      </p:sp>
      <p:sp>
        <p:nvSpPr>
          <p:cNvPr id="97" name="Rectangle 96"/>
          <p:cNvSpPr/>
          <p:nvPr/>
        </p:nvSpPr>
        <p:spPr>
          <a:xfrm>
            <a:off x="10017760" y="3054096"/>
            <a:ext cx="1110488" cy="292608"/>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5</a:t>
            </a:r>
          </a:p>
        </p:txBody>
      </p:sp>
      <p:sp>
        <p:nvSpPr>
          <p:cNvPr id="98" name="TextBox 97"/>
          <p:cNvSpPr txBox="1"/>
          <p:nvPr/>
        </p:nvSpPr>
        <p:spPr>
          <a:xfrm>
            <a:off x="640080" y="3611880"/>
            <a:ext cx="731520" cy="320040"/>
          </a:xfrm>
          <a:prstGeom prst="rect">
            <a:avLst/>
          </a:prstGeom>
          <a:noFill/>
        </p:spPr>
        <p:txBody>
          <a:bodyPr wrap="square" lIns="54864" tIns="54864" rIns="54864" bIns="54864" anchor="t">
            <a:spAutoFit/>
          </a:bodyPr>
          <a:lstStyle/>
          <a:p>
            <a:pPr>
              <a:spcAft>
                <a:spcPts val="500"/>
              </a:spcAft>
              <a:defRPr sz="1200" b="1">
                <a:solidFill>
                  <a:srgbClr val="FFDC3C"/>
                </a:solidFill>
                <a:latin typeface="Aptos"/>
              </a:defRPr>
            </a:pPr>
            <a:r>
              <a:t>INSTR</a:t>
            </a:r>
          </a:p>
        </p:txBody>
      </p:sp>
      <p:cxnSp>
        <p:nvCxnSpPr>
          <p:cNvPr id="99" name="Connector 98"/>
          <p:cNvCxnSpPr/>
          <p:nvPr/>
        </p:nvCxnSpPr>
        <p:spPr>
          <a:xfrm>
            <a:off x="914400" y="3931920"/>
            <a:ext cx="10241280" cy="0"/>
          </a:xfrm>
          <a:prstGeom prst="line">
            <a:avLst/>
          </a:prstGeom>
          <a:ln w="8890">
            <a:solidFill>
              <a:srgbClr val="464646"/>
            </a:solidFill>
          </a:ln>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91440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c00</a:t>
            </a:r>
          </a:p>
        </p:txBody>
      </p:sp>
      <p:sp>
        <p:nvSpPr>
          <p:cNvPr id="101" name="Rectangle 100"/>
          <p:cNvSpPr/>
          <p:nvPr/>
        </p:nvSpPr>
        <p:spPr>
          <a:xfrm>
            <a:off x="205232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c00</a:t>
            </a:r>
          </a:p>
        </p:txBody>
      </p:sp>
      <p:sp>
        <p:nvSpPr>
          <p:cNvPr id="102" name="Rectangle 101"/>
          <p:cNvSpPr/>
          <p:nvPr/>
        </p:nvSpPr>
        <p:spPr>
          <a:xfrm>
            <a:off x="319024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645</a:t>
            </a:r>
          </a:p>
        </p:txBody>
      </p:sp>
      <p:sp>
        <p:nvSpPr>
          <p:cNvPr id="103" name="Rectangle 102"/>
          <p:cNvSpPr/>
          <p:nvPr/>
        </p:nvSpPr>
        <p:spPr>
          <a:xfrm>
            <a:off x="432816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683</a:t>
            </a:r>
          </a:p>
        </p:txBody>
      </p:sp>
      <p:sp>
        <p:nvSpPr>
          <p:cNvPr id="104" name="Rectangle 103"/>
          <p:cNvSpPr/>
          <p:nvPr/>
        </p:nvSpPr>
        <p:spPr>
          <a:xfrm>
            <a:off x="546608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060</a:t>
            </a:r>
          </a:p>
        </p:txBody>
      </p:sp>
      <p:sp>
        <p:nvSpPr>
          <p:cNvPr id="105" name="Rectangle 104"/>
          <p:cNvSpPr/>
          <p:nvPr/>
        </p:nvSpPr>
        <p:spPr>
          <a:xfrm>
            <a:off x="660400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6ca</a:t>
            </a:r>
          </a:p>
        </p:txBody>
      </p:sp>
      <p:sp>
        <p:nvSpPr>
          <p:cNvPr id="106" name="Rectangle 105"/>
          <p:cNvSpPr/>
          <p:nvPr/>
        </p:nvSpPr>
        <p:spPr>
          <a:xfrm>
            <a:off x="774192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470</a:t>
            </a:r>
          </a:p>
        </p:txBody>
      </p:sp>
      <p:sp>
        <p:nvSpPr>
          <p:cNvPr id="107" name="Rectangle 106"/>
          <p:cNvSpPr/>
          <p:nvPr/>
        </p:nvSpPr>
        <p:spPr>
          <a:xfrm>
            <a:off x="887984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a05</a:t>
            </a:r>
          </a:p>
        </p:txBody>
      </p:sp>
      <p:sp>
        <p:nvSpPr>
          <p:cNvPr id="108" name="Rectangle 107"/>
          <p:cNvSpPr/>
          <p:nvPr/>
        </p:nvSpPr>
        <p:spPr>
          <a:xfrm>
            <a:off x="10017760" y="3648456"/>
            <a:ext cx="1110488" cy="292608"/>
          </a:xfrm>
          <a:prstGeom prst="rect">
            <a:avLst/>
          </a:prstGeom>
          <a:solidFill>
            <a:srgbClr val="1D1D1D"/>
          </a:solidFill>
          <a:ln w="17780">
            <a:solidFill>
              <a:srgbClr val="FFDC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c00</a:t>
            </a:r>
          </a:p>
        </p:txBody>
      </p:sp>
      <p:sp>
        <p:nvSpPr>
          <p:cNvPr id="109" name="TextBox 108"/>
          <p:cNvSpPr txBox="1"/>
          <p:nvPr/>
        </p:nvSpPr>
        <p:spPr>
          <a:xfrm>
            <a:off x="640080" y="4206240"/>
            <a:ext cx="731520" cy="320040"/>
          </a:xfrm>
          <a:prstGeom prst="rect">
            <a:avLst/>
          </a:prstGeom>
          <a:noFill/>
        </p:spPr>
        <p:txBody>
          <a:bodyPr wrap="square" lIns="54864" tIns="54864" rIns="54864" bIns="54864" anchor="t">
            <a:spAutoFit/>
          </a:bodyPr>
          <a:lstStyle/>
          <a:p>
            <a:pPr>
              <a:spcAft>
                <a:spcPts val="500"/>
              </a:spcAft>
              <a:defRPr sz="1200" b="1">
                <a:solidFill>
                  <a:srgbClr val="5AC882"/>
                </a:solidFill>
                <a:latin typeface="Aptos"/>
              </a:defRPr>
            </a:pPr>
            <a:r>
              <a:t>ALU</a:t>
            </a:r>
          </a:p>
        </p:txBody>
      </p:sp>
      <p:cxnSp>
        <p:nvCxnSpPr>
          <p:cNvPr id="110" name="Connector 109"/>
          <p:cNvCxnSpPr/>
          <p:nvPr/>
        </p:nvCxnSpPr>
        <p:spPr>
          <a:xfrm>
            <a:off x="914400" y="4526279"/>
            <a:ext cx="10241280" cy="0"/>
          </a:xfrm>
          <a:prstGeom prst="line">
            <a:avLst/>
          </a:prstGeom>
          <a:ln w="8890">
            <a:solidFill>
              <a:srgbClr val="464646"/>
            </a:solidFill>
          </a:ln>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91440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12" name="Rectangle 111"/>
          <p:cNvSpPr/>
          <p:nvPr/>
        </p:nvSpPr>
        <p:spPr>
          <a:xfrm>
            <a:off x="205232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13" name="Rectangle 112"/>
          <p:cNvSpPr/>
          <p:nvPr/>
        </p:nvSpPr>
        <p:spPr>
          <a:xfrm>
            <a:off x="319024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5</a:t>
            </a:r>
          </a:p>
        </p:txBody>
      </p:sp>
      <p:sp>
        <p:nvSpPr>
          <p:cNvPr id="114" name="Rectangle 113"/>
          <p:cNvSpPr/>
          <p:nvPr/>
        </p:nvSpPr>
        <p:spPr>
          <a:xfrm>
            <a:off x="432816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3</a:t>
            </a:r>
          </a:p>
        </p:txBody>
      </p:sp>
      <p:sp>
        <p:nvSpPr>
          <p:cNvPr id="115" name="Rectangle 114"/>
          <p:cNvSpPr/>
          <p:nvPr/>
        </p:nvSpPr>
        <p:spPr>
          <a:xfrm>
            <a:off x="546608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8</a:t>
            </a:r>
          </a:p>
        </p:txBody>
      </p:sp>
      <p:sp>
        <p:nvSpPr>
          <p:cNvPr id="116" name="Rectangle 115"/>
          <p:cNvSpPr/>
          <p:nvPr/>
        </p:nvSpPr>
        <p:spPr>
          <a:xfrm>
            <a:off x="660400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a</a:t>
            </a:r>
          </a:p>
        </p:txBody>
      </p:sp>
      <p:sp>
        <p:nvSpPr>
          <p:cNvPr id="117" name="Rectangle 116"/>
          <p:cNvSpPr/>
          <p:nvPr/>
        </p:nvSpPr>
        <p:spPr>
          <a:xfrm>
            <a:off x="774192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2</a:t>
            </a:r>
          </a:p>
        </p:txBody>
      </p:sp>
      <p:sp>
        <p:nvSpPr>
          <p:cNvPr id="118" name="Rectangle 117"/>
          <p:cNvSpPr/>
          <p:nvPr/>
        </p:nvSpPr>
        <p:spPr>
          <a:xfrm>
            <a:off x="887984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19" name="Rectangle 118"/>
          <p:cNvSpPr/>
          <p:nvPr/>
        </p:nvSpPr>
        <p:spPr>
          <a:xfrm>
            <a:off x="10017760" y="4242816"/>
            <a:ext cx="1110488" cy="292608"/>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20" name="TextBox 119"/>
          <p:cNvSpPr txBox="1"/>
          <p:nvPr/>
        </p:nvSpPr>
        <p:spPr>
          <a:xfrm>
            <a:off x="640080" y="4800600"/>
            <a:ext cx="731520" cy="320040"/>
          </a:xfrm>
          <a:prstGeom prst="rect">
            <a:avLst/>
          </a:prstGeom>
          <a:noFill/>
        </p:spPr>
        <p:txBody>
          <a:bodyPr wrap="square" lIns="54864" tIns="54864" rIns="54864" bIns="54864" anchor="t">
            <a:spAutoFit/>
          </a:bodyPr>
          <a:lstStyle/>
          <a:p>
            <a:pPr>
              <a:spcAft>
                <a:spcPts val="500"/>
              </a:spcAft>
              <a:defRPr sz="1200" b="1">
                <a:solidFill>
                  <a:srgbClr val="A069FF"/>
                </a:solidFill>
                <a:latin typeface="Aptos"/>
              </a:defRPr>
            </a:pPr>
            <a:r>
              <a:t>WB</a:t>
            </a:r>
          </a:p>
        </p:txBody>
      </p:sp>
      <p:cxnSp>
        <p:nvCxnSpPr>
          <p:cNvPr id="121" name="Connector 120"/>
          <p:cNvCxnSpPr/>
          <p:nvPr/>
        </p:nvCxnSpPr>
        <p:spPr>
          <a:xfrm>
            <a:off x="914400" y="5120640"/>
            <a:ext cx="10241280" cy="0"/>
          </a:xfrm>
          <a:prstGeom prst="line">
            <a:avLst/>
          </a:prstGeom>
          <a:ln w="8890">
            <a:solidFill>
              <a:srgbClr val="464646"/>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91440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23" name="Rectangle 122"/>
          <p:cNvSpPr/>
          <p:nvPr/>
        </p:nvSpPr>
        <p:spPr>
          <a:xfrm>
            <a:off x="205232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24" name="Rectangle 123"/>
          <p:cNvSpPr/>
          <p:nvPr/>
        </p:nvSpPr>
        <p:spPr>
          <a:xfrm>
            <a:off x="319024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5</a:t>
            </a:r>
          </a:p>
        </p:txBody>
      </p:sp>
      <p:sp>
        <p:nvSpPr>
          <p:cNvPr id="125" name="Rectangle 124"/>
          <p:cNvSpPr/>
          <p:nvPr/>
        </p:nvSpPr>
        <p:spPr>
          <a:xfrm>
            <a:off x="432816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3</a:t>
            </a:r>
          </a:p>
        </p:txBody>
      </p:sp>
      <p:sp>
        <p:nvSpPr>
          <p:cNvPr id="126" name="Rectangle 125"/>
          <p:cNvSpPr/>
          <p:nvPr/>
        </p:nvSpPr>
        <p:spPr>
          <a:xfrm>
            <a:off x="546608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8</a:t>
            </a:r>
          </a:p>
        </p:txBody>
      </p:sp>
      <p:sp>
        <p:nvSpPr>
          <p:cNvPr id="127" name="Rectangle 126"/>
          <p:cNvSpPr/>
          <p:nvPr/>
        </p:nvSpPr>
        <p:spPr>
          <a:xfrm>
            <a:off x="660400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a</a:t>
            </a:r>
          </a:p>
        </p:txBody>
      </p:sp>
      <p:sp>
        <p:nvSpPr>
          <p:cNvPr id="128" name="Rectangle 127"/>
          <p:cNvSpPr/>
          <p:nvPr/>
        </p:nvSpPr>
        <p:spPr>
          <a:xfrm>
            <a:off x="774192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2</a:t>
            </a:r>
          </a:p>
        </p:txBody>
      </p:sp>
      <p:sp>
        <p:nvSpPr>
          <p:cNvPr id="129" name="Rectangle 128"/>
          <p:cNvSpPr/>
          <p:nvPr/>
        </p:nvSpPr>
        <p:spPr>
          <a:xfrm>
            <a:off x="887984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30" name="Rectangle 129"/>
          <p:cNvSpPr/>
          <p:nvPr/>
        </p:nvSpPr>
        <p:spPr>
          <a:xfrm>
            <a:off x="10017760" y="4837176"/>
            <a:ext cx="1110488" cy="292608"/>
          </a:xfrm>
          <a:prstGeom prst="rect">
            <a:avLst/>
          </a:prstGeom>
          <a:solidFill>
            <a:srgbClr val="1D1D1D"/>
          </a:solidFill>
          <a:ln w="17780">
            <a:solidFill>
              <a:srgbClr val="A069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900" b="0">
                <a:solidFill>
                  <a:srgbClr val="F5F5F5"/>
                </a:solidFill>
                <a:latin typeface="Aptos"/>
              </a:defRPr>
            </a:pPr>
            <a:r>
              <a:t>0</a:t>
            </a:r>
          </a:p>
        </p:txBody>
      </p:sp>
      <p:sp>
        <p:nvSpPr>
          <p:cNvPr id="131" name="TextBox 130"/>
          <p:cNvSpPr txBox="1"/>
          <p:nvPr/>
        </p:nvSpPr>
        <p:spPr>
          <a:xfrm>
            <a:off x="777240" y="5715000"/>
            <a:ext cx="10607040" cy="411480"/>
          </a:xfrm>
          <a:prstGeom prst="rect">
            <a:avLst/>
          </a:prstGeom>
          <a:noFill/>
        </p:spPr>
        <p:txBody>
          <a:bodyPr wrap="square" lIns="54864" tIns="54864" rIns="54864" bIns="54864" anchor="t">
            <a:spAutoFit/>
          </a:bodyPr>
          <a:lstStyle/>
          <a:p>
            <a:pPr>
              <a:spcAft>
                <a:spcPts val="500"/>
              </a:spcAft>
              <a:defRPr sz="1400" b="0">
                <a:solidFill>
                  <a:srgbClr val="F5F5F5"/>
                </a:solidFill>
                <a:latin typeface="Aptos"/>
              </a:defRPr>
            </a:pPr>
            <a:r>
              <a:t>Waveform helps confirm signal timing, but the testbench's expected-versus-actual checks are needed to judge correctness.</a:t>
            </a:r>
          </a:p>
        </p:txBody>
      </p:sp>
      <p:pic>
        <p:nvPicPr>
          <p:cNvPr id="135" name="Hình ảnh 134">
            <a:extLst>
              <a:ext uri="{FF2B5EF4-FFF2-40B4-BE49-F238E27FC236}">
                <a16:creationId xmlns:a16="http://schemas.microsoft.com/office/drawing/2014/main" id="{138E015E-01F6-8887-4729-ECE3E7CEB9E9}"/>
              </a:ext>
            </a:extLst>
          </p:cNvPr>
          <p:cNvPicPr>
            <a:picLocks noChangeAspect="1"/>
          </p:cNvPicPr>
          <p:nvPr/>
        </p:nvPicPr>
        <p:blipFill>
          <a:blip r:embed="rId2"/>
          <a:stretch>
            <a:fillRect/>
          </a:stretch>
        </p:blipFill>
        <p:spPr>
          <a:xfrm>
            <a:off x="0" y="1095997"/>
            <a:ext cx="12192000" cy="46660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384048" y="320040"/>
            <a:ext cx="73152" cy="502920"/>
          </a:xfrm>
          <a:prstGeom prst="rect">
            <a:avLst/>
          </a:prstGeom>
          <a:solidFill>
            <a:srgbClr val="00D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56032"/>
            <a:ext cx="11155680" cy="548640"/>
          </a:xfrm>
          <a:prstGeom prst="rect">
            <a:avLst/>
          </a:prstGeom>
          <a:noFill/>
        </p:spPr>
        <p:txBody>
          <a:bodyPr wrap="square" lIns="54864" tIns="54864" rIns="54864" bIns="54864" anchor="t">
            <a:spAutoFit/>
          </a:bodyPr>
          <a:lstStyle/>
          <a:p>
            <a:pPr>
              <a:spcAft>
                <a:spcPts val="500"/>
              </a:spcAft>
              <a:defRPr sz="2500" b="1">
                <a:solidFill>
                  <a:srgbClr val="F5F5F5"/>
                </a:solidFill>
                <a:latin typeface="Aptos"/>
              </a:defRPr>
            </a:pPr>
            <a:r>
              <a:t>CONCLUSION</a:t>
            </a:r>
          </a:p>
        </p:txBody>
      </p:sp>
      <p:cxnSp>
        <p:nvCxnSpPr>
          <p:cNvPr id="4" name="Connector 3"/>
          <p:cNvCxnSpPr/>
          <p:nvPr/>
        </p:nvCxnSpPr>
        <p:spPr>
          <a:xfrm>
            <a:off x="502920" y="932688"/>
            <a:ext cx="11201400" cy="0"/>
          </a:xfrm>
          <a:prstGeom prst="line">
            <a:avLst/>
          </a:prstGeom>
          <a:ln w="10160">
            <a:solidFill>
              <a:srgbClr val="46464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510528"/>
            <a:ext cx="8046720" cy="182880"/>
          </a:xfrm>
          <a:prstGeom prst="rect">
            <a:avLst/>
          </a:prstGeom>
          <a:noFill/>
        </p:spPr>
        <p:txBody>
          <a:bodyPr wrap="square" lIns="54864" tIns="54864" rIns="54864" bIns="54864" anchor="t">
            <a:spAutoFit/>
          </a:bodyPr>
          <a:lstStyle/>
          <a:p>
            <a:pPr>
              <a:spcAft>
                <a:spcPts val="500"/>
              </a:spcAft>
              <a:defRPr sz="900" b="0">
                <a:solidFill>
                  <a:srgbClr val="AFAFAF"/>
                </a:solidFill>
                <a:latin typeface="Aptos"/>
              </a:defRPr>
            </a:pPr>
            <a:r>
              <a:t>WRAP-UP</a:t>
            </a:r>
          </a:p>
        </p:txBody>
      </p:sp>
      <p:sp>
        <p:nvSpPr>
          <p:cNvPr id="6" name="TextBox 5"/>
          <p:cNvSpPr txBox="1"/>
          <p:nvPr/>
        </p:nvSpPr>
        <p:spPr>
          <a:xfrm>
            <a:off x="11155680" y="6473952"/>
            <a:ext cx="502920" cy="228600"/>
          </a:xfrm>
          <a:prstGeom prst="rect">
            <a:avLst/>
          </a:prstGeom>
          <a:noFill/>
        </p:spPr>
        <p:txBody>
          <a:bodyPr wrap="square" lIns="54864" tIns="54864" rIns="54864" bIns="54864" anchor="t">
            <a:spAutoFit/>
          </a:bodyPr>
          <a:lstStyle/>
          <a:p>
            <a:pPr algn="r">
              <a:spcAft>
                <a:spcPts val="500"/>
              </a:spcAft>
              <a:defRPr sz="1000" b="1">
                <a:solidFill>
                  <a:srgbClr val="00DCEB"/>
                </a:solidFill>
                <a:latin typeface="Aptos"/>
              </a:defRPr>
            </a:pPr>
            <a:r>
              <a:t>25</a:t>
            </a:r>
          </a:p>
        </p:txBody>
      </p:sp>
      <p:sp>
        <p:nvSpPr>
          <p:cNvPr id="7" name="TextBox 6"/>
          <p:cNvSpPr txBox="1"/>
          <p:nvPr/>
        </p:nvSpPr>
        <p:spPr>
          <a:xfrm>
            <a:off x="822960" y="1417320"/>
            <a:ext cx="6400800" cy="4297680"/>
          </a:xfrm>
          <a:prstGeom prst="rect">
            <a:avLst/>
          </a:prstGeom>
          <a:noFill/>
        </p:spPr>
        <p:txBody>
          <a:bodyPr wrap="square" lIns="45720" tIns="36576" rIns="36576" bIns="36576">
            <a:spAutoFit/>
          </a:bodyPr>
          <a:lstStyle/>
          <a:p>
            <a:pPr>
              <a:spcAft>
                <a:spcPts val="1000"/>
              </a:spcAft>
              <a:defRPr sz="1700">
                <a:solidFill>
                  <a:srgbClr val="F5F5F5"/>
                </a:solidFill>
                <a:latin typeface="Aptos"/>
              </a:defRPr>
            </a:pPr>
            <a:r>
              <a:t>•  The design combines a 4-bit datapath with a 12-bit instruction format.</a:t>
            </a:r>
          </a:p>
          <a:p>
            <a:pPr>
              <a:spcAft>
                <a:spcPts val="1000"/>
              </a:spcAft>
              <a:defRPr sz="1700">
                <a:solidFill>
                  <a:srgbClr val="F5F5F5"/>
                </a:solidFill>
                <a:latin typeface="Aptos"/>
              </a:defRPr>
            </a:pPr>
            <a:r>
              <a:t>•  The main blocks work together through the IF, ID, and EX stages.</a:t>
            </a:r>
          </a:p>
          <a:p>
            <a:pPr>
              <a:spcAft>
                <a:spcPts val="1000"/>
              </a:spcAft>
              <a:defRPr sz="1700">
                <a:solidFill>
                  <a:srgbClr val="F5F5F5"/>
                </a:solidFill>
                <a:latin typeface="Aptos"/>
              </a:defRPr>
            </a:pPr>
            <a:r>
              <a:t>•  The schematic explains the data path, while the testbench checks behavior over time.</a:t>
            </a:r>
          </a:p>
          <a:p>
            <a:pPr>
              <a:spcAft>
                <a:spcPts val="1000"/>
              </a:spcAft>
              <a:defRPr sz="1700">
                <a:solidFill>
                  <a:srgbClr val="F5F5F5"/>
                </a:solidFill>
                <a:latin typeface="Aptos"/>
              </a:defRPr>
            </a:pPr>
            <a:r>
              <a:t>•  The current simulation passes many checks but still has 5 failures out of 33.</a:t>
            </a:r>
          </a:p>
          <a:p>
            <a:pPr>
              <a:spcAft>
                <a:spcPts val="1000"/>
              </a:spcAft>
              <a:defRPr sz="1700">
                <a:solidFill>
                  <a:srgbClr val="F5F5F5"/>
                </a:solidFill>
                <a:latin typeface="Aptos"/>
              </a:defRPr>
            </a:pPr>
            <a:r>
              <a:t>•  The next step is to fix PC reset/update behavior and re-verify LDI and ADD.</a:t>
            </a:r>
          </a:p>
        </p:txBody>
      </p:sp>
      <p:sp>
        <p:nvSpPr>
          <p:cNvPr id="8" name="Rectangle 7"/>
          <p:cNvSpPr/>
          <p:nvPr/>
        </p:nvSpPr>
        <p:spPr>
          <a:xfrm>
            <a:off x="7772400" y="1828800"/>
            <a:ext cx="3200400" cy="914400"/>
          </a:xfrm>
          <a:prstGeom prst="rect">
            <a:avLst/>
          </a:prstGeom>
          <a:solidFill>
            <a:srgbClr val="1D1D1D"/>
          </a:solidFill>
          <a:ln w="17780">
            <a:solidFill>
              <a:srgbClr val="5096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2000" b="1">
                <a:solidFill>
                  <a:srgbClr val="F5F5F5"/>
                </a:solidFill>
                <a:latin typeface="Aptos"/>
              </a:defRPr>
            </a:pPr>
            <a:r>
              <a:t>Design</a:t>
            </a:r>
          </a:p>
        </p:txBody>
      </p:sp>
      <p:sp>
        <p:nvSpPr>
          <p:cNvPr id="9" name="Rectangle 8"/>
          <p:cNvSpPr/>
          <p:nvPr/>
        </p:nvSpPr>
        <p:spPr>
          <a:xfrm>
            <a:off x="7772400" y="3063240"/>
            <a:ext cx="3200400" cy="914400"/>
          </a:xfrm>
          <a:prstGeom prst="rect">
            <a:avLst/>
          </a:prstGeom>
          <a:solidFill>
            <a:srgbClr val="1D1D1D"/>
          </a:solidFill>
          <a:ln w="17780">
            <a:solidFill>
              <a:srgbClr val="FF873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2000" b="1">
                <a:solidFill>
                  <a:srgbClr val="F5F5F5"/>
                </a:solidFill>
                <a:latin typeface="Aptos"/>
              </a:defRPr>
            </a:pPr>
            <a:r>
              <a:t>Simulate</a:t>
            </a:r>
          </a:p>
        </p:txBody>
      </p:sp>
      <p:sp>
        <p:nvSpPr>
          <p:cNvPr id="10" name="Rectangle 9"/>
          <p:cNvSpPr/>
          <p:nvPr/>
        </p:nvSpPr>
        <p:spPr>
          <a:xfrm>
            <a:off x="7772400" y="4297680"/>
            <a:ext cx="3200400" cy="914400"/>
          </a:xfrm>
          <a:prstGeom prst="rect">
            <a:avLst/>
          </a:prstGeom>
          <a:solidFill>
            <a:srgbClr val="1D1D1D"/>
          </a:solidFill>
          <a:ln w="17780">
            <a:solidFill>
              <a:srgbClr val="5AC882"/>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defRPr sz="2000" b="1">
                <a:solidFill>
                  <a:srgbClr val="F5F5F5"/>
                </a:solidFill>
                <a:latin typeface="Aptos"/>
              </a:defRPr>
            </a:pPr>
            <a:r>
              <a:t>Debug → Verify</a:t>
            </a:r>
          </a:p>
        </p:txBody>
      </p:sp>
      <p:sp>
        <p:nvSpPr>
          <p:cNvPr id="11" name="TextBox 10"/>
          <p:cNvSpPr txBox="1"/>
          <p:nvPr/>
        </p:nvSpPr>
        <p:spPr>
          <a:xfrm>
            <a:off x="868680" y="5943600"/>
            <a:ext cx="10241280" cy="320040"/>
          </a:xfrm>
          <a:prstGeom prst="rect">
            <a:avLst/>
          </a:prstGeom>
          <a:noFill/>
        </p:spPr>
        <p:txBody>
          <a:bodyPr wrap="square" lIns="54864" tIns="54864" rIns="54864" bIns="54864" anchor="t">
            <a:spAutoFit/>
          </a:bodyPr>
          <a:lstStyle/>
          <a:p>
            <a:pPr>
              <a:spcAft>
                <a:spcPts val="500"/>
              </a:spcAft>
              <a:defRPr sz="1800" b="1">
                <a:solidFill>
                  <a:srgbClr val="00DCEB"/>
                </a:solidFill>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3815</Words>
  <Application>Microsoft Office PowerPoint</Application>
  <PresentationFormat>Màn hình rộng</PresentationFormat>
  <Paragraphs>465</Paragraphs>
  <Slides>21</Slides>
  <Notes>15</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21</vt:i4>
      </vt:variant>
    </vt:vector>
  </HeadingPairs>
  <TitlesOfParts>
    <vt:vector size="24" baseType="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Phạm Quốc Việt</dc:creator>
  <cp:keywords/>
  <dc:description>generated using python-pptx</dc:description>
  <cp:lastModifiedBy>Phạm Quốc Việt</cp:lastModifiedBy>
  <cp:revision>4</cp:revision>
  <dcterms:created xsi:type="dcterms:W3CDTF">2013-01-27T09:14:16Z</dcterms:created>
  <dcterms:modified xsi:type="dcterms:W3CDTF">2026-10-09T07:45:02Z</dcterms:modified>
  <cp:category/>
</cp:coreProperties>
</file>