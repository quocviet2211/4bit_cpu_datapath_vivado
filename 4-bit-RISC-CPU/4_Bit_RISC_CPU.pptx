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1" r:id="rId3"/>
    <p:sldId id="282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C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96" y="3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731520"/>
            <a:ext cx="109728" cy="1280160"/>
          </a:xfrm>
          <a:prstGeom prst="rect">
            <a:avLst/>
          </a:prstGeom>
          <a:solidFill>
            <a:srgbClr val="00DCEB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424160" cy="11887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5F5F5"/>
                </a:solidFill>
                <a:latin typeface="Aptos"/>
              </a:defRPr>
            </a:pPr>
            <a:r>
              <a:t>4-BIT RISC CPU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1828800"/>
            <a:ext cx="978408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00DCEB"/>
                </a:solidFill>
                <a:latin typeface="Aptos"/>
              </a:defRPr>
            </a:pPr>
            <a:r>
              <a:t>Architecture • Datapath • Schematic • Testbench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88920"/>
            <a:ext cx="8686800" cy="10972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AFAFAF"/>
                </a:solidFill>
                <a:latin typeface="Aptos"/>
              </a:defRPr>
            </a:pPr>
            <a:r>
              <a:t>A Verilog HDL project with a 3-stage pipeline</a:t>
            </a:r>
          </a:p>
          <a:p>
            <a:pPr>
              <a:spcAft>
                <a:spcPts val="500"/>
              </a:spcAft>
              <a:defRPr sz="1800" b="0">
                <a:solidFill>
                  <a:srgbClr val="AFAFAF"/>
                </a:solidFill>
                <a:latin typeface="Aptos"/>
              </a:defRPr>
            </a:pPr>
            <a:r>
              <a:t>Focus: how the CPU fetches, decodes, executes, and verifies instructions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846320"/>
            <a:ext cx="1143000" cy="594360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IF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846320"/>
            <a:ext cx="1143000" cy="59436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846320"/>
            <a:ext cx="1143000" cy="594360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EX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4846320"/>
            <a:ext cx="1143000" cy="594360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MEM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4846320"/>
            <a:ext cx="1143000" cy="594360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WB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57400" y="5148072"/>
            <a:ext cx="1051560" cy="0"/>
          </a:xfrm>
          <a:prstGeom prst="line">
            <a:avLst/>
          </a:prstGeom>
          <a:ln w="2540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43400" y="5148072"/>
            <a:ext cx="1051560" cy="0"/>
          </a:xfrm>
          <a:prstGeom prst="line">
            <a:avLst/>
          </a:prstGeom>
          <a:ln w="2540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29400" y="5148072"/>
            <a:ext cx="1051560" cy="0"/>
          </a:xfrm>
          <a:prstGeom prst="line">
            <a:avLst/>
          </a:prstGeom>
          <a:ln w="2540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915400" y="5148072"/>
            <a:ext cx="1051560" cy="0"/>
          </a:xfrm>
          <a:prstGeom prst="line">
            <a:avLst/>
          </a:prstGeom>
          <a:ln w="2540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5989320"/>
            <a:ext cx="9875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AFAFAF"/>
                </a:solidFill>
                <a:latin typeface="Aptos"/>
              </a:defRPr>
            </a:pPr>
            <a:r>
              <a:t>Project presentation • Functional simulation and current test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9184" y="256032"/>
            <a:ext cx="64008" cy="438912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0642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500" b="1">
                <a:solidFill>
                  <a:srgbClr val="F5F5F5"/>
                </a:solidFill>
                <a:latin typeface="Arial"/>
              </a:defRPr>
            </a:pPr>
            <a:r>
              <a:t>ALU VS CPU: WHAT IS THE DIFFERENCE?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50292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1">
                <a:solidFill>
                  <a:srgbClr val="00DCEB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5349240" cy="4480560"/>
          </a:xfrm>
          <a:prstGeom prst="roundRect">
            <a:avLst/>
          </a:prstGeom>
          <a:solidFill>
            <a:srgbClr val="1F1F1F"/>
          </a:solidFill>
          <a:ln w="1524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161288"/>
            <a:ext cx="5020055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700" b="1">
                <a:solidFill>
                  <a:srgbClr val="00DCEB"/>
                </a:solidFill>
                <a:latin typeface="Arial"/>
              </a:defRPr>
            </a:pPr>
            <a:r>
              <a:t>ALU — Arithmetic Logic 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5020055" cy="38587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r>
              <a:t>• A processing block inside the CPU</a:t>
            </a:r>
          </a:p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r>
              <a:t>• Performs arithmetic: ADD, SUB</a:t>
            </a:r>
          </a:p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r>
              <a:t>• Performs logic: AND, OR, XOR, NOT</a:t>
            </a:r>
          </a:p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r>
              <a:t>• Produces a result and status flags (Zero, Carry)</a:t>
            </a:r>
          </a:p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r>
              <a:t>• Does not fetch or decode instructions by itself</a:t>
            </a:r>
          </a:p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endParaRPr/>
          </a:p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r>
              <a:t>In this project: the ALU is 4-bit wide.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51560"/>
            <a:ext cx="5349240" cy="4480560"/>
          </a:xfrm>
          <a:prstGeom prst="roundRect">
            <a:avLst/>
          </a:prstGeom>
          <a:solidFill>
            <a:srgbClr val="1F1F1F"/>
          </a:solidFill>
          <a:ln w="15240"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161288"/>
            <a:ext cx="5020055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700" b="1">
                <a:solidFill>
                  <a:srgbClr val="FF9137"/>
                </a:solidFill>
                <a:latin typeface="Arial"/>
              </a:defRPr>
            </a:pPr>
            <a:r>
              <a:t>CPU — Central Processing Unit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1554480"/>
            <a:ext cx="5020055" cy="38587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r>
              <a:t>• The complete processor system</a:t>
            </a:r>
          </a:p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r>
              <a:t>• Fetches instructions using the PC and Instruction Memory</a:t>
            </a:r>
          </a:p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r>
              <a:t>• Decodes instructions in the Control Unit</a:t>
            </a:r>
          </a:p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r>
              <a:t>• Uses the Register File, ALU, MUXes and memory</a:t>
            </a:r>
          </a:p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r>
              <a:t>• Updates the PC, flags and registers as instructions run</a:t>
            </a:r>
          </a:p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endParaRPr/>
          </a:p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r>
              <a:t>In this project: a 4-bit RISC CPU with a 3-stage pipeline.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881360" cy="438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800" b="1">
                <a:solidFill>
                  <a:srgbClr val="00DCEB"/>
                </a:solidFill>
                <a:latin typeface="Arial"/>
              </a:defRPr>
            </a:pPr>
            <a:r>
              <a:t>Key idea: The ALU is one part of the CPU. The CPU controls the full instruction flow.</a:t>
            </a:r>
          </a:p>
        </p:txBody>
      </p:sp>
    </p:spTree>
    <p:extLst>
      <p:ext uri="{BB962C8B-B14F-4D97-AF65-F5344CB8AC3E}">
        <p14:creationId xmlns:p14="http://schemas.microsoft.com/office/powerpoint/2010/main" val="1613716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9184" y="256032"/>
            <a:ext cx="64008" cy="438912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0642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500" b="1">
                <a:solidFill>
                  <a:srgbClr val="F5F5F5"/>
                </a:solidFill>
                <a:latin typeface="Arial"/>
              </a:defRPr>
            </a:pPr>
            <a:r>
              <a:t>HOW THE ALU WORKS INSIDE THE CPU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50292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1">
                <a:solidFill>
                  <a:srgbClr val="00DCEB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874519" cy="1417320"/>
          </a:xfrm>
          <a:prstGeom prst="roundRect">
            <a:avLst/>
          </a:prstGeom>
          <a:solidFill>
            <a:srgbClr val="234C69"/>
          </a:solidFill>
          <a:ln w="1524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993392"/>
            <a:ext cx="1728216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00" b="1">
                <a:solidFill>
                  <a:srgbClr val="F5F5F5"/>
                </a:solidFill>
                <a:latin typeface="Arial"/>
              </a:defRPr>
            </a:pPr>
            <a:r>
              <a:t>1. FETCH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95728"/>
            <a:ext cx="1691640" cy="6583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100" b="0">
                <a:solidFill>
                  <a:srgbClr val="F5F5F5"/>
                </a:solidFill>
                <a:latin typeface="Arial"/>
              </a:defRPr>
            </a:pPr>
            <a:r>
              <a:t>PC + Instruction Memory</a:t>
            </a:r>
          </a:p>
          <a:p>
            <a:pPr algn="ctr">
              <a:defRPr sz="1100" b="0">
                <a:solidFill>
                  <a:srgbClr val="F5F5F5"/>
                </a:solidFill>
                <a:latin typeface="Arial"/>
              </a:defRPr>
            </a:pPr>
            <a:r>
              <a:t>get the instruction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828800"/>
            <a:ext cx="1874519" cy="1417320"/>
          </a:xfrm>
          <a:prstGeom prst="roundRect">
            <a:avLst/>
          </a:prstGeom>
          <a:solidFill>
            <a:srgbClr val="683923"/>
          </a:solidFill>
          <a:ln w="1524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07792" y="1993392"/>
            <a:ext cx="1728216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00" b="1">
                <a:solidFill>
                  <a:srgbClr val="F5F5F5"/>
                </a:solidFill>
                <a:latin typeface="Arial"/>
              </a:defRPr>
            </a:pPr>
            <a:r>
              <a:t>2. DECODE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95728"/>
            <a:ext cx="1691640" cy="6583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100" b="0">
                <a:solidFill>
                  <a:srgbClr val="F5F5F5"/>
                </a:solidFill>
                <a:latin typeface="Arial"/>
              </a:defRPr>
            </a:pPr>
            <a:r>
              <a:t>Control Unit identifies</a:t>
            </a:r>
          </a:p>
          <a:p>
            <a:pPr algn="ctr">
              <a:defRPr sz="1100" b="0">
                <a:solidFill>
                  <a:srgbClr val="F5F5F5"/>
                </a:solidFill>
                <a:latin typeface="Arial"/>
              </a:defRPr>
            </a:pPr>
            <a:r>
              <a:t>opcode and operands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828800"/>
            <a:ext cx="1874519" cy="1417320"/>
          </a:xfrm>
          <a:prstGeom prst="roundRect">
            <a:avLst/>
          </a:prstGeom>
          <a:solidFill>
            <a:srgbClr val="235F44"/>
          </a:solidFill>
          <a:ln w="1524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9512" y="1993392"/>
            <a:ext cx="1728216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00" b="1">
                <a:solidFill>
                  <a:srgbClr val="F5F5F5"/>
                </a:solidFill>
                <a:latin typeface="Arial"/>
              </a:defRPr>
            </a:pPr>
            <a:r>
              <a:t>3. EXECUTE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395728"/>
            <a:ext cx="1691640" cy="6583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100" b="0">
                <a:solidFill>
                  <a:srgbClr val="F5F5F5"/>
                </a:solidFill>
                <a:latin typeface="Arial"/>
              </a:defRPr>
            </a:pPr>
            <a:r>
              <a:t>MUX selects inputs;</a:t>
            </a:r>
          </a:p>
          <a:p>
            <a:pPr algn="ctr">
              <a:defRPr sz="1100" b="0">
                <a:solidFill>
                  <a:srgbClr val="F5F5F5"/>
                </a:solidFill>
                <a:latin typeface="Arial"/>
              </a:defRPr>
            </a:pPr>
            <a:r>
              <a:t>ALU computes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828800"/>
            <a:ext cx="1874519" cy="1417320"/>
          </a:xfrm>
          <a:prstGeom prst="roundRect">
            <a:avLst/>
          </a:prstGeom>
          <a:solidFill>
            <a:srgbClr val="68521C"/>
          </a:solidFill>
          <a:ln w="1524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71231" y="1993392"/>
            <a:ext cx="1728216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00" b="1">
                <a:solidFill>
                  <a:srgbClr val="F5F5F5"/>
                </a:solidFill>
                <a:latin typeface="Arial"/>
              </a:defRPr>
            </a:pPr>
            <a:r>
              <a:t>4.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395728"/>
            <a:ext cx="1691640" cy="6583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100" b="0">
                <a:solidFill>
                  <a:srgbClr val="F5F5F5"/>
                </a:solidFill>
                <a:latin typeface="Arial"/>
              </a:defRPr>
            </a:pPr>
            <a:r>
              <a:t>Data Memory is used</a:t>
            </a:r>
          </a:p>
          <a:p>
            <a:pPr algn="ctr">
              <a:defRPr sz="1100" b="0">
                <a:solidFill>
                  <a:srgbClr val="F5F5F5"/>
                </a:solidFill>
                <a:latin typeface="Arial"/>
              </a:defRPr>
            </a:pPr>
            <a:r>
              <a:t>when required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1828800"/>
            <a:ext cx="1874519" cy="1417320"/>
          </a:xfrm>
          <a:prstGeom prst="roundRect">
            <a:avLst/>
          </a:prstGeom>
          <a:solidFill>
            <a:srgbClr val="4B3769"/>
          </a:solidFill>
          <a:ln w="1524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02952" y="1993392"/>
            <a:ext cx="1728216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200" b="1">
                <a:solidFill>
                  <a:srgbClr val="F5F5F5"/>
                </a:solidFill>
                <a:latin typeface="Arial"/>
              </a:defRPr>
            </a:pPr>
            <a:r>
              <a:t>5. WRITE-BACK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395728"/>
            <a:ext cx="1691640" cy="6583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100" b="0">
                <a:solidFill>
                  <a:srgbClr val="F5F5F5"/>
                </a:solidFill>
                <a:latin typeface="Arial"/>
              </a:defRPr>
            </a:pPr>
            <a:r>
              <a:t>MUX selects data;</a:t>
            </a:r>
          </a:p>
          <a:p>
            <a:pPr algn="ctr">
              <a:defRPr sz="1100" b="0">
                <a:solidFill>
                  <a:srgbClr val="F5F5F5"/>
                </a:solidFill>
                <a:latin typeface="Arial"/>
              </a:defRPr>
            </a:pPr>
            <a:r>
              <a:t>register is updated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450592" y="2331720"/>
            <a:ext cx="310896" cy="347472"/>
          </a:xfrm>
          <a:prstGeom prst="rightArrow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4782312" y="2331720"/>
            <a:ext cx="310896" cy="347472"/>
          </a:xfrm>
          <a:prstGeom prst="rightArrow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7114032" y="2331720"/>
            <a:ext cx="310896" cy="347472"/>
          </a:xfrm>
          <a:prstGeom prst="rightArrow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9445752" y="2331720"/>
            <a:ext cx="310896" cy="347472"/>
          </a:xfrm>
          <a:prstGeom prst="rightArrow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" y="3794760"/>
            <a:ext cx="5257800" cy="1600200"/>
          </a:xfrm>
          <a:prstGeom prst="roundRect">
            <a:avLst/>
          </a:prstGeom>
          <a:solidFill>
            <a:srgbClr val="1F1F1F"/>
          </a:solidFill>
          <a:ln w="1524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904488"/>
            <a:ext cx="4928616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700" b="1">
                <a:solidFill>
                  <a:srgbClr val="00DCEB"/>
                </a:solidFill>
                <a:latin typeface="Arial"/>
              </a:defRPr>
            </a:pPr>
            <a:r>
              <a:t>Example: ADD R1, R2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297680"/>
            <a:ext cx="4928616" cy="97840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r>
              <a:t>The CPU fetches and decodes the ADD instruction.</a:t>
            </a:r>
          </a:p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r>
              <a:t>The ALU adds the values in R1 and R2.</a:t>
            </a:r>
          </a:p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r>
              <a:t>The CPU writes the result back to the destination register.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794760"/>
            <a:ext cx="5257800" cy="1600200"/>
          </a:xfrm>
          <a:prstGeom prst="roundRect">
            <a:avLst/>
          </a:prstGeom>
          <a:solidFill>
            <a:srgbClr val="1F1F1F"/>
          </a:solidFill>
          <a:ln w="15240"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3904488"/>
            <a:ext cx="4928616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700" b="1">
                <a:solidFill>
                  <a:srgbClr val="FF9137"/>
                </a:solidFill>
                <a:latin typeface="Arial"/>
              </a:defRPr>
            </a:pPr>
            <a:r>
              <a:t>Why the CPU needs more than an ALU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297680"/>
            <a:ext cx="4928616" cy="97840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r>
              <a:t>The ALU cannot choose the next instruction, read the instruction memory, or manage register write-back alone.</a:t>
            </a:r>
          </a:p>
          <a:p>
            <a:pPr>
              <a:defRPr sz="1400" b="0">
                <a:solidFill>
                  <a:srgbClr val="F5F5F5"/>
                </a:solidFill>
                <a:latin typeface="Arial"/>
              </a:defRPr>
            </a:pPr>
            <a:r>
              <a:t>The CPU’s control and datapath blocks coordinate these actions.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06440"/>
            <a:ext cx="108813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700" b="1">
                <a:solidFill>
                  <a:srgbClr val="00DCEB"/>
                </a:solidFill>
                <a:latin typeface="Arial"/>
              </a:defRPr>
            </a:pPr>
            <a:r>
              <a:t>ALU = calculation unit  |  CPU = complete instruction-processing system</a:t>
            </a:r>
          </a:p>
        </p:txBody>
      </p:sp>
    </p:spTree>
    <p:extLst>
      <p:ext uri="{BB962C8B-B14F-4D97-AF65-F5344CB8AC3E}">
        <p14:creationId xmlns:p14="http://schemas.microsoft.com/office/powerpoint/2010/main" val="1564529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PRESENTATION ROADMAP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3337560" cy="123444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01</a:t>
            </a:r>
          </a:p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CPU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1417320"/>
            <a:ext cx="3337560" cy="1234440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02</a:t>
            </a:r>
          </a:p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Instruction format &amp; registers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417320"/>
            <a:ext cx="3337560" cy="123444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03</a:t>
            </a:r>
          </a:p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Main hardware blocks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29000"/>
            <a:ext cx="3337560" cy="1234440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04</a:t>
            </a:r>
          </a:p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Datapath schematic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3429000"/>
            <a:ext cx="3337560" cy="1234440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05</a:t>
            </a:r>
          </a:p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Pipeline operation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3429000"/>
            <a:ext cx="3337560" cy="1234440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06</a:t>
            </a:r>
          </a:p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Testbench &amp;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AFAFAF"/>
                </a:solidFill>
                <a:latin typeface="Aptos"/>
              </a:defRPr>
            </a:pPr>
            <a:r>
              <a:t>The presentation follows the same path as the data inside the CPU: instruction in → control → result 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WHAT IS A 4-BIT RISC CPU?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486400" cy="4480560"/>
          </a:xfrm>
          <a:prstGeom prst="rect">
            <a:avLst/>
          </a:prstGeom>
          <a:noFill/>
        </p:spPr>
        <p:txBody>
          <a:bodyPr wrap="square" lIns="45720" tIns="36576" rIns="36576" b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Aptos"/>
              </a:defRPr>
            </a:pPr>
            <a:r>
              <a:t>•  4-bit datapath: the ALU and general-purpose registers process 4-bit values.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Aptos"/>
              </a:defRPr>
            </a:pPr>
            <a:r>
              <a:t>•  RISC means a small, simple instruction set with a regular instruction format.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Aptos"/>
              </a:defRPr>
            </a:pPr>
            <a:r>
              <a:t>•  The project is written in Verilog HDL and tested with Vivado/XSim.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Aptos"/>
              </a:defRPr>
            </a:pPr>
            <a:r>
              <a:t>•  The design uses a 3-stage pipeline: IF, ID, and EX.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Aptos"/>
              </a:defRPr>
            </a:pPr>
            <a:r>
              <a:t>•  The instruction word is 12 bits wide; the program counter is 4 bits wide.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0" y="1508760"/>
            <a:ext cx="4480560" cy="73152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12-bit instruction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60320"/>
            <a:ext cx="4480560" cy="731520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4-bit data / ALU 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3611880"/>
            <a:ext cx="4480560" cy="73152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4 general-purpose registers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4663440"/>
            <a:ext cx="4480560" cy="731520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3 pipeline stages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KEY DESIGN SPECIFICATIONS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2468880" cy="50292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5F5F5"/>
                </a:solidFill>
                <a:latin typeface="Aptos"/>
              </a:defRPr>
            </a:pPr>
            <a:r>
              <a:t>Datapath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234440"/>
            <a:ext cx="2011680" cy="50292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5F5F5"/>
                </a:solidFill>
                <a:latin typeface="Aptos"/>
              </a:defRPr>
            </a:pPr>
            <a:r>
              <a:t>4 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280160"/>
            <a:ext cx="53035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5F5F5"/>
                </a:solidFill>
                <a:latin typeface="Aptos"/>
              </a:defRPr>
            </a:pPr>
            <a:r>
              <a:t>Data and ALU result width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29384"/>
            <a:ext cx="2468880" cy="50292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5F5F5"/>
                </a:solidFill>
                <a:latin typeface="Aptos"/>
              </a:defRPr>
            </a:pPr>
            <a:r>
              <a:t>Instruction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929384"/>
            <a:ext cx="2011680" cy="50292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5F5F5"/>
                </a:solidFill>
                <a:latin typeface="Aptos"/>
              </a:defRPr>
            </a:pPr>
            <a:r>
              <a:t>12 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1975104"/>
            <a:ext cx="53035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5F5F5"/>
                </a:solidFill>
                <a:latin typeface="Aptos"/>
              </a:defRPr>
            </a:pPr>
            <a:r>
              <a:t>Opcode + register fields + immediate/address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24328"/>
            <a:ext cx="2468880" cy="50292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5F5F5"/>
                </a:solidFill>
                <a:latin typeface="Aptos"/>
              </a:defRPr>
            </a:pPr>
            <a:r>
              <a:t>Program Counter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624328"/>
            <a:ext cx="2011680" cy="50292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5F5F5"/>
                </a:solidFill>
                <a:latin typeface="Aptos"/>
              </a:defRPr>
            </a:pPr>
            <a:r>
              <a:t>4 bits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670048"/>
            <a:ext cx="53035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5F5F5"/>
                </a:solidFill>
                <a:latin typeface="Aptos"/>
              </a:defRPr>
            </a:pPr>
            <a:r>
              <a:t>Addresses 16 instruction locations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19272"/>
            <a:ext cx="2468880" cy="50292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5F5F5"/>
                </a:solidFill>
                <a:latin typeface="Aptos"/>
              </a:defRPr>
            </a:pPr>
            <a:r>
              <a:t>Instruction Memory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319272"/>
            <a:ext cx="2011680" cy="50292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5F5F5"/>
                </a:solidFill>
                <a:latin typeface="Aptos"/>
              </a:defRPr>
            </a:pPr>
            <a:r>
              <a:t>16 ×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364992"/>
            <a:ext cx="53035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5F5F5"/>
                </a:solidFill>
                <a:latin typeface="Aptos"/>
              </a:defRPr>
            </a:pPr>
            <a:r>
              <a:t>16 words, each 12 bits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14216"/>
            <a:ext cx="2468880" cy="50292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5F5F5"/>
                </a:solidFill>
                <a:latin typeface="Aptos"/>
              </a:defRPr>
            </a:pPr>
            <a:r>
              <a:t>Data Memory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4014216"/>
            <a:ext cx="2011680" cy="50292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5F5F5"/>
                </a:solidFill>
                <a:latin typeface="Aptos"/>
              </a:defRPr>
            </a:pPr>
            <a:r>
              <a:t>16 ×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4059936"/>
            <a:ext cx="53035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5F5F5"/>
                </a:solidFill>
                <a:latin typeface="Aptos"/>
              </a:defRPr>
            </a:pPr>
            <a:r>
              <a:t>16 words, each 4 bits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709160"/>
            <a:ext cx="2468880" cy="50292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5F5F5"/>
                </a:solidFill>
                <a:latin typeface="Aptos"/>
              </a:defRPr>
            </a:pPr>
            <a:r>
              <a:t>Register File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4709160"/>
            <a:ext cx="2011680" cy="50292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5F5F5"/>
                </a:solidFill>
                <a:latin typeface="Aptos"/>
              </a:defRPr>
            </a:pPr>
            <a:r>
              <a:t>R0–R3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4754880"/>
            <a:ext cx="53035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5F5F5"/>
                </a:solidFill>
                <a:latin typeface="Aptos"/>
              </a:defRPr>
            </a:pPr>
            <a:r>
              <a:t>Four 4-bit registers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404104"/>
            <a:ext cx="2468880" cy="50292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5F5F5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5404104"/>
            <a:ext cx="2011680" cy="50292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5F5F5"/>
                </a:solidFill>
                <a:latin typeface="Aptos"/>
              </a:defRPr>
            </a:pPr>
            <a:r>
              <a:t>3 stages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5449824"/>
            <a:ext cx="53035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5F5F5"/>
                </a:solidFill>
                <a:latin typeface="Aptos"/>
              </a:defRPr>
            </a:pPr>
            <a:r>
              <a:t>IF → ID → 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172200"/>
            <a:ext cx="10515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FAFAF"/>
                </a:solidFill>
                <a:latin typeface="Aptos"/>
              </a:defRPr>
            </a:pPr>
            <a:r>
              <a:t>Note: these are the design dimensions described by the project; actual behavior must be confirmed by simulation.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INSTRUCTION SET: 12-BIT FORMAT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INSTRUCTION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789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AFAFAF"/>
                </a:solidFill>
                <a:latin typeface="Aptos"/>
              </a:defRPr>
            </a:pPr>
            <a:r>
              <a:t>Instruction fields are fixed-width, so the decoder reads the same bit positions each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035808" cy="96012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opcode</a:t>
            </a:r>
          </a:p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[11:8]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52928"/>
            <a:ext cx="303580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AFAFAF"/>
                </a:solidFill>
                <a:latin typeface="Aptos"/>
              </a:defRPr>
            </a:pPr>
            <a:r>
              <a:t>4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828800"/>
            <a:ext cx="1517904" cy="960120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Rd</a:t>
            </a:r>
          </a:p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[7:6]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852928"/>
            <a:ext cx="151790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AFAFAF"/>
                </a:solidFill>
                <a:latin typeface="Aptos"/>
              </a:defRPr>
            </a:pPr>
            <a:r>
              <a:t>2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31536" y="1828800"/>
            <a:ext cx="1517904" cy="960120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Rs</a:t>
            </a:r>
          </a:p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[5:4]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31536" y="2852928"/>
            <a:ext cx="151790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AFAFAF"/>
                </a:solidFill>
                <a:latin typeface="Aptos"/>
              </a:defRPr>
            </a:pPr>
            <a:r>
              <a:t>2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2592" y="1828800"/>
            <a:ext cx="3035808" cy="960120"/>
          </a:xfrm>
          <a:prstGeom prst="rect">
            <a:avLst/>
          </a:prstGeom>
          <a:solidFill>
            <a:srgbClr val="1D1D1D"/>
          </a:solidFill>
          <a:ln w="1778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imm / addr</a:t>
            </a:r>
          </a:p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[3:0]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2852928"/>
            <a:ext cx="303580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AFAFAF"/>
                </a:solidFill>
                <a:latin typeface="Aptos"/>
              </a:defRPr>
            </a:pPr>
            <a:r>
              <a:t>4 bit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74720"/>
            <a:ext cx="10607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DCEB"/>
                </a:solidFill>
                <a:latin typeface="Aptos"/>
              </a:defRPr>
            </a:pPr>
            <a:r>
              <a:t>Register codes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40480"/>
            <a:ext cx="1060704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F5F5F5"/>
                </a:solidFill>
                <a:latin typeface="Aptos"/>
              </a:defRPr>
            </a:pPr>
            <a:r>
              <a:t>R0 = 00     R1 = 01     R2 = 10     R3 = 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526280"/>
            <a:ext cx="1920240" cy="384048"/>
          </a:xfrm>
          <a:prstGeom prst="rect">
            <a:avLst/>
          </a:prstGeom>
          <a:solidFill>
            <a:srgbClr val="232323"/>
          </a:solidFill>
          <a:ln w="1778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00DCEB"/>
                </a:solidFill>
                <a:latin typeface="Aptos"/>
              </a:defRPr>
            </a:pPr>
            <a:r>
              <a:t>Instruction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4526280"/>
            <a:ext cx="1280160" cy="384048"/>
          </a:xfrm>
          <a:prstGeom prst="rect">
            <a:avLst/>
          </a:prstGeom>
          <a:solidFill>
            <a:srgbClr val="232323"/>
          </a:solidFill>
          <a:ln w="1778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00DCEB"/>
                </a:solidFill>
                <a:latin typeface="Aptos"/>
              </a:defRPr>
            </a:pPr>
            <a:r>
              <a:t>Opcode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4526280"/>
            <a:ext cx="822960" cy="384048"/>
          </a:xfrm>
          <a:prstGeom prst="rect">
            <a:avLst/>
          </a:prstGeom>
          <a:solidFill>
            <a:srgbClr val="232323"/>
          </a:solidFill>
          <a:ln w="1778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00DCEB"/>
                </a:solidFill>
                <a:latin typeface="Aptos"/>
              </a:defRPr>
            </a:pPr>
            <a:r>
              <a:t>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4526280"/>
            <a:ext cx="822960" cy="384048"/>
          </a:xfrm>
          <a:prstGeom prst="rect">
            <a:avLst/>
          </a:prstGeom>
          <a:solidFill>
            <a:srgbClr val="232323"/>
          </a:solidFill>
          <a:ln w="1778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00DCEB"/>
                </a:solidFill>
                <a:latin typeface="Aptos"/>
              </a:defRPr>
            </a:pPr>
            <a:r>
              <a:t>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4526280"/>
            <a:ext cx="1920240" cy="384048"/>
          </a:xfrm>
          <a:prstGeom prst="rect">
            <a:avLst/>
          </a:prstGeom>
          <a:solidFill>
            <a:srgbClr val="232323"/>
          </a:solidFill>
          <a:ln w="1778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00DCEB"/>
                </a:solidFill>
                <a:latin typeface="Aptos"/>
              </a:defRPr>
            </a:pPr>
            <a:r>
              <a:t>imm/addr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4526280"/>
            <a:ext cx="1463040" cy="384048"/>
          </a:xfrm>
          <a:prstGeom prst="rect">
            <a:avLst/>
          </a:prstGeom>
          <a:solidFill>
            <a:srgbClr val="232323"/>
          </a:solidFill>
          <a:ln w="1778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00DCEB"/>
                </a:solidFill>
                <a:latin typeface="Aptos"/>
              </a:defRPr>
            </a:pPr>
            <a:r>
              <a:t>Hex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937760"/>
            <a:ext cx="1920240" cy="393192"/>
          </a:xfrm>
          <a:prstGeom prst="rect">
            <a:avLst/>
          </a:prstGeom>
          <a:solidFill>
            <a:srgbClr val="1D1D1D"/>
          </a:solidFill>
          <a:ln w="177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t>ADD R1, R2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4937760"/>
            <a:ext cx="1280160" cy="393192"/>
          </a:xfrm>
          <a:prstGeom prst="rect">
            <a:avLst/>
          </a:prstGeom>
          <a:solidFill>
            <a:srgbClr val="1D1D1D"/>
          </a:solidFill>
          <a:ln w="177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t>0000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4937760"/>
            <a:ext cx="822960" cy="393192"/>
          </a:xfrm>
          <a:prstGeom prst="rect">
            <a:avLst/>
          </a:prstGeom>
          <a:solidFill>
            <a:srgbClr val="1D1D1D"/>
          </a:solidFill>
          <a:ln w="177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4937760"/>
            <a:ext cx="822960" cy="393192"/>
          </a:xfrm>
          <a:prstGeom prst="rect">
            <a:avLst/>
          </a:prstGeom>
          <a:solidFill>
            <a:srgbClr val="1D1D1D"/>
          </a:solidFill>
          <a:ln w="177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4937760"/>
            <a:ext cx="1920240" cy="393192"/>
          </a:xfrm>
          <a:prstGeom prst="rect">
            <a:avLst/>
          </a:prstGeom>
          <a:solidFill>
            <a:srgbClr val="1D1D1D"/>
          </a:solidFill>
          <a:ln w="177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t>0000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4937760"/>
            <a:ext cx="1463040" cy="393192"/>
          </a:xfrm>
          <a:prstGeom prst="rect">
            <a:avLst/>
          </a:prstGeom>
          <a:solidFill>
            <a:srgbClr val="1D1D1D"/>
          </a:solidFill>
          <a:ln w="177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t>0x060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376672"/>
            <a:ext cx="1920240" cy="393192"/>
          </a:xfrm>
          <a:prstGeom prst="rect">
            <a:avLst/>
          </a:prstGeom>
          <a:solidFill>
            <a:srgbClr val="1D1D1D"/>
          </a:solidFill>
          <a:ln w="177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t>LDI R3,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5376672"/>
            <a:ext cx="1280160" cy="393192"/>
          </a:xfrm>
          <a:prstGeom prst="rect">
            <a:avLst/>
          </a:prstGeom>
          <a:solidFill>
            <a:srgbClr val="1D1D1D"/>
          </a:solidFill>
          <a:ln w="177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t>0110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5376672"/>
            <a:ext cx="822960" cy="393192"/>
          </a:xfrm>
          <a:prstGeom prst="rect">
            <a:avLst/>
          </a:prstGeom>
          <a:solidFill>
            <a:srgbClr val="1D1D1D"/>
          </a:solidFill>
          <a:ln w="177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5376672"/>
            <a:ext cx="822960" cy="393192"/>
          </a:xfrm>
          <a:prstGeom prst="rect">
            <a:avLst/>
          </a:prstGeom>
          <a:solidFill>
            <a:srgbClr val="1D1D1D"/>
          </a:solidFill>
          <a:ln w="177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t>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5376672"/>
            <a:ext cx="1920240" cy="393192"/>
          </a:xfrm>
          <a:prstGeom prst="rect">
            <a:avLst/>
          </a:prstGeom>
          <a:solidFill>
            <a:srgbClr val="1D1D1D"/>
          </a:solidFill>
          <a:ln w="177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t>1010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79" y="5376672"/>
            <a:ext cx="1463040" cy="393192"/>
          </a:xfrm>
          <a:prstGeom prst="rect">
            <a:avLst/>
          </a:prstGeom>
          <a:solidFill>
            <a:srgbClr val="1D1D1D"/>
          </a:solidFill>
          <a:ln w="177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t>0x6CA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815584"/>
            <a:ext cx="1920240" cy="393192"/>
          </a:xfrm>
          <a:prstGeom prst="rect">
            <a:avLst/>
          </a:prstGeom>
          <a:solidFill>
            <a:srgbClr val="1D1D1D"/>
          </a:solidFill>
          <a:ln w="177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t>JZ 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5815584"/>
            <a:ext cx="1280160" cy="393192"/>
          </a:xfrm>
          <a:prstGeom prst="rect">
            <a:avLst/>
          </a:prstGeom>
          <a:solidFill>
            <a:srgbClr val="1D1D1D"/>
          </a:solidFill>
          <a:ln w="177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t>1011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5815584"/>
            <a:ext cx="822960" cy="393192"/>
          </a:xfrm>
          <a:prstGeom prst="rect">
            <a:avLst/>
          </a:prstGeom>
          <a:solidFill>
            <a:srgbClr val="1D1D1D"/>
          </a:solidFill>
          <a:ln w="177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t>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5815584"/>
            <a:ext cx="822960" cy="393192"/>
          </a:xfrm>
          <a:prstGeom prst="rect">
            <a:avLst/>
          </a:prstGeom>
          <a:solidFill>
            <a:srgbClr val="1D1D1D"/>
          </a:solidFill>
          <a:ln w="177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t>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5815584"/>
            <a:ext cx="1920240" cy="393192"/>
          </a:xfrm>
          <a:prstGeom prst="rect">
            <a:avLst/>
          </a:prstGeom>
          <a:solidFill>
            <a:srgbClr val="1D1D1D"/>
          </a:solidFill>
          <a:ln w="177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t>1001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79" y="5815584"/>
            <a:ext cx="1463040" cy="393192"/>
          </a:xfrm>
          <a:prstGeom prst="rect">
            <a:avLst/>
          </a:prstGeom>
          <a:solidFill>
            <a:srgbClr val="1D1D1D"/>
          </a:solidFill>
          <a:ln w="177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t>0xB09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355080"/>
            <a:ext cx="10515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FAFAF"/>
                </a:solidFill>
                <a:latin typeface="Aptos"/>
              </a:defRPr>
            </a:pPr>
            <a:r>
              <a:t>Example encodings are shown as documented in the project presentation material.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INSTRUCTION FAMILIES AND DECODING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INSTRUCTION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303520" cy="4937760"/>
          </a:xfrm>
          <a:prstGeom prst="rect">
            <a:avLst/>
          </a:prstGeom>
          <a:noFill/>
        </p:spPr>
        <p:txBody>
          <a:bodyPr wrap="square" lIns="45720" tIns="36576" rIns="36576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R-type: uses register operands, for example ADD R1, R2.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I-type: uses an immediate value, for example LDI R3, 10.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J-type: uses an address for control flow, for example JZ 9.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The opcode tells the Control Unit which operation and control signals to select.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The remaining fields identify destination/source registers or an immediate/address.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463040"/>
            <a:ext cx="4389120" cy="73152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12-bit instruction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0" y="2194560"/>
            <a:ext cx="0" cy="411480"/>
          </a:xfrm>
          <a:prstGeom prst="line">
            <a:avLst/>
          </a:prstGeom>
          <a:ln w="2540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92240" y="2651760"/>
            <a:ext cx="4389120" cy="73152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Opcode decoder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6766560" y="3383280"/>
            <a:ext cx="548640" cy="502920"/>
          </a:xfrm>
          <a:prstGeom prst="line">
            <a:avLst/>
          </a:prstGeom>
          <a:ln w="22860">
            <a:solidFill>
              <a:srgbClr val="FF8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58400" y="3383280"/>
            <a:ext cx="548640" cy="502920"/>
          </a:xfrm>
          <a:prstGeom prst="line">
            <a:avLst/>
          </a:prstGeom>
          <a:ln w="22860">
            <a:solidFill>
              <a:srgbClr val="FF8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035040" y="3931920"/>
            <a:ext cx="2194560" cy="731520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500" b="1">
                <a:solidFill>
                  <a:srgbClr val="F5F5F5"/>
                </a:solidFill>
                <a:latin typeface="Aptos"/>
              </a:defRPr>
            </a:pPr>
            <a:r>
              <a:t>ALU / data</a:t>
            </a:r>
          </a:p>
          <a:p>
            <a:pPr algn="ctr">
              <a:spcAft>
                <a:spcPts val="200"/>
              </a:spcAft>
              <a:defRPr sz="1500" b="1">
                <a:solidFill>
                  <a:srgbClr val="F5F5F5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931920"/>
            <a:ext cx="2194560" cy="731520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500" b="1">
                <a:solidFill>
                  <a:srgbClr val="F5F5F5"/>
                </a:solidFill>
                <a:latin typeface="Aptos"/>
              </a:defRPr>
            </a:pPr>
            <a:r>
              <a:t>Jump / branch</a:t>
            </a:r>
          </a:p>
          <a:p>
            <a:pPr algn="ctr">
              <a:spcAft>
                <a:spcPts val="200"/>
              </a:spcAft>
              <a:defRPr sz="1500" b="1">
                <a:solidFill>
                  <a:srgbClr val="F5F5F5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074920"/>
            <a:ext cx="448056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FAFAF"/>
                </a:solidFill>
                <a:latin typeface="Aptos"/>
              </a:defRPr>
            </a:pPr>
            <a:r>
              <a:t>Decoder outputs include ALU control, register write enable, memory write enable, and branch/jump indicators.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BLOCK 1: PROGRAM COUNTER AND INSTRUCTION MEMORY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CPU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1920240" cy="914400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Program</a:t>
            </a:r>
          </a:p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Counter (PC)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828800"/>
            <a:ext cx="1920240" cy="914400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PC + 1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828800"/>
            <a:ext cx="2286000" cy="914400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PC MUX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828800"/>
            <a:ext cx="2286000" cy="914400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Instruction</a:t>
            </a:r>
          </a:p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Memory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2286000"/>
            <a:ext cx="685800" cy="0"/>
          </a:xfrm>
          <a:prstGeom prst="line">
            <a:avLst/>
          </a:prstGeom>
          <a:ln w="2286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257800" y="2286000"/>
            <a:ext cx="685800" cy="0"/>
          </a:xfrm>
          <a:prstGeom prst="line">
            <a:avLst/>
          </a:prstGeom>
          <a:ln w="2286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0" y="2286000"/>
            <a:ext cx="731520" cy="0"/>
          </a:xfrm>
          <a:prstGeom prst="line">
            <a:avLst/>
          </a:prstGeom>
          <a:ln w="2286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2743200"/>
            <a:ext cx="0" cy="914400"/>
          </a:xfrm>
          <a:prstGeom prst="line">
            <a:avLst/>
          </a:prstGeom>
          <a:ln w="19050">
            <a:solidFill>
              <a:srgbClr val="FF8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641080" y="3703320"/>
            <a:ext cx="2880360" cy="658368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500" b="1">
                <a:solidFill>
                  <a:srgbClr val="F5F5F5"/>
                </a:solidFill>
                <a:latin typeface="Aptos"/>
              </a:defRPr>
            </a:pPr>
            <a:r>
              <a:t>12-bit instruction 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49039"/>
            <a:ext cx="7132320" cy="2011680"/>
          </a:xfrm>
          <a:prstGeom prst="rect">
            <a:avLst/>
          </a:prstGeom>
          <a:noFill/>
        </p:spPr>
        <p:txBody>
          <a:bodyPr wrap="square" lIns="45720" tIns="36576" rIns="36576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  <a:latin typeface="Aptos"/>
              </a:defRPr>
            </a:pPr>
            <a:r>
              <a:t>•  PC holds the address of the instruction to fetch.</a:t>
            </a:r>
          </a:p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  <a:latin typeface="Aptos"/>
              </a:defRPr>
            </a:pPr>
            <a:r>
              <a:t>•  PC + 1 calculates the next sequential address.</a:t>
            </a:r>
          </a:p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  <a:latin typeface="Aptos"/>
              </a:defRPr>
            </a:pPr>
            <a:r>
              <a:t>•  PC MUX selects PC+1 or a jump target, depending on pc_sel.</a:t>
            </a:r>
          </a:p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  <a:latin typeface="Aptos"/>
              </a:defRPr>
            </a:pPr>
            <a:r>
              <a:t>•  Instruction Memory stores 16 instructions, each 12 bits wide.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BLOCK 2: INSTRUCTION REGISTER AND PIPELINE REGISTERS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CPU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377440" cy="1051560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Instruction</a:t>
            </a:r>
          </a:p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645920"/>
            <a:ext cx="2286000" cy="1051560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IF/ID Register</a:t>
            </a:r>
          </a:p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(IR)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645920"/>
            <a:ext cx="2286000" cy="105156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Control Unit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1645920"/>
            <a:ext cx="2194560" cy="1051560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500" b="1">
                <a:solidFill>
                  <a:srgbClr val="F5F5F5"/>
                </a:solidFill>
                <a:latin typeface="Aptos"/>
              </a:defRPr>
            </a:pPr>
            <a:r>
              <a:t>ID/EX Pipeline</a:t>
            </a:r>
          </a:p>
          <a:p>
            <a:pPr algn="ctr">
              <a:spcAft>
                <a:spcPts val="200"/>
              </a:spcAft>
              <a:defRPr sz="1500" b="1">
                <a:solidFill>
                  <a:srgbClr val="F5F5F5"/>
                </a:solidFill>
                <a:latin typeface="Aptos"/>
              </a:defRPr>
            </a:pPr>
            <a:r>
              <a:t>Register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167128"/>
            <a:ext cx="548640" cy="0"/>
          </a:xfrm>
          <a:prstGeom prst="line">
            <a:avLst/>
          </a:prstGeom>
          <a:ln w="2286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43600" y="2167128"/>
            <a:ext cx="548640" cy="0"/>
          </a:xfrm>
          <a:prstGeom prst="line">
            <a:avLst/>
          </a:prstGeom>
          <a:ln w="2286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78240" y="2167128"/>
            <a:ext cx="548640" cy="0"/>
          </a:xfrm>
          <a:prstGeom prst="line">
            <a:avLst/>
          </a:prstGeom>
          <a:ln w="2286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3246120"/>
            <a:ext cx="10698480" cy="2560320"/>
          </a:xfrm>
          <a:prstGeom prst="rect">
            <a:avLst/>
          </a:prstGeom>
          <a:noFill/>
        </p:spPr>
        <p:txBody>
          <a:bodyPr wrap="square" lIns="45720" tIns="36576" rIns="36576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IF/ID captures the fetched instruction so the next stage can decode it.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The decoder reads the opcode and creates control signals.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ID/EX stores instruction fields and control signals for execution.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Pipeline registers keep stage-to-stage values stable between clock edges.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When a jump is taken, the design uses flush control to clear younger instructions.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BLOCK 3: CONTROL UNIT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CPU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2560320" cy="91440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Opcode + fields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417320"/>
            <a:ext cx="2834640" cy="118872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Instruction Decoder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097280"/>
            <a:ext cx="3291840" cy="640080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5F5F5"/>
                </a:solidFill>
                <a:latin typeface="Aptos"/>
              </a:defRPr>
            </a:pPr>
            <a:r>
              <a:t>ALU control: alu_ctrl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874519"/>
            <a:ext cx="3291840" cy="640080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5F5F5"/>
                </a:solidFill>
                <a:latin typeface="Aptos"/>
              </a:defRPr>
            </a:pPr>
            <a:r>
              <a:t>Operand select: alu_src_sel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2651760"/>
            <a:ext cx="3291840" cy="640080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5F5F5"/>
                </a:solidFill>
                <a:latin typeface="Aptos"/>
              </a:defRPr>
            </a:pPr>
            <a:r>
              <a:t>Write-back: wb_sel / reg_we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3794760"/>
            <a:ext cx="2834640" cy="1005840"/>
          </a:xfrm>
          <a:prstGeom prst="rect">
            <a:avLst/>
          </a:prstGeom>
          <a:solidFill>
            <a:srgbClr val="1D1D1D"/>
          </a:solidFill>
          <a:ln w="17780">
            <a:solidFill>
              <a:srgbClr val="F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Branch Unit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3794760"/>
            <a:ext cx="3291840" cy="1005840"/>
          </a:xfrm>
          <a:prstGeom prst="rect">
            <a:avLst/>
          </a:prstGeom>
          <a:solidFill>
            <a:srgbClr val="1D1D1D"/>
          </a:solidFill>
          <a:ln w="17780">
            <a:solidFill>
              <a:srgbClr val="F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pc_sel / flush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37560" y="2011680"/>
            <a:ext cx="822960" cy="0"/>
          </a:xfrm>
          <a:prstGeom prst="line">
            <a:avLst/>
          </a:prstGeom>
          <a:ln w="2286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995160" y="1417320"/>
            <a:ext cx="868680" cy="594360"/>
          </a:xfrm>
          <a:prstGeom prst="line">
            <a:avLst/>
          </a:prstGeom>
          <a:ln w="16510">
            <a:solidFill>
              <a:srgbClr val="FF8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95160" y="2011680"/>
            <a:ext cx="868680" cy="182880"/>
          </a:xfrm>
          <a:prstGeom prst="line">
            <a:avLst/>
          </a:prstGeom>
          <a:ln w="16510">
            <a:solidFill>
              <a:srgbClr val="FF8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95160" y="2011680"/>
            <a:ext cx="868680" cy="960120"/>
          </a:xfrm>
          <a:prstGeom prst="line">
            <a:avLst/>
          </a:prstGeom>
          <a:ln w="16510">
            <a:solidFill>
              <a:srgbClr val="FF8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77840" y="2606040"/>
            <a:ext cx="0" cy="1188720"/>
          </a:xfrm>
          <a:prstGeom prst="line">
            <a:avLst/>
          </a:prstGeom>
          <a:ln w="20320">
            <a:solidFill>
              <a:srgbClr val="F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95160" y="4297680"/>
            <a:ext cx="868680" cy="0"/>
          </a:xfrm>
          <a:prstGeom prst="line">
            <a:avLst/>
          </a:prstGeom>
          <a:ln w="22860">
            <a:solidFill>
              <a:srgbClr val="F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5257800"/>
            <a:ext cx="1060704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AFAFAF"/>
                </a:solidFill>
                <a:latin typeface="Aptos"/>
              </a:defRPr>
            </a:pPr>
            <a:r>
              <a:t>The Control Unit does not calculate the data result. It tells the datapath which operation to perform and where the result should 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BLOCK 4: REGISTER FILE (R0–R3)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CPU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00200"/>
            <a:ext cx="1143000" cy="91440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R0</a:t>
            </a:r>
          </a:p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600200"/>
            <a:ext cx="1143000" cy="914400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R1</a:t>
            </a:r>
          </a:p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600200"/>
            <a:ext cx="1143000" cy="91440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R2</a:t>
            </a:r>
          </a:p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600200"/>
            <a:ext cx="1143000" cy="914400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R3</a:t>
            </a:r>
          </a:p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508760"/>
            <a:ext cx="3657600" cy="1097280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Two read ports</a:t>
            </a:r>
          </a:p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qa and qb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2971800"/>
            <a:ext cx="3657600" cy="1097280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One write-back path</a:t>
            </a:r>
          </a:p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wd → destination Rd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5486400" y="2057400"/>
            <a:ext cx="1554480" cy="0"/>
          </a:xfrm>
          <a:prstGeom prst="line">
            <a:avLst/>
          </a:prstGeom>
          <a:ln w="2032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486400" y="2057400"/>
            <a:ext cx="0" cy="457200"/>
          </a:xfrm>
          <a:prstGeom prst="line">
            <a:avLst/>
          </a:prstGeom>
          <a:ln w="2032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86400" y="2514600"/>
            <a:ext cx="1554480" cy="0"/>
          </a:xfrm>
          <a:prstGeom prst="line">
            <a:avLst/>
          </a:prstGeom>
          <a:ln w="2032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4389120"/>
            <a:ext cx="10698480" cy="1508760"/>
          </a:xfrm>
          <a:prstGeom prst="rect">
            <a:avLst/>
          </a:prstGeom>
          <a:noFill/>
        </p:spPr>
        <p:txBody>
          <a:bodyPr wrap="square" lIns="45720" tIns="36576" rIns="36576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  <a:latin typeface="Aptos"/>
              </a:defRPr>
            </a:pPr>
            <a:r>
              <a:t>•  The register file stores temporary 4-bit values used by instructions.</a:t>
            </a:r>
          </a:p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  <a:latin typeface="Aptos"/>
              </a:defRPr>
            </a:pPr>
            <a:r>
              <a:t>•  Rd identifies the destination register; Rs identifies a source register.</a:t>
            </a:r>
          </a:p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  <a:latin typeface="Aptos"/>
              </a:defRPr>
            </a:pPr>
            <a:r>
              <a:t>•  Write-back updates a register when reg_we is enabled.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BLOCK 5: ARITHMETIC LOGIC UNIT (ALU)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CPU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1920240" cy="822960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Operand A</a:t>
            </a:r>
          </a:p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(qa)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1920240" cy="822960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500" b="1">
                <a:solidFill>
                  <a:srgbClr val="F5F5F5"/>
                </a:solidFill>
                <a:latin typeface="Aptos"/>
              </a:defRPr>
            </a:pPr>
            <a:r>
              <a:t>Operand B</a:t>
            </a:r>
          </a:p>
          <a:p>
            <a:pPr algn="ctr">
              <a:spcAft>
                <a:spcPts val="200"/>
              </a:spcAft>
              <a:defRPr sz="1500" b="1">
                <a:solidFill>
                  <a:srgbClr val="F5F5F5"/>
                </a:solidFill>
                <a:latin typeface="Aptos"/>
              </a:defRPr>
            </a:pPr>
            <a:r>
              <a:t>(qb or imm)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194560"/>
            <a:ext cx="2743200" cy="1188720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2200" b="1">
                <a:solidFill>
                  <a:srgbClr val="F5F5F5"/>
                </a:solidFill>
                <a:latin typeface="Aptos"/>
              </a:defRPr>
            </a:pPr>
            <a:r>
              <a:t>4-bit ALU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600200"/>
            <a:ext cx="3200400" cy="77724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Result [3:0]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743200"/>
            <a:ext cx="3200400" cy="77724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Zero / Carry flags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2240280"/>
            <a:ext cx="1005840" cy="274320"/>
          </a:xfrm>
          <a:prstGeom prst="line">
            <a:avLst/>
          </a:prstGeom>
          <a:ln w="22860">
            <a:solidFill>
              <a:srgbClr val="50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651760" y="2971800"/>
            <a:ext cx="1005840" cy="502920"/>
          </a:xfrm>
          <a:prstGeom prst="line">
            <a:avLst/>
          </a:prstGeom>
          <a:ln w="22860">
            <a:solidFill>
              <a:srgbClr val="A06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400800" y="1965960"/>
            <a:ext cx="1097279" cy="548640"/>
          </a:xfrm>
          <a:prstGeom prst="line">
            <a:avLst/>
          </a:prstGeom>
          <a:ln w="2286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2926080"/>
            <a:ext cx="1097279" cy="182880"/>
          </a:xfrm>
          <a:prstGeom prst="line">
            <a:avLst/>
          </a:prstGeom>
          <a:ln w="22860">
            <a:solidFill>
              <a:srgbClr val="FF8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4160520"/>
            <a:ext cx="10515600" cy="1737360"/>
          </a:xfrm>
          <a:prstGeom prst="rect">
            <a:avLst/>
          </a:prstGeom>
          <a:noFill/>
        </p:spPr>
        <p:txBody>
          <a:bodyPr wrap="square" lIns="45720" tIns="36576" rIns="36576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  <a:latin typeface="Aptos"/>
              </a:defRPr>
            </a:pPr>
            <a:r>
              <a:t>•  The ALU performs arithmetic and logic operations selected by alu_ctrl.</a:t>
            </a:r>
          </a:p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  <a:latin typeface="Aptos"/>
              </a:defRPr>
            </a:pPr>
            <a:r>
              <a:t>•  The ALU result may be written to a register or used as a data-memory address.</a:t>
            </a:r>
          </a:p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  <a:latin typeface="Aptos"/>
              </a:defRPr>
            </a:pPr>
            <a:r>
              <a:t>•  Zero indicates that the result is zero; Carry reports a carry/borrow-related condition for arithmetic.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BLOCK 6: MULTIPLEXERS AND FLAGS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CPU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3383280" cy="749808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PC MUX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320040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AFAFAF"/>
                </a:solidFill>
                <a:latin typeface="Aptos"/>
              </a:defRPr>
            </a:pPr>
            <a:r>
              <a:t>PC+1 or jump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508760"/>
            <a:ext cx="3383280" cy="749808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Operand MUX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377440"/>
            <a:ext cx="320040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AFAFAF"/>
                </a:solidFill>
                <a:latin typeface="Aptos"/>
              </a:defRPr>
            </a:pPr>
            <a:r>
              <a:t>register operand or immediate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1508760"/>
            <a:ext cx="3383280" cy="749808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WB MUX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377440"/>
            <a:ext cx="320040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AFAFAF"/>
                </a:solidFill>
                <a:latin typeface="Aptos"/>
              </a:defRPr>
            </a:pPr>
            <a:r>
              <a:t>ALU result or memory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3703320"/>
            <a:ext cx="3108960" cy="100584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Zero flag (Z)</a:t>
            </a:r>
          </a:p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Result equals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3703320"/>
            <a:ext cx="3108960" cy="100584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Carry flag (C)</a:t>
            </a:r>
          </a:p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Arithmetic carry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1051560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5F5F5"/>
                </a:solidFill>
                <a:latin typeface="Aptos"/>
              </a:defRPr>
            </a:pPr>
            <a:r>
              <a:t>A MUX selects one of several inputs. A flag register stores status information so later control logic, such as a conditional jump, can use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BLOCK 7: DATA MEMORY AND WRITE-BACK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CPU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2011680" cy="914400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ALU result</a:t>
            </a:r>
          </a:p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(address)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508760"/>
            <a:ext cx="2743200" cy="1554480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900" b="1">
                <a:solidFill>
                  <a:srgbClr val="F5F5F5"/>
                </a:solidFill>
                <a:latin typeface="Aptos"/>
              </a:defRPr>
            </a:pPr>
            <a:r>
              <a:t>Data Memory</a:t>
            </a:r>
          </a:p>
          <a:p>
            <a:pPr algn="ctr">
              <a:spcAft>
                <a:spcPts val="200"/>
              </a:spcAft>
              <a:defRPr sz="1900" b="1">
                <a:solidFill>
                  <a:srgbClr val="F5F5F5"/>
                </a:solidFill>
                <a:latin typeface="Aptos"/>
              </a:defRPr>
            </a:pPr>
            <a:r>
              <a:t>16 × 4 bits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234440"/>
            <a:ext cx="3291840" cy="731520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Read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240280"/>
            <a:ext cx="3291840" cy="731520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WB MUX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3246120"/>
            <a:ext cx="3291840" cy="731520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Register file 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2331720"/>
            <a:ext cx="914400" cy="0"/>
          </a:xfrm>
          <a:prstGeom prst="line">
            <a:avLst/>
          </a:prstGeom>
          <a:ln w="2286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400800" y="1600200"/>
            <a:ext cx="1143000" cy="411480"/>
          </a:xfrm>
          <a:prstGeom prst="line">
            <a:avLst/>
          </a:prstGeom>
          <a:ln w="2286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1965960"/>
            <a:ext cx="0" cy="274320"/>
          </a:xfrm>
          <a:prstGeom prst="line">
            <a:avLst/>
          </a:prstGeom>
          <a:ln w="2286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44000" y="2971800"/>
            <a:ext cx="0" cy="274320"/>
          </a:xfrm>
          <a:prstGeom prst="line">
            <a:avLst/>
          </a:prstGeom>
          <a:ln w="2286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4434840"/>
            <a:ext cx="10515600" cy="10058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AFAFAF"/>
                </a:solidFill>
                <a:latin typeface="Aptos"/>
              </a:defRPr>
            </a:pPr>
            <a:r>
              <a:t>mem_we enables a memory write. wb_sel chooses the value sent back to Rd. For a load-like operation, memory data is selected; for an ALU operation, the ALU result is selected.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CPU SCHEMATIC: FULL DATAPATH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200400" cy="4480560"/>
          </a:xfrm>
          <a:prstGeom prst="rect">
            <a:avLst/>
          </a:prstGeom>
          <a:solidFill>
            <a:srgbClr val="142834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0" y="1234440"/>
            <a:ext cx="2377440" cy="4480560"/>
          </a:xfrm>
          <a:prstGeom prst="rect">
            <a:avLst/>
          </a:prstGeom>
          <a:solidFill>
            <a:srgbClr val="2D2318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1234440"/>
            <a:ext cx="5303520" cy="4480560"/>
          </a:xfrm>
          <a:prstGeom prst="rect">
            <a:avLst/>
          </a:prstGeom>
          <a:solidFill>
            <a:srgbClr val="142A1C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0DCEB"/>
                </a:solidFill>
                <a:latin typeface="Aptos"/>
              </a:defRPr>
            </a:pPr>
            <a:r>
              <a:t>STAGE 1: 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325880"/>
            <a:ext cx="21031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8737"/>
                </a:solidFill>
                <a:latin typeface="Aptos"/>
              </a:defRPr>
            </a:pPr>
            <a:r>
              <a:t>STAGE 2: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325880"/>
            <a:ext cx="49377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5AC882"/>
                </a:solidFill>
                <a:latin typeface="Aptos"/>
              </a:defRPr>
            </a:pPr>
            <a:r>
              <a:t>STAGE 3: EX / MEMORY / WB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65960"/>
            <a:ext cx="1097280" cy="640080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500" b="1">
                <a:solidFill>
                  <a:srgbClr val="F5F5F5"/>
                </a:solidFill>
                <a:latin typeface="Aptos"/>
              </a:defRPr>
            </a:pPr>
            <a:r>
              <a:t>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1965960"/>
            <a:ext cx="1234440" cy="640080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5F5F5"/>
                </a:solidFill>
                <a:latin typeface="Aptos"/>
              </a:defRPr>
            </a:pPr>
            <a:r>
              <a:t>Instr.</a:t>
            </a:r>
          </a:p>
          <a:p>
            <a:pPr algn="ctr">
              <a:spcAft>
                <a:spcPts val="200"/>
              </a:spcAft>
              <a:defRPr sz="1300" b="1">
                <a:solidFill>
                  <a:srgbClr val="F5F5F5"/>
                </a:solidFill>
                <a:latin typeface="Aptos"/>
              </a:defRPr>
            </a:pPr>
            <a:r>
              <a:t>Memory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28800" y="2286000"/>
            <a:ext cx="320040" cy="0"/>
          </a:xfrm>
          <a:prstGeom prst="line">
            <a:avLst/>
          </a:prstGeom>
          <a:ln w="1905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828800" y="3246120"/>
            <a:ext cx="1463040" cy="640080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5F5F5"/>
                </a:solidFill>
                <a:latin typeface="Aptos"/>
              </a:defRPr>
            </a:pPr>
            <a:r>
              <a:t>IF/ID IR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560320" y="2606040"/>
            <a:ext cx="182880" cy="640080"/>
          </a:xfrm>
          <a:prstGeom prst="line">
            <a:avLst/>
          </a:prstGeom>
          <a:ln w="1778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14800" y="2057400"/>
            <a:ext cx="1828800" cy="73152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500" b="1">
                <a:solidFill>
                  <a:srgbClr val="F5F5F5"/>
                </a:solidFill>
                <a:latin typeface="Aptos"/>
              </a:defRPr>
            </a:pPr>
            <a:r>
              <a:t>Decoder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337560"/>
            <a:ext cx="1828800" cy="731520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5F5F5"/>
                </a:solidFill>
                <a:latin typeface="Aptos"/>
              </a:defRPr>
            </a:pPr>
            <a:r>
              <a:t>ID/EX Reg.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0" y="2788920"/>
            <a:ext cx="0" cy="548640"/>
          </a:xfrm>
          <a:prstGeom prst="line">
            <a:avLst/>
          </a:prstGeom>
          <a:ln w="19050">
            <a:solidFill>
              <a:srgbClr val="FF8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629400" y="1965960"/>
            <a:ext cx="1371600" cy="685800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5F5F5"/>
                </a:solidFill>
                <a:latin typeface="Aptos"/>
              </a:defRPr>
            </a:pPr>
            <a:r>
              <a:t>Register</a:t>
            </a:r>
          </a:p>
          <a:p>
            <a:pPr algn="ctr">
              <a:spcAft>
                <a:spcPts val="200"/>
              </a:spcAft>
              <a:defRPr sz="1300" b="1">
                <a:solidFill>
                  <a:srgbClr val="F5F5F5"/>
                </a:solidFill>
                <a:latin typeface="Aptos"/>
              </a:defRPr>
            </a:pPr>
            <a:r>
              <a:t>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1965960"/>
            <a:ext cx="1234440" cy="685800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F5F5F5"/>
                </a:solidFill>
                <a:latin typeface="Aptos"/>
              </a:defRPr>
            </a:pPr>
            <a:r>
              <a:t>Operand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F5F5F5"/>
                </a:solidFill>
                <a:latin typeface="Aptos"/>
              </a:defRPr>
            </a:pPr>
            <a:r>
              <a:t>MUX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0" y="1965960"/>
            <a:ext cx="1234440" cy="685800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500" b="1">
                <a:solidFill>
                  <a:srgbClr val="F5F5F5"/>
                </a:solidFill>
                <a:latin typeface="Aptos"/>
              </a:defRPr>
            </a:pPr>
            <a:r>
              <a:t>ALU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3154680"/>
            <a:ext cx="1234440" cy="685800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F5F5F5"/>
                </a:solidFill>
                <a:latin typeface="Aptos"/>
              </a:defRPr>
            </a:pPr>
            <a:r>
              <a:t>Data Mem.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4343400"/>
            <a:ext cx="1234440" cy="685800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5F5F5"/>
                </a:solidFill>
                <a:latin typeface="Aptos"/>
              </a:defRPr>
            </a:pPr>
            <a:r>
              <a:t>WB MUX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01000" y="2286000"/>
            <a:ext cx="365760" cy="0"/>
          </a:xfrm>
          <a:prstGeom prst="line">
            <a:avLst/>
          </a:prstGeom>
          <a:ln w="1778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01200" y="2286000"/>
            <a:ext cx="365760" cy="0"/>
          </a:xfrm>
          <a:prstGeom prst="line">
            <a:avLst/>
          </a:prstGeom>
          <a:ln w="1778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561320" y="2651760"/>
            <a:ext cx="0" cy="502920"/>
          </a:xfrm>
          <a:prstGeom prst="line">
            <a:avLst/>
          </a:prstGeom>
          <a:ln w="1778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561320" y="3840480"/>
            <a:ext cx="0" cy="502920"/>
          </a:xfrm>
          <a:prstGeom prst="line">
            <a:avLst/>
          </a:prstGeom>
          <a:ln w="1778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315200" y="5029200"/>
            <a:ext cx="3246120" cy="0"/>
          </a:xfrm>
          <a:prstGeom prst="line">
            <a:avLst/>
          </a:prstGeom>
          <a:ln w="16510">
            <a:solidFill>
              <a:srgbClr val="5AC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" y="5074920"/>
            <a:ext cx="53035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AFAFAF"/>
                </a:solidFill>
                <a:latin typeface="Aptos"/>
              </a:defRPr>
            </a:pPr>
            <a:r>
              <a:t>Instruction and control fields move through pipeline registers.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486400"/>
            <a:ext cx="46634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FAFAF"/>
                </a:solidFill>
                <a:latin typeface="Aptos"/>
              </a:defRPr>
            </a:pPr>
            <a:r>
              <a:t>Arrows represent simplified data flow, not every wire.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HOW ONE INSTRUCTION MOVES THROUGH THE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108960" cy="914400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2200" b="1">
                <a:solidFill>
                  <a:srgbClr val="F5F5F5"/>
                </a:solidFill>
                <a:latin typeface="Aptos"/>
              </a:defRPr>
            </a:pPr>
            <a:r>
              <a:t>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292608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r>
              <a:t>Fetch instruction</a:t>
            </a:r>
          </a:p>
          <a:p>
            <a:pPr algn="ctr">
              <a:spcAft>
                <a:spcPts val="5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r>
              <a:t>using PC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2103120"/>
            <a:ext cx="548640" cy="0"/>
          </a:xfrm>
          <a:prstGeom prst="line">
            <a:avLst/>
          </a:prstGeom>
          <a:ln w="2540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26280" y="1645920"/>
            <a:ext cx="3108960" cy="91440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2200" b="1">
                <a:solidFill>
                  <a:srgbClr val="F5F5F5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97480"/>
            <a:ext cx="292608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r>
              <a:t>Decode opcode</a:t>
            </a:r>
          </a:p>
          <a:p>
            <a:pPr algn="ctr">
              <a:spcAft>
                <a:spcPts val="5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r>
              <a:t>read registers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35240" y="2103120"/>
            <a:ext cx="548639" cy="0"/>
          </a:xfrm>
          <a:prstGeom prst="line">
            <a:avLst/>
          </a:prstGeom>
          <a:ln w="2540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321040" y="1645920"/>
            <a:ext cx="3108960" cy="914400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2200" b="1">
                <a:solidFill>
                  <a:srgbClr val="F5F5F5"/>
                </a:solidFill>
                <a:latin typeface="Aptos"/>
              </a:defRPr>
            </a:pPr>
            <a:r>
              <a:t>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97480"/>
            <a:ext cx="292608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r>
              <a:t>ALU / memory /</a:t>
            </a:r>
          </a:p>
          <a:p>
            <a:pPr algn="ctr">
              <a:spcAft>
                <a:spcPts val="5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r>
              <a:t>write-back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105156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0DCEB"/>
                </a:solidFill>
                <a:latin typeface="Aptos"/>
              </a:defRPr>
            </a:pPr>
            <a:r>
              <a:t>Pipeline registers separate the stages and hold data/control values at clock edges.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34840"/>
            <a:ext cx="10515600" cy="1280160"/>
          </a:xfrm>
          <a:prstGeom prst="rect">
            <a:avLst/>
          </a:prstGeom>
          <a:noFill/>
        </p:spPr>
        <p:txBody>
          <a:bodyPr wrap="square" lIns="45720" tIns="36576" rIns="36576" bIns="36576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Aptos"/>
              </a:defRPr>
            </a:pPr>
            <a:r>
              <a:t>•  IF: PC selects the instruction address and instruction memory outputs the instruction.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Aptos"/>
              </a:defRPr>
            </a:pPr>
            <a:r>
              <a:t>•  ID: opcode is decoded; source register values and immediate fields are prepared.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Aptos"/>
              </a:defRPr>
            </a:pPr>
            <a:r>
              <a:t>•  EX: ALU executes the operation; memory and register write-back paths are used when needed.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BRANCH / JUMP CONTROL AND FLUSH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SCHEMATIC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2286000" cy="82296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Branch / jump</a:t>
            </a:r>
          </a:p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instruction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4760" y="1508760"/>
            <a:ext cx="2286000" cy="822960"/>
          </a:xfrm>
          <a:prstGeom prst="rect">
            <a:avLst/>
          </a:prstGeom>
          <a:solidFill>
            <a:srgbClr val="1D1D1D"/>
          </a:solidFill>
          <a:ln w="17780">
            <a:solidFill>
              <a:srgbClr val="F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Branch Unit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1097280"/>
            <a:ext cx="1920240" cy="731520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pc_sel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2011680"/>
            <a:ext cx="1920240" cy="731520"/>
          </a:xfrm>
          <a:prstGeom prst="rect">
            <a:avLst/>
          </a:prstGeom>
          <a:solidFill>
            <a:srgbClr val="1D1D1D"/>
          </a:solidFill>
          <a:ln w="17780">
            <a:solidFill>
              <a:srgbClr val="F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flush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64040" y="1508760"/>
            <a:ext cx="1828800" cy="822960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700" b="1">
                <a:solidFill>
                  <a:srgbClr val="F5F5F5"/>
                </a:solidFill>
                <a:latin typeface="Aptos"/>
              </a:defRPr>
            </a:pPr>
            <a:r>
              <a:t>PC MUX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40" y="1920240"/>
            <a:ext cx="731520" cy="0"/>
          </a:xfrm>
          <a:prstGeom prst="line">
            <a:avLst/>
          </a:prstGeom>
          <a:ln w="2032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080760" y="1463040"/>
            <a:ext cx="731520" cy="365760"/>
          </a:xfrm>
          <a:prstGeom prst="line">
            <a:avLst/>
          </a:prstGeom>
          <a:ln w="19050">
            <a:solidFill>
              <a:srgbClr val="F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2011680"/>
            <a:ext cx="731520" cy="365760"/>
          </a:xfrm>
          <a:prstGeom prst="line">
            <a:avLst/>
          </a:prstGeom>
          <a:ln w="19050">
            <a:solidFill>
              <a:srgbClr val="F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32520" y="1463040"/>
            <a:ext cx="731520" cy="365760"/>
          </a:xfrm>
          <a:prstGeom prst="line">
            <a:avLst/>
          </a:prstGeom>
          <a:ln w="19050">
            <a:solidFill>
              <a:srgbClr val="A06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3337560"/>
            <a:ext cx="10515600" cy="2103120"/>
          </a:xfrm>
          <a:prstGeom prst="rect">
            <a:avLst/>
          </a:prstGeom>
          <a:noFill/>
        </p:spPr>
        <p:txBody>
          <a:bodyPr wrap="square" lIns="45720" tIns="36576" rIns="36576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The Branch Unit evaluates jump/conditional-jump control using instruction flags.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pc_sel tells the PC MUX whether to use the sequential address or jump target.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flush clears younger pipeline instructions after a taken jump to reduce wrong-path execution.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The supplied project material describes the jump decision as occurring in the EX stage.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TESTBENCH: WHAT IS BEING CHECKED?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TESTBENCH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486400" cy="4937760"/>
          </a:xfrm>
          <a:prstGeom prst="rect">
            <a:avLst/>
          </a:prstGeom>
          <a:noFill/>
        </p:spPr>
        <p:txBody>
          <a:bodyPr wrap="square" lIns="45720" tIns="36576" rIns="36576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A testbench is a separate Verilog module that drives clock/reset and checks outputs.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tb_cpu instantiates cpu_top and observes PC, instruction, ALU result, write-back data, and flags.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The testbench prints TIME lines to show sampled signal values.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PASS means a check matched the expected value; FAIL means it did not.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 The current run reports 33 checks and 5 failures.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417320"/>
            <a:ext cx="4297680" cy="82296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Clock (clk)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2514600"/>
            <a:ext cx="4297680" cy="82296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Reset (rst)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3611880"/>
            <a:ext cx="4297680" cy="822960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DUT: cpu_top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4709160"/>
            <a:ext cx="4297680" cy="822960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t>Assertions / checks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BEHAVIORAL SIMULATION WAVEFORM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TESTBENCH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FAFAF"/>
                </a:solidFill>
                <a:latin typeface="Aptos"/>
              </a:defRPr>
            </a:pPr>
            <a:r>
              <a:t>Signals shown in the Vivado/XSim waveform include clk, rst, checks, errors, PC, instruction, ALU output, write-back data, and flags.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731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0DCEB"/>
                </a:solidFill>
                <a:latin typeface="Aptos"/>
              </a:defRPr>
            </a:pPr>
            <a:r>
              <a:t>clk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2148840"/>
            <a:ext cx="10241280" cy="0"/>
          </a:xfrm>
          <a:prstGeom prst="line">
            <a:avLst/>
          </a:prstGeom>
          <a:ln w="889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1440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2776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4112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41120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55448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6783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67839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98119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19455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94559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40791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62127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621279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3463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04800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048000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6136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47471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474719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68807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90143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901439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11479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32815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328159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54151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75488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54880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96824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18160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181600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39496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60832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608320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82168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03503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035039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24839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6176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461760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67512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88847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888479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10183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31520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315200" y="1874519"/>
            <a:ext cx="213359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52855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774191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741919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95527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16864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168640" y="1874519"/>
            <a:ext cx="213359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38199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59536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95360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80872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02207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022079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23543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944880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448800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66216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87551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875519" y="1874519"/>
            <a:ext cx="213360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08887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30224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302240" y="1874519"/>
            <a:ext cx="213359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51559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728960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728960" y="1874519"/>
            <a:ext cx="213359" cy="0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0942319" y="1874519"/>
            <a:ext cx="0" cy="256033"/>
          </a:xfrm>
          <a:prstGeom prst="line">
            <a:avLst/>
          </a:prstGeom>
          <a:ln w="15240">
            <a:solidFill>
              <a:srgbClr val="00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40080" y="2423160"/>
            <a:ext cx="731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8737"/>
                </a:solidFill>
                <a:latin typeface="Aptos"/>
              </a:defRPr>
            </a:pPr>
            <a:r>
              <a:t>rst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14400" y="2743200"/>
            <a:ext cx="10241280" cy="0"/>
          </a:xfrm>
          <a:prstGeom prst="line">
            <a:avLst/>
          </a:prstGeom>
          <a:ln w="889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14400" y="2468879"/>
            <a:ext cx="731520" cy="0"/>
          </a:xfrm>
          <a:prstGeom prst="line">
            <a:avLst/>
          </a:prstGeom>
          <a:ln w="25400">
            <a:solidFill>
              <a:srgbClr val="FF8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645920" y="2468879"/>
            <a:ext cx="0" cy="256033"/>
          </a:xfrm>
          <a:prstGeom prst="line">
            <a:avLst/>
          </a:prstGeom>
          <a:ln w="19050">
            <a:solidFill>
              <a:srgbClr val="FF8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645920" y="2724912"/>
            <a:ext cx="9509760" cy="0"/>
          </a:xfrm>
          <a:prstGeom prst="line">
            <a:avLst/>
          </a:prstGeom>
          <a:ln w="25400">
            <a:solidFill>
              <a:srgbClr val="FF8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640080" y="3017520"/>
            <a:ext cx="731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5096FF"/>
                </a:solidFill>
                <a:latin typeface="Aptos"/>
              </a:defRPr>
            </a:pPr>
            <a:r>
              <a:t>PC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914400" y="3337560"/>
            <a:ext cx="10241280" cy="0"/>
          </a:xfrm>
          <a:prstGeom prst="line">
            <a:avLst/>
          </a:prstGeom>
          <a:ln w="889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914400" y="305409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52320" y="305409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190240" y="305409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328160" y="305409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66080" y="305409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604000" y="305409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41920" y="305409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879840" y="305409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017760" y="305409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0080" y="3611880"/>
            <a:ext cx="731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DC3C"/>
                </a:solidFill>
                <a:latin typeface="Aptos"/>
              </a:defRPr>
            </a:pPr>
            <a:r>
              <a:t>INSTR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14400" y="3931920"/>
            <a:ext cx="10241280" cy="0"/>
          </a:xfrm>
          <a:prstGeom prst="line">
            <a:avLst/>
          </a:prstGeom>
          <a:ln w="889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914400" y="364845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c00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052320" y="364845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c00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90240" y="364845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645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328160" y="364845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683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66080" y="364845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060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604000" y="364845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6ca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741920" y="364845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470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879840" y="364845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a05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17760" y="364845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FFD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c00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0080" y="4206240"/>
            <a:ext cx="731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5AC882"/>
                </a:solidFill>
                <a:latin typeface="Aptos"/>
              </a:defRPr>
            </a:pPr>
            <a:r>
              <a:t>ALU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914400" y="4526279"/>
            <a:ext cx="10241280" cy="0"/>
          </a:xfrm>
          <a:prstGeom prst="line">
            <a:avLst/>
          </a:prstGeom>
          <a:ln w="889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914400" y="424281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052320" y="424281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190240" y="424281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328160" y="424281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466080" y="424281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604000" y="424281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741920" y="424281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879840" y="424281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017760" y="424281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40080" y="4800600"/>
            <a:ext cx="731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A069FF"/>
                </a:solidFill>
                <a:latin typeface="Aptos"/>
              </a:defRPr>
            </a:pPr>
            <a:r>
              <a:t>WB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914400" y="5120640"/>
            <a:ext cx="10241280" cy="0"/>
          </a:xfrm>
          <a:prstGeom prst="line">
            <a:avLst/>
          </a:prstGeom>
          <a:ln w="889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914400" y="483717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052320" y="483717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190240" y="483717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328160" y="483717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466080" y="483717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04000" y="483717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741920" y="483717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879840" y="483717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017760" y="4837176"/>
            <a:ext cx="1110488" cy="292608"/>
          </a:xfrm>
          <a:prstGeom prst="rect">
            <a:avLst/>
          </a:prstGeom>
          <a:solidFill>
            <a:srgbClr val="1D1D1D"/>
          </a:solidFill>
          <a:ln w="17780">
            <a:solidFill>
              <a:srgbClr val="A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900" b="0">
                <a:solidFill>
                  <a:srgbClr val="F5F5F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77240" y="5715000"/>
            <a:ext cx="106070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Waveform helps confirm signal timing, but the testbench's expected-versus-actual checks are needed to judge correctness.</a:t>
            </a:r>
          </a:p>
        </p:txBody>
      </p:sp>
      <p:pic>
        <p:nvPicPr>
          <p:cNvPr id="133" name="Hình ảnh 132">
            <a:extLst>
              <a:ext uri="{FF2B5EF4-FFF2-40B4-BE49-F238E27FC236}">
                <a16:creationId xmlns:a16="http://schemas.microsoft.com/office/drawing/2014/main" id="{B9E4B848-563D-6FBF-B834-B6D58D63D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7229"/>
            <a:ext cx="12192000" cy="460354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CURRENT VERIFICATION SUMMARY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TESTBENCH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08760"/>
            <a:ext cx="2926080" cy="123444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2400" b="1">
                <a:solidFill>
                  <a:srgbClr val="F5F5F5"/>
                </a:solidFill>
                <a:latin typeface="Aptos"/>
              </a:defRPr>
            </a:pPr>
            <a:r>
              <a:t>33</a:t>
            </a:r>
          </a:p>
          <a:p>
            <a:pPr algn="ctr">
              <a:spcAft>
                <a:spcPts val="200"/>
              </a:spcAft>
              <a:defRPr sz="2400" b="1">
                <a:solidFill>
                  <a:srgbClr val="F5F5F5"/>
                </a:solidFill>
                <a:latin typeface="Aptos"/>
              </a:defRPr>
            </a:pPr>
            <a:r>
              <a:t>checks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508760"/>
            <a:ext cx="2926080" cy="1234440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2400" b="1">
                <a:solidFill>
                  <a:srgbClr val="F5F5F5"/>
                </a:solidFill>
                <a:latin typeface="Aptos"/>
              </a:defRPr>
            </a:pPr>
            <a:r>
              <a:t>28</a:t>
            </a:r>
          </a:p>
          <a:p>
            <a:pPr algn="ctr">
              <a:spcAft>
                <a:spcPts val="200"/>
              </a:spcAft>
              <a:defRPr sz="2400" b="1">
                <a:solidFill>
                  <a:srgbClr val="F5F5F5"/>
                </a:solidFill>
                <a:latin typeface="Aptos"/>
              </a:defRPr>
            </a:pPr>
            <a:r>
              <a:t>passed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508760"/>
            <a:ext cx="2926080" cy="1234440"/>
          </a:xfrm>
          <a:prstGeom prst="rect">
            <a:avLst/>
          </a:prstGeom>
          <a:solidFill>
            <a:srgbClr val="1D1D1D"/>
          </a:solidFill>
          <a:ln w="17780">
            <a:solidFill>
              <a:srgbClr val="F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2400" b="1">
                <a:solidFill>
                  <a:srgbClr val="F5F5F5"/>
                </a:solidFill>
                <a:latin typeface="Aptos"/>
              </a:defRPr>
            </a:pPr>
            <a:r>
              <a:t>5</a:t>
            </a:r>
          </a:p>
          <a:p>
            <a:pPr algn="ctr">
              <a:spcAft>
                <a:spcPts val="200"/>
              </a:spcAft>
              <a:defRPr sz="2400" b="1">
                <a:solidFill>
                  <a:srgbClr val="F5F5F5"/>
                </a:solidFill>
                <a:latin typeface="Aptos"/>
              </a:defRPr>
            </a:pPr>
            <a:r>
              <a:t>failed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102412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DCEB"/>
                </a:solidFill>
                <a:latin typeface="Aptos"/>
              </a:defRPr>
            </a:pPr>
            <a:r>
              <a:t>Failures visible in the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10058400" cy="1600200"/>
          </a:xfrm>
          <a:prstGeom prst="rect">
            <a:avLst/>
          </a:prstGeom>
          <a:noFill/>
        </p:spPr>
        <p:txBody>
          <a:bodyPr wrap="square" lIns="45720" tIns="36576" rIns="36576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  <a:latin typeface="Aptos"/>
              </a:defRPr>
            </a:pPr>
            <a:r>
              <a:t>•  PC after reset: observed 0010, expected 0000.</a:t>
            </a:r>
          </a:p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  <a:latin typeface="Aptos"/>
              </a:defRPr>
            </a:pPr>
            <a:r>
              <a:t>•  LDI R1: observed value does not match expected 0101.</a:t>
            </a:r>
          </a:p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  <a:latin typeface="Aptos"/>
              </a:defRPr>
            </a:pPr>
            <a:r>
              <a:t>•  ADD R1 + R2: observed result does not match expected 1000.</a:t>
            </a:r>
          </a:p>
          <a:p>
            <a:pPr>
              <a:spcAft>
                <a:spcPts val="1000"/>
              </a:spcAft>
              <a:defRPr sz="1500">
                <a:solidFill>
                  <a:srgbClr val="F5F5F5"/>
                </a:solidFill>
                <a:latin typeface="Aptos"/>
              </a:defRPr>
            </a:pPr>
            <a:r>
              <a:t>•  PC reset value and PC increment checks also fail.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8737"/>
                </a:solidFill>
                <a:latin typeface="Aptos"/>
              </a:defRPr>
            </a:pPr>
            <a:r>
              <a:t>The exact root cause cannot be confirmed from the log alone; inspect program_counter.v, reset polarity/timing, and the testbench sampling edges.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RECOMMENDED DEBUGGING SEQUENCE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TESTBENCH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02920" cy="54864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234440"/>
            <a:ext cx="25603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DCEB"/>
                </a:solidFill>
                <a:latin typeface="Aptos"/>
              </a:defRPr>
            </a:pPr>
            <a:r>
              <a:t>Check reset polarity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234440"/>
            <a:ext cx="713232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Confirm whether rst is active-high or active-low in program_counter.v and tb_cpu.v.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02920" cy="54864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94560"/>
            <a:ext cx="25603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DCEB"/>
                </a:solidFill>
                <a:latin typeface="Aptos"/>
              </a:defRPr>
            </a:pPr>
            <a:r>
              <a:t>Check reset duration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194560"/>
            <a:ext cx="713232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Hold reset for enough clock edges, then release it away from the active sampling edge.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54680"/>
            <a:ext cx="502920" cy="54864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154680"/>
            <a:ext cx="25603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DCEB"/>
                </a:solidFill>
                <a:latin typeface="Aptos"/>
              </a:defRPr>
            </a:pPr>
            <a:r>
              <a:t>Inspect PC waveform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154680"/>
            <a:ext cx="713232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Compare clk, rst, pc_out at each rising edge; expected reset value should be unambiguous.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502920" cy="54864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114800"/>
            <a:ext cx="25603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DCEB"/>
                </a:solidFill>
                <a:latin typeface="Aptos"/>
              </a:defRPr>
            </a:pPr>
            <a:r>
              <a:t>Trace instruction timing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4114800"/>
            <a:ext cx="713232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Account for IF/ID and ID/EX latency before checking register write-back.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74920"/>
            <a:ext cx="502920" cy="548640"/>
          </a:xfrm>
          <a:prstGeom prst="rect">
            <a:avLst/>
          </a:prstGeom>
          <a:solidFill>
            <a:srgbClr val="1D1D1D"/>
          </a:solidFill>
          <a:ln w="17780">
            <a:solidFill>
              <a:srgbClr val="0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F5F5F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074920"/>
            <a:ext cx="25603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DCEB"/>
                </a:solidFill>
                <a:latin typeface="Aptos"/>
              </a:defRPr>
            </a:pPr>
            <a:r>
              <a:t>Re-run one test at a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5074920"/>
            <a:ext cx="713232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Start with PC reset/increment, then LDI, then ADD, then jump/flush.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72200"/>
            <a:ext cx="10332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FAFAF"/>
                </a:solidFill>
                <a:latin typeface="Aptos"/>
              </a:defRPr>
            </a:pPr>
            <a:r>
              <a:t>These are debugging recommendations based on the displayed failures, not a claim that the cause is already known.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20040"/>
            <a:ext cx="73152" cy="502920"/>
          </a:xfrm>
          <a:prstGeom prst="rect">
            <a:avLst/>
          </a:prstGeom>
          <a:solidFill>
            <a:srgbClr val="0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11556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5F5"/>
                </a:solidFill>
                <a:latin typeface="Aptos"/>
              </a:defRPr>
            </a:pPr>
            <a:r>
              <a:t>CONCLUSION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32688"/>
            <a:ext cx="11201400" cy="0"/>
          </a:xfrm>
          <a:prstGeom prst="line">
            <a:avLst/>
          </a:prstGeom>
          <a:ln w="1016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FAFAF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00DCEB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6400800" cy="4297680"/>
          </a:xfrm>
          <a:prstGeom prst="rect">
            <a:avLst/>
          </a:prstGeom>
          <a:noFill/>
        </p:spPr>
        <p:txBody>
          <a:bodyPr wrap="square" lIns="45720" tIns="36576" rIns="36576" b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Aptos"/>
              </a:defRPr>
            </a:pPr>
            <a:r>
              <a:t>•  The design combines a 4-bit datapath with a 12-bit instruction format.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Aptos"/>
              </a:defRPr>
            </a:pPr>
            <a:r>
              <a:t>•  The main blocks work together through the IF, ID, and EX stages.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Aptos"/>
              </a:defRPr>
            </a:pPr>
            <a:r>
              <a:t>•  The schematic explains the data path, while the testbench checks behavior over time.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Aptos"/>
              </a:defRPr>
            </a:pPr>
            <a:r>
              <a:t>•  The current simulation passes many checks but still has 5 failures out of 33.</a:t>
            </a:r>
          </a:p>
          <a:p>
            <a:pPr>
              <a:spcAft>
                <a:spcPts val="1000"/>
              </a:spcAft>
              <a:defRPr sz="1700">
                <a:solidFill>
                  <a:srgbClr val="F5F5F5"/>
                </a:solidFill>
                <a:latin typeface="Aptos"/>
              </a:defRPr>
            </a:pPr>
            <a:r>
              <a:t>•  The next step is to fix PC reset/update behavior and re-verify LDI and ADD.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828800"/>
            <a:ext cx="3200400" cy="914400"/>
          </a:xfrm>
          <a:prstGeom prst="rect">
            <a:avLst/>
          </a:prstGeom>
          <a:solidFill>
            <a:srgbClr val="1D1D1D"/>
          </a:solidFill>
          <a:ln w="17780">
            <a:solidFill>
              <a:srgbClr val="5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2000" b="1">
                <a:solidFill>
                  <a:srgbClr val="F5F5F5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3063240"/>
            <a:ext cx="3200400" cy="914400"/>
          </a:xfrm>
          <a:prstGeom prst="rect">
            <a:avLst/>
          </a:prstGeom>
          <a:solidFill>
            <a:srgbClr val="1D1D1D"/>
          </a:solidFill>
          <a:ln w="17780">
            <a:solidFill>
              <a:srgbClr val="FF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2000" b="1">
                <a:solidFill>
                  <a:srgbClr val="F5F5F5"/>
                </a:solidFill>
                <a:latin typeface="Aptos"/>
              </a:defRPr>
            </a:pPr>
            <a:r>
              <a:t>Simulate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4297680"/>
            <a:ext cx="3200400" cy="914400"/>
          </a:xfrm>
          <a:prstGeom prst="rect">
            <a:avLst/>
          </a:prstGeom>
          <a:solidFill>
            <a:srgbClr val="1D1D1D"/>
          </a:solidFill>
          <a:ln w="17780">
            <a:solidFill>
              <a:srgbClr val="5A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  <a:defRPr sz="2000" b="1">
                <a:solidFill>
                  <a:srgbClr val="F5F5F5"/>
                </a:solidFill>
                <a:latin typeface="Aptos"/>
              </a:defRPr>
            </a:pPr>
            <a:r>
              <a:t>Debug → 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943600"/>
            <a:ext cx="102412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DCEB"/>
                </a:solidFill>
                <a:latin typeface="Aptos"/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2090</Words>
  <Application>Microsoft Office PowerPoint</Application>
  <PresentationFormat>Màn hình rộng</PresentationFormat>
  <Paragraphs>416</Paragraphs>
  <Slides>23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Phạm Quốc Việt</dc:creator>
  <cp:keywords/>
  <dc:description>generated using python-pptx</dc:description>
  <cp:lastModifiedBy>Phạm Quốc Việt</cp:lastModifiedBy>
  <cp:revision>2</cp:revision>
  <dcterms:created xsi:type="dcterms:W3CDTF">2013-01-27T09:14:16Z</dcterms:created>
  <dcterms:modified xsi:type="dcterms:W3CDTF">2026-10-18T01:49:39Z</dcterms:modified>
  <cp:category/>
</cp:coreProperties>
</file>