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72" r:id="rId14"/>
    <p:sldId id="270" r:id="rId15"/>
    <p:sldId id="267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30"/>
    <a:srgbClr val="132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75895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2F7FF"/>
                </a:solidFill>
                <a:latin typeface="Aptos"/>
              </a:rPr>
              <a:t>4-BIT ARITHMETIC
LOGIC UNIT (ALU)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0">
                <a:solidFill>
                  <a:srgbClr val="4AD3E2"/>
                </a:solidFill>
                <a:latin typeface="Aptos"/>
              </a:rPr>
              <a:t>Design, Verilog implementation and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566928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B0C2DA"/>
                </a:solidFill>
                <a:latin typeface="Aptos"/>
              </a:rPr>
              <a:t>Pham Quoc Viet  |  SE204606
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0" y="1600200"/>
            <a:ext cx="2011680" cy="201168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2F7FF"/>
                </a:solidFill>
                <a:latin typeface="Aptos"/>
              </a:rPr>
              <a:t>ALU
4-bit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0" y="1874519"/>
            <a:ext cx="59436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27080" y="1874519"/>
            <a:ext cx="54864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0" y="2331720"/>
            <a:ext cx="59436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0" y="2331720"/>
            <a:ext cx="54864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2788920"/>
            <a:ext cx="59436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2788920"/>
            <a:ext cx="54864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3246120"/>
            <a:ext cx="59436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27080" y="3246120"/>
            <a:ext cx="548640" cy="0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79" y="1417320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B0C2DA"/>
                </a:solidFill>
                <a:latin typeface="Aptos"/>
              </a:rPr>
              <a:t>A, B, Opcode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37033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B0C2DA"/>
                </a:solidFill>
                <a:latin typeface="Aptos"/>
              </a:rPr>
              <a:t>Result +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82880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80744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What is an ALU?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3108960" cy="11155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An ALU is a digital circuit.
It performs math and logic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80744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Our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01368"/>
            <a:ext cx="3108960" cy="11155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F2F7FF"/>
                </a:solidFill>
                <a:latin typeface="Aptos"/>
              </a:rPr>
              <a:t>A 4-bit ALU takes two 4-bit inputs: A and B.
The opcode selects the operation.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474720" cy="182880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380744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66DCA4"/>
                </a:solidFill>
                <a:latin typeface="Aptos"/>
              </a:rPr>
              <a:t>Main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801368"/>
            <a:ext cx="3108960" cy="11155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F2F7FF"/>
                </a:solidFill>
                <a:latin typeface="Aptos"/>
              </a:rPr>
              <a:t>The ALU gives an 8-bit result and status flags, such as carry, zero and overflow.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4AD3E2"/>
                </a:solidFill>
                <a:latin typeface="Aptos"/>
              </a:rPr>
              <a:t>Main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0">
                <a:solidFill>
                  <a:srgbClr val="F2F7FF"/>
                </a:solidFill>
                <a:latin typeface="Aptos"/>
              </a:rPr>
              <a:t>Build the ALU, connect its modules, and check the results in Vivado simulation.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2. Inputs and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Signal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Width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Simple meaning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A, B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4 bits each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Two input numbers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Opcode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4 bits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Selects the operation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clk, rst, start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1 bit each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Clock, reset and start control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8 bits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Operation result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carry, zero, overflow, negative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1 bit each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Status flags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busy, done, div_by_zero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1 bit each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Multiply/divide status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4AD3E2"/>
                </a:solidFill>
                <a:latin typeface="Aptos"/>
              </a:rPr>
              <a:t>Example: A = 0111 and B = 0001 means 7 and 1 in binary.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3. How the ALU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B0C2DA"/>
                </a:solidFill>
                <a:latin typeface="Aptos"/>
              </a:rPr>
              <a:t>A and B go to the function blocks. The opcode tells the ALU what to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234440" cy="77724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A,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1234440" cy="77724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Opcode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874519"/>
            <a:ext cx="2011680" cy="914400"/>
          </a:xfrm>
          <a:prstGeom prst="roundRect">
            <a:avLst/>
          </a:prstGeom>
          <a:solidFill>
            <a:srgbClr val="132749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Arithmetic
ADD / SUB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971800"/>
            <a:ext cx="2011680" cy="914400"/>
          </a:xfrm>
          <a:prstGeom prst="roundRect">
            <a:avLst/>
          </a:prstGeom>
          <a:solidFill>
            <a:srgbClr val="132749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Logic
AND / OR / XOR / NOT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069080"/>
            <a:ext cx="2011680" cy="914400"/>
          </a:xfrm>
          <a:prstGeom prst="roundRect">
            <a:avLst/>
          </a:prstGeom>
          <a:solidFill>
            <a:srgbClr val="132749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Shift
SHL / SHR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514600"/>
            <a:ext cx="2011680" cy="914400"/>
          </a:xfrm>
          <a:prstGeom prst="roundRect">
            <a:avLst/>
          </a:prstGeom>
          <a:solidFill>
            <a:srgbClr val="132749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Multiply /
Divide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926080"/>
            <a:ext cx="1600200" cy="91440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FF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Result MUX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194560"/>
            <a:ext cx="1691640" cy="77724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3657600"/>
            <a:ext cx="1691640" cy="77724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Flag Unit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37360" y="2331720"/>
            <a:ext cx="502920" cy="36576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3400" y="2331720"/>
            <a:ext cx="3200400" cy="105156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37360" y="2697480"/>
            <a:ext cx="502920" cy="73152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343400" y="3383280"/>
            <a:ext cx="3200400" cy="4572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2697480"/>
            <a:ext cx="502920" cy="182880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343400" y="3383280"/>
            <a:ext cx="3200400" cy="114300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37360" y="3657600"/>
            <a:ext cx="5806440" cy="365760"/>
          </a:xfrm>
          <a:prstGeom prst="line">
            <a:avLst/>
          </a:prstGeom>
          <a:ln w="16510">
            <a:solidFill>
              <a:srgbClr val="FFC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80" y="2971800"/>
            <a:ext cx="548640" cy="274320"/>
          </a:xfrm>
          <a:prstGeom prst="line">
            <a:avLst/>
          </a:prstGeom>
          <a:ln w="1651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35440" y="2560320"/>
            <a:ext cx="640080" cy="685800"/>
          </a:xfrm>
          <a:prstGeom prst="line">
            <a:avLst/>
          </a:prstGeom>
          <a:ln w="19050">
            <a:solidFill>
              <a:srgbClr val="66D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3520440"/>
            <a:ext cx="640080" cy="457199"/>
          </a:xfrm>
          <a:prstGeom prst="line">
            <a:avLst/>
          </a:prstGeom>
          <a:ln w="19050">
            <a:solidFill>
              <a:srgbClr val="4A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4. Opcode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115568"/>
          <a:ext cx="10515600" cy="4736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599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700" b="1">
                          <a:solidFill>
                            <a:srgbClr val="EEF4FF"/>
                          </a:solidFill>
                          <a:latin typeface="Aptos"/>
                        </a:rPr>
                        <a:t>Opcode</a:t>
                      </a:r>
                    </a:p>
                  </a:txBody>
                  <a:tcPr marR="73152" marT="22860" marB="22860" anchor="ctr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700" b="1">
                          <a:solidFill>
                            <a:srgbClr val="EEF4FF"/>
                          </a:solidFill>
                          <a:latin typeface="Aptos"/>
                        </a:rPr>
                        <a:t>Operation</a:t>
                      </a:r>
                    </a:p>
                  </a:txBody>
                  <a:tcPr marR="73152" marT="22860" marB="22860" anchor="ctr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700" b="1">
                          <a:solidFill>
                            <a:srgbClr val="EEF4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R="73152" marT="22860" marB="22860" anchor="ctr">
                    <a:solidFill>
                      <a:srgbClr val="19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0000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ADD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+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0001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SUB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−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0010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AND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AND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0011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OR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OR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0100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XOR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XOR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0101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NOT A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Invert A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0110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SHL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Shift A left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0111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SHR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Shift A right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1000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MUL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×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1001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DIV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EEF4FF"/>
                          </a:solidFill>
                          <a:latin typeface="Aptos"/>
                        </a:rPr>
                        <a:t>A ÷ B</a:t>
                      </a:r>
                    </a:p>
                  </a:txBody>
                  <a:tcPr marR="73152" marT="22860" marB="22860" anchor="ctr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943600"/>
            <a:ext cx="10515600" cy="393192"/>
          </a:xfrm>
          <a:prstGeom prst="roundRect">
            <a:avLst/>
          </a:prstGeom>
          <a:solidFill>
            <a:srgbClr val="162B4D"/>
          </a:solidFill>
          <a:ln w="13970">
            <a:solidFill>
              <a:srgbClr val="40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36576" rIns="109728" bIns="18288" rtlCol="0" anchor="ctr"/>
          <a:lstStyle/>
          <a:p>
            <a:pPr algn="ctr"/>
            <a:r>
              <a:rPr sz="1500" b="1">
                <a:solidFill>
                  <a:srgbClr val="EEF4FF"/>
                </a:solidFill>
                <a:latin typeface="Aptos"/>
              </a:rPr>
              <a:t>DIV output: result[7:4] = remainder  |  result[3:0] = quotient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5. Arithmetic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80744"/>
            <a:ext cx="493775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ADD — Opcode 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01368"/>
            <a:ext cx="4937759" cy="11155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F2F7FF"/>
                </a:solidFill>
                <a:latin typeface="Aptos"/>
              </a:rPr>
              <a:t>Example:
A = 0011 (3)
B = 0010 (2)
Result = 0101 (5)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80744"/>
            <a:ext cx="493775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SUB — Opcode 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4937759" cy="11155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F2F7FF"/>
                </a:solidFill>
                <a:latin typeface="Aptos"/>
              </a:rPr>
              <a:t>Example:
A = 0101 (5)
B = 0010 (2)
Result = 0011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100" b="0">
                <a:solidFill>
                  <a:srgbClr val="F2F7FF"/>
                </a:solidFill>
                <a:latin typeface="Aptos"/>
              </a:rPr>
              <a:t>The same adder/subtractor block is used. A control signal selects add or subtract.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 dirty="0">
                <a:solidFill>
                  <a:srgbClr val="B0C2DA"/>
                </a:solidFill>
                <a:latin typeface="Aptos"/>
              </a:rPr>
              <a:t>The carry and overflow flags help describe the arithmetic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6. Logic and Shift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36118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80744"/>
            <a:ext cx="493775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Logic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01368"/>
            <a:ext cx="4937759" cy="28986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F2F7FF"/>
                </a:solidFill>
                <a:latin typeface="Aptos"/>
              </a:rPr>
              <a:t>AND: output bit is 1 when both input bits are 1.
OR: output bit is 1 when at least one input bit is 1.
XOR: output bit is 1 when the input bits are different.
NOT A: changes every bit of 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36118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80744"/>
            <a:ext cx="493775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Shift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4937759" cy="28986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F2F7FF"/>
                </a:solidFill>
                <a:latin typeface="Aptos"/>
              </a:rPr>
              <a:t>SHL: move bits of A to the left.
SHR: move bits of A to the right.
Example:
A = 0011
SHL → 0110
SHR → 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10424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B0C2DA"/>
                </a:solidFill>
                <a:latin typeface="Aptos"/>
              </a:rPr>
              <a:t>These operations work on 4-bit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7. Multiply and Divide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237744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80744"/>
            <a:ext cx="493775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MUL — Opcode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01368"/>
            <a:ext cx="4937759" cy="1664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The multiply/divide unit calculates A × B.
Example: 0011 × 0010 = 00000110
(3 × 2 =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237744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80744"/>
            <a:ext cx="493775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DIV — Opcode 1001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4937759" cy="1664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F2F7FF"/>
                </a:solidFill>
                <a:latin typeface="Aptos"/>
              </a:rPr>
              <a:t>The unit calculates A ÷ B.
Example: 0111 ÷ 0010 = quotient 0011, remainder 0001.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286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4AD3E2"/>
                </a:solidFill>
                <a:latin typeface="Aptos"/>
              </a:rPr>
              <a:t>Control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start begins the operation. busy shows that it is working. done shows that it has finished. div_by_zero reports division by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8. Status Flags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6984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Flag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Simple meaning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carry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A carry bit from an arithmetic operation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zero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The result is zero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overflow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The signed result is outside the 4-bit range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negative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The result has its sign bit set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div_by_zero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Division by zero was detected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busy / done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The multiply/divide unit is working / finished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FFCB5C"/>
                </a:solidFill>
                <a:latin typeface="Aptos"/>
              </a:rPr>
              <a:t>Example of signed overflow: 0111 + 0001 = 1000. In signed 4-bit numbers, 7 + 1 is outside the range −8 to +7.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dirty="0">
                <a:solidFill>
                  <a:srgbClr val="F2F7FF"/>
                </a:solidFill>
                <a:latin typeface="Aptos"/>
              </a:rPr>
              <a:t>9. Verilog Design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>
                <a:solidFill>
                  <a:srgbClr val="B0C2DA"/>
                </a:solidFill>
                <a:latin typeface="Aptos"/>
              </a:rPr>
              <a:t>The top-level module is alu_4bit. It connects the smaller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83664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control_unit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Reads opcode and creates control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83664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adder_subtractor_4bit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04288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Performs ADD and SUB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logic_unit_4bit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Performs logic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52928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999232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shifter_4bit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19856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Performs left and right shifts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68496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muldiv_unit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35424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Performs multiply and divide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968496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FFCB5C"/>
                </a:solidFill>
                <a:latin typeface="Aptos"/>
              </a:rPr>
              <a:t>result_mux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35424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Selects the final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84064"/>
            <a:ext cx="5257800" cy="868680"/>
          </a:xfrm>
          <a:prstGeom prst="roundRect">
            <a:avLst/>
          </a:prstGeom>
          <a:solidFill>
            <a:srgbClr val="132749"/>
          </a:solidFill>
          <a:ln>
            <a:solidFill>
              <a:srgbClr val="19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30368"/>
            <a:ext cx="4892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4AD3E2"/>
                </a:solidFill>
                <a:latin typeface="Aptos"/>
              </a:rPr>
              <a:t>flag_unit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4892040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Creates status flags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>
                <a:solidFill>
                  <a:srgbClr val="B0C2D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67714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D"/>
                </a:solidFill>
                <a:latin typeface="Aptos Display"/>
              </a:defRPr>
            </a:pPr>
            <a:r>
              <a:rPr lang="vi-VN" dirty="0">
                <a:solidFill>
                  <a:schemeClr val="bg1"/>
                </a:solidFill>
              </a:rPr>
              <a:t>10</a:t>
            </a:r>
            <a:r>
              <a:rPr dirty="0">
                <a:solidFill>
                  <a:schemeClr val="bg1"/>
                </a:solidFill>
              </a:rPr>
              <a:t>. Functional Simulation — Normal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2869" y="6510528"/>
            <a:ext cx="325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C7A"/>
                </a:solidFill>
              </a:defRPr>
            </a:pPr>
            <a:r>
              <a:rPr lang="vi-VN" dirty="0"/>
              <a:t>11</a:t>
            </a:r>
            <a:endParaRPr dirty="0"/>
          </a:p>
        </p:txBody>
      </p:sp>
      <p:pic>
        <p:nvPicPr>
          <p:cNvPr id="6" name="Picture 5" descr="image(20261002-1057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24872"/>
            <a:ext cx="7315200" cy="3774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92789"/>
            <a:ext cx="7315200" cy="301621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rPr sz="1600"/>
              <a:t>Waveform: ADD, A = 2, B =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417320"/>
            <a:ext cx="3474720" cy="1005840"/>
          </a:xfrm>
          <a:prstGeom prst="roundRect">
            <a:avLst/>
          </a:prstGeom>
          <a:solidFill>
            <a:srgbClr val="13274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5592" y="1527048"/>
            <a:ext cx="3145536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66AA"/>
                </a:solidFill>
                <a:latin typeface="Aptos"/>
              </a:defRPr>
            </a:pPr>
            <a:r>
              <a:t>Test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809853"/>
            <a:ext cx="3145536" cy="55810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opcode = 0000 (ADD)</a:t>
            </a:r>
          </a:p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 = 2, B =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697480"/>
            <a:ext cx="3474720" cy="1005840"/>
          </a:xfrm>
          <a:prstGeom prst="roundRect">
            <a:avLst/>
          </a:prstGeom>
          <a:solidFill>
            <a:srgbClr val="13274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2807208"/>
            <a:ext cx="3145536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8C5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3085622"/>
            <a:ext cx="3145536" cy="55810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2 + 3 = 5</a:t>
            </a:r>
          </a:p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result = 8'h05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977639"/>
            <a:ext cx="3474720" cy="1143000"/>
          </a:xfrm>
          <a:prstGeom prst="roundRect">
            <a:avLst/>
          </a:prstGeom>
          <a:solidFill>
            <a:srgbClr val="13274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4087368"/>
            <a:ext cx="3145536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A0B4"/>
                </a:solidFill>
                <a:latin typeface="Aptos"/>
              </a:defRPr>
            </a:pPr>
            <a:r>
              <a:t>Observed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407408"/>
            <a:ext cx="3145536" cy="55810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carry = 0, zero = 0</a:t>
            </a:r>
          </a:p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negative = 0, overflow = 0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41FCD5BF-F27A-85B1-6352-AE31521AF0F8}"/>
              </a:ext>
            </a:extLst>
          </p:cNvPr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dirty="0">
                <a:solidFill>
                  <a:srgbClr val="4AD3E2"/>
                </a:solidFill>
                <a:latin typeface="Aptos"/>
              </a:rPr>
              <a:t>PART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286559"/>
            <a:ext cx="11461750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800" b="1" dirty="0">
                <a:solidFill>
                  <a:srgbClr val="F2F7FF"/>
                </a:solidFill>
                <a:latin typeface="Aptos"/>
              </a:rPr>
              <a:t>10. Simulation: Normal Testbench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dirty="0">
                <a:solidFill>
                  <a:srgbClr val="4AD3E2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0704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>
                <a:solidFill>
                  <a:schemeClr val="bg1"/>
                </a:solidFill>
              </a:rPr>
              <a:t>This test checks a normal ADD operation. The testbench applies inputs, waits, and checks the result.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104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Opcode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Overflow</a:t>
                      </a:r>
                    </a:p>
                  </a:txBody>
                  <a:tcPr marL="73152" marR="54864" marT="27432" marB="18288">
                    <a:solidFill>
                      <a:srgbClr val="19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ADD overflow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0111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00001000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SUB overflow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1000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00000111*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Normal ADD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0010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0011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00000101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2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54864" marT="27432" marB="18288">
                    <a:solidFill>
                      <a:srgbClr val="1327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160520"/>
            <a:ext cx="10515600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>
                <a:solidFill>
                  <a:schemeClr val="bg1"/>
                </a:solidFill>
              </a:rPr>
              <a:t>Expected: 2 + 3 = 5. The ALU should return 00000101, with overflow =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663440"/>
            <a:ext cx="10607040" cy="1417320"/>
          </a:xfrm>
          <a:prstGeom prst="rect">
            <a:avLst/>
          </a:prstGeom>
          <a:solidFill>
            <a:srgbClr val="0E1D39"/>
          </a:solidFill>
          <a:ln w="1524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786417"/>
            <a:ext cx="10332719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/>
              </a:rPr>
              <a:t>ADD</a:t>
            </a:r>
            <a:r>
              <a:rPr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/>
              </a:rPr>
              <a:t>WAVEFORM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2134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dirty="0" err="1">
                <a:solidFill>
                  <a:schemeClr val="bg1"/>
                </a:solidFill>
              </a:rPr>
              <a:t>Vivado</a:t>
            </a:r>
            <a:r>
              <a:rPr dirty="0">
                <a:solidFill>
                  <a:schemeClr val="bg1"/>
                </a:solidFill>
              </a:rPr>
              <a:t> waveform — show A, B, opcode, result and 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04815"/>
            <a:ext cx="10149840" cy="311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Insert the real waveform from your successful testbench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5720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vi-VN" sz="1000" b="0" dirty="0">
                <a:solidFill>
                  <a:srgbClr val="B0C2DA"/>
                </a:solidFill>
                <a:latin typeface="Aptos"/>
              </a:rPr>
              <a:t>12</a:t>
            </a:r>
            <a:endParaRPr sz="1000" b="0" dirty="0">
              <a:solidFill>
                <a:srgbClr val="B0C2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655230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D"/>
                </a:solidFill>
                <a:latin typeface="Aptos Display"/>
              </a:defRPr>
            </a:pPr>
            <a:r>
              <a:rPr lang="vi-VN" dirty="0">
                <a:solidFill>
                  <a:schemeClr val="bg1"/>
                </a:solidFill>
              </a:rPr>
              <a:t>11</a:t>
            </a:r>
            <a:r>
              <a:rPr dirty="0">
                <a:solidFill>
                  <a:schemeClr val="bg1"/>
                </a:solidFill>
              </a:rPr>
              <a:t>. Functional Simulation — Signed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2869" y="6510528"/>
            <a:ext cx="325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C7A"/>
                </a:solidFill>
              </a:defRPr>
            </a:pPr>
            <a:r>
              <a:rPr lang="vi-VN" dirty="0"/>
              <a:t>13</a:t>
            </a:r>
            <a:endParaRPr dirty="0"/>
          </a:p>
        </p:txBody>
      </p:sp>
      <p:pic>
        <p:nvPicPr>
          <p:cNvPr id="6" name="Picture 5" descr="image(20261002-1048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00588"/>
            <a:ext cx="7726679" cy="4422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989320"/>
            <a:ext cx="7726679" cy="20116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Waveform: SUB, A = 8, B 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34440"/>
            <a:ext cx="3429000" cy="1097280"/>
          </a:xfrm>
          <a:prstGeom prst="roundRect">
            <a:avLst/>
          </a:prstGeom>
          <a:solidFill>
            <a:srgbClr val="13274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344168"/>
            <a:ext cx="3099816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66AA"/>
                </a:solidFill>
                <a:latin typeface="Aptos"/>
              </a:defRPr>
            </a:pPr>
            <a:r>
              <a:t>Test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664208"/>
            <a:ext cx="3099816" cy="55810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opcode = 0001 (SUB)</a:t>
            </a:r>
          </a:p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 = 4'b1000, B = 4'b0001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606040"/>
            <a:ext cx="3429000" cy="1143000"/>
          </a:xfrm>
          <a:prstGeom prst="roundRect">
            <a:avLst/>
          </a:prstGeom>
          <a:solidFill>
            <a:srgbClr val="13274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715768"/>
            <a:ext cx="3099816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8C5F"/>
                </a:solidFill>
                <a:latin typeface="Aptos"/>
              </a:defRPr>
            </a:pPr>
            <a:r>
              <a:t>4-bit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020020"/>
            <a:ext cx="3099816" cy="55810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8 − 1 = 7</a:t>
            </a:r>
          </a:p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result = 8'h07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023360"/>
            <a:ext cx="3429000" cy="1417320"/>
          </a:xfrm>
          <a:prstGeom prst="roundRect">
            <a:avLst/>
          </a:prstGeom>
          <a:solidFill>
            <a:srgbClr val="13274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4133088"/>
            <a:ext cx="3099816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E4141"/>
                </a:solidFill>
                <a:latin typeface="Aptos"/>
              </a:defRPr>
            </a:pPr>
            <a:r>
              <a:t>Overflow 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446879"/>
            <a:ext cx="3099816" cy="75815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overflow = 1</a:t>
            </a:r>
          </a:p>
          <a:p>
            <a:pPr>
              <a:spcAft>
                <a:spcPts val="800"/>
              </a:spcAft>
              <a:defRPr sz="1300" b="0">
                <a:solidFill>
                  <a:srgbClr val="26303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signed operation −8 − 1 is outside the 4-bit signed range (−8 to +7).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25DAC-5C6A-131E-E4D7-5894695038BD}"/>
              </a:ext>
            </a:extLst>
          </p:cNvPr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dirty="0">
                <a:solidFill>
                  <a:srgbClr val="4AD3E2"/>
                </a:solidFill>
                <a:latin typeface="Aptos"/>
              </a:rPr>
              <a:t>PART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11. Simulation: Overflow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D2BE"/>
                </a:solidFill>
                <a:latin typeface="Aptos"/>
              </a:defRPr>
            </a:pPr>
            <a: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212080" cy="3474720"/>
          </a:xfrm>
          <a:prstGeom prst="roundRect">
            <a:avLst/>
          </a:prstGeom>
          <a:solidFill>
            <a:srgbClr val="142A4B"/>
          </a:solidFill>
          <a:ln>
            <a:solidFill>
              <a:srgbClr val="37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Testbench input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" y="2148840"/>
          <a:ext cx="4663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Signal</a:t>
                      </a:r>
                    </a:p>
                  </a:txBody>
                  <a:tcPr marL="73152" marR="36576">
                    <a:solidFill>
                      <a:srgbClr val="21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73152" marR="36576">
                    <a:solidFill>
                      <a:srgbClr val="21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73152" marR="36576">
                    <a:solidFill>
                      <a:srgbClr val="21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0111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opcode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ADD</a:t>
                      </a:r>
                    </a:p>
                  </a:txBody>
                  <a:tcPr marL="73152" marR="36576">
                    <a:solidFill>
                      <a:srgbClr val="102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80760" y="1417320"/>
            <a:ext cx="5532120" cy="3474720"/>
          </a:xfrm>
          <a:prstGeom prst="roundRect">
            <a:avLst/>
          </a:prstGeom>
          <a:solidFill>
            <a:srgbClr val="142A4B"/>
          </a:solidFill>
          <a:ln>
            <a:solidFill>
              <a:srgbClr val="37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6276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762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3D2BE"/>
                </a:solidFill>
                <a:latin typeface="Aptos"/>
              </a:defRPr>
            </a:pPr>
            <a:r>
              <a:t>0111 + 0001 = 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Result = 00001000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6E"/>
                </a:solidFill>
                <a:latin typeface="Aptos"/>
              </a:defRPr>
            </a:pPr>
            <a:r>
              <a:t>overflow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0"/>
                </a:solidFill>
                <a:latin typeface="Aptos"/>
              </a:defRPr>
            </a:pPr>
            <a:r>
              <a:t>In signed 4-bit numbers, 7 + 1 is outside the range −8 to +7.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B4C8"/>
                </a:solidFill>
                <a:latin typeface="Aptos"/>
              </a:defRPr>
            </a:pPr>
            <a:r>
              <a:t>4-bit ALU  |  Pham Quoc Viet  |  SE204606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B4C8"/>
                </a:solidFill>
                <a:latin typeface="Aptos"/>
              </a:defRPr>
            </a:pPr>
            <a:r>
              <a:rPr lang="vi-VN" dirty="0"/>
              <a:t>14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2F7FF"/>
                </a:solidFill>
                <a:latin typeface="Aptos"/>
              </a:rPr>
              <a:t>11. Vivado Design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051560" cy="41148"/>
          </a:xfrm>
          <a:prstGeom prst="rect">
            <a:avLst/>
          </a:prstGeom>
          <a:solidFill>
            <a:srgbClr val="4A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4AD3E2"/>
                </a:solidFill>
                <a:latin typeface="Aptos"/>
              </a:rPr>
              <a:t>PART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572768" cy="105156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1
Write Verilog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84832" y="2450592"/>
            <a:ext cx="292607" cy="0"/>
          </a:xfrm>
          <a:prstGeom prst="line">
            <a:avLst/>
          </a:prstGeom>
          <a:ln w="17780">
            <a:solidFill>
              <a:srgbClr val="FFC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41448" y="1920240"/>
            <a:ext cx="1572768" cy="105156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2
Add testbench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2450592"/>
            <a:ext cx="292608" cy="0"/>
          </a:xfrm>
          <a:prstGeom prst="line">
            <a:avLst/>
          </a:prstGeom>
          <a:ln w="17780">
            <a:solidFill>
              <a:srgbClr val="FFC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79976" y="1920240"/>
            <a:ext cx="1572768" cy="105156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3
Run simulation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2450592"/>
            <a:ext cx="292608" cy="0"/>
          </a:xfrm>
          <a:prstGeom prst="line">
            <a:avLst/>
          </a:prstGeom>
          <a:ln w="17780">
            <a:solidFill>
              <a:srgbClr val="FFC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18504" y="1920240"/>
            <a:ext cx="1572768" cy="105156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4
Elaborate design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0416" y="2450592"/>
            <a:ext cx="292608" cy="0"/>
          </a:xfrm>
          <a:prstGeom prst="line">
            <a:avLst/>
          </a:prstGeom>
          <a:ln w="17780">
            <a:solidFill>
              <a:srgbClr val="FFC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57032" y="1920240"/>
            <a:ext cx="1572768" cy="105156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5
Run synthesis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38944" y="2450592"/>
            <a:ext cx="292608" cy="0"/>
          </a:xfrm>
          <a:prstGeom prst="line">
            <a:avLst/>
          </a:prstGeom>
          <a:ln w="17780">
            <a:solidFill>
              <a:srgbClr val="FFC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95560" y="1920240"/>
            <a:ext cx="1572768" cy="1051560"/>
          </a:xfrm>
          <a:prstGeom prst="roundRect">
            <a:avLst/>
          </a:prstGeom>
          <a:solidFill>
            <a:srgbClr val="19345B"/>
          </a:solidFill>
          <a:ln w="16510">
            <a:solidFill>
              <a:srgbClr val="4A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7FF"/>
                </a:solidFill>
                <a:latin typeface="Aptos"/>
              </a:rPr>
              <a:t>6
Check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4AD3E2"/>
                </a:solidFill>
                <a:latin typeface="Aptos"/>
              </a:rPr>
              <a:t>Screenshots to include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10515600" cy="1554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Sources: show the project files.</a:t>
            </a:r>
          </a:p>
          <a:p>
            <a:pPr>
              <a:spcAft>
                <a:spcPts val="5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Elaborated schematic: show module connections.</a:t>
            </a:r>
          </a:p>
          <a:p>
            <a:pPr>
              <a:spcAft>
                <a:spcPts val="5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Waveform: show test results.</a:t>
            </a:r>
          </a:p>
          <a:p>
            <a:pPr>
              <a:spcAft>
                <a:spcPts val="5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Utilization report: show hardware resources.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37960"/>
            <a:ext cx="80467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B0C2DA"/>
                </a:solidFill>
                <a:latin typeface="Aptos"/>
              </a:rPr>
              <a:t>4-bit ALU  |  Pham Quoc Viet  |  SE204606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57200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vi-VN" sz="1000" b="0" dirty="0">
                <a:solidFill>
                  <a:srgbClr val="B0C2DA"/>
                </a:solidFill>
                <a:latin typeface="Aptos"/>
              </a:rPr>
              <a:t>15</a:t>
            </a:r>
            <a:endParaRPr sz="1000" b="0" dirty="0">
              <a:solidFill>
                <a:srgbClr val="B0C2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54385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D"/>
                </a:solidFill>
                <a:latin typeface="Aptos Display"/>
              </a:defRPr>
            </a:pPr>
            <a:r>
              <a:rPr lang="vi-VN" dirty="0">
                <a:solidFill>
                  <a:schemeClr val="bg1"/>
                </a:solidFill>
              </a:rPr>
              <a:t>12</a:t>
            </a:r>
            <a:r>
              <a:rPr dirty="0">
                <a:solidFill>
                  <a:schemeClr val="bg1"/>
                </a:solidFill>
              </a:rPr>
              <a:t>. Testbench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C7A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Screenshot 2026-10-02 1054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38" y="1051560"/>
            <a:ext cx="587496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84107"/>
            <a:ext cx="7772400" cy="20116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rPr dirty="0"/>
              <a:t>Testbench waveform with changing inputs and opcode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83105"/>
            <a:ext cx="3154680" cy="216982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 Clock and reset are applied.</a:t>
            </a:r>
          </a:p>
          <a:p>
            <a:pPr>
              <a:spcAft>
                <a:spcPts val="12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 Inputs and opcode change during simulation.</a:t>
            </a:r>
          </a:p>
          <a:p>
            <a:pPr>
              <a:spcAft>
                <a:spcPts val="12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 Result and flags are observed over time.</a:t>
            </a:r>
          </a:p>
          <a:p>
            <a:pPr>
              <a:spcAft>
                <a:spcPts val="12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 Use the self-checking testbench output to confirm PASS/FAIL.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1317</Words>
  <Application>Microsoft Office PowerPoint</Application>
  <PresentationFormat>Màn hình rộng</PresentationFormat>
  <Paragraphs>268</Paragraphs>
  <Slides>16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Phạm Quốc Việt</dc:creator>
  <cp:keywords/>
  <dc:description>generated using python-pptx</dc:description>
  <cp:lastModifiedBy>Phạm Quốc Việt</cp:lastModifiedBy>
  <cp:revision>3</cp:revision>
  <dcterms:created xsi:type="dcterms:W3CDTF">2013-01-27T09:14:16Z</dcterms:created>
  <dcterms:modified xsi:type="dcterms:W3CDTF">2026-10-15T11:01:17Z</dcterms:modified>
  <cp:category/>
</cp:coreProperties>
</file>